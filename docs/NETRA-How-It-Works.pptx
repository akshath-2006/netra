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not the name. "Cities have hundreds of cameras that cannot talk to each other. We made them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whole reason the project exists. Say it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only remembers one thing, make it this: watching is easy, connecting is the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love this distinction. "We did not train models, we ran free ones — the engineering is what we built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split. Live pass = watching and recording. Thinking pass = connecting and analysing. Two different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asked "does it scale to 50 cameras?" the answer is "add 47 blocks to a settings file" — not "we would rewrite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how three separate recordings become one city, this is the answer: a virtual shared clock set in cameras.yaml.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auto-rickshaw limitation out loud before a judge finds it. It is written in our own settings file as a known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slide of the whole talk. Pause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 slide. Slow down. This is original work and it is easy for a judge to appreciate.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asked about scale, walk them to bus.py. Do not just assert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Memorise the closing line of this slide. It is the single best sentence in the whole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Telling the story of a bug you found and fixed reads as real engineering. Judges respond well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gaps are a great "we thought about this properly" moment. Municipalities care about it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raises privacy or civil liberties, this slide is your answer. Show them the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saying this list out loud. It is the best possible answer to "walk me through your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until you can say this without reading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bluff on the last one. Naming the limitation and explaining why the design already accounts for it scores higher than a dodge.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A0E"/>
        </a:solidFill>
      </p:bgPr>
    </p:bg>
    <p:spTree>
      <p:nvGrpSpPr>
        <p:cNvPr id="1" name=""/>
        <p:cNvGrpSpPr/>
        <p:nvPr/>
      </p:nvGrpSpPr>
      <p:grpSpPr>
        <a:xfrm>
          <a:off x="0" y="0"/>
          <a:ext cx="0" cy="0"/>
          <a:chOff x="0" y="0"/>
          <a:chExt cx="0" cy="0"/>
        </a:xfrm>
      </p:grpSpPr>
      <p:sp>
        <p:nvSpPr>
          <p:cNvPr id="2" name="Shape 0"/>
          <p:cNvSpPr/>
          <p:nvPr/>
        </p:nvSpPr>
        <p:spPr>
          <a:xfrm>
            <a:off x="8595360" y="-1463040"/>
            <a:ext cx="5852160" cy="5852160"/>
          </a:xfrm>
          <a:prstGeom prst="ellipse">
            <a:avLst/>
          </a:prstGeom>
          <a:solidFill>
            <a:srgbClr val="10202B"/>
          </a:solidFill>
          <a:ln w="12700">
            <a:solidFill>
              <a:srgbClr val="10202B"/>
            </a:solidFill>
            <a:prstDash val="solid"/>
          </a:ln>
        </p:spPr>
      </p:sp>
      <p:sp>
        <p:nvSpPr>
          <p:cNvPr id="3" name="Shape 1"/>
          <p:cNvSpPr/>
          <p:nvPr/>
        </p:nvSpPr>
        <p:spPr>
          <a:xfrm>
            <a:off x="10058400" y="3291840"/>
            <a:ext cx="3840480" cy="3840480"/>
          </a:xfrm>
          <a:prstGeom prst="ellipse">
            <a:avLst/>
          </a:prstGeom>
          <a:solidFill>
            <a:srgbClr val="0F1A22"/>
          </a:solidFill>
          <a:ln w="12700">
            <a:solidFill>
              <a:srgbClr val="0F1A22"/>
            </a:solidFill>
            <a:prstDash val="solid"/>
          </a:ln>
        </p:spPr>
      </p:sp>
      <p:sp>
        <p:nvSpPr>
          <p:cNvPr id="4" name="Text 2"/>
          <p:cNvSpPr txBox="1"/>
          <p:nvPr/>
        </p:nvSpPr>
        <p:spPr>
          <a:xfrm>
            <a:off x="640080" y="1737360"/>
            <a:ext cx="7680960" cy="1371600"/>
          </a:xfrm>
          <a:prstGeom prst="rect">
            <a:avLst/>
          </a:prstGeom>
          <a:noFill/>
          <a:ln/>
        </p:spPr>
        <p:txBody>
          <a:bodyPr wrap="square" lIns="0" tIns="0" rIns="0" bIns="0" rtlCol="0" anchor="ctr"/>
          <a:lstStyle/>
          <a:p>
            <a:pPr indent="0" marL="0">
              <a:buNone/>
            </a:pPr>
            <a:r>
              <a:rPr lang="en-US" sz="8200" b="1" spc="400" kern="0" dirty="0">
                <a:solidFill>
                  <a:srgbClr val="FFFFFF"/>
                </a:solidFill>
                <a:latin typeface="Arial" pitchFamily="34" charset="0"/>
                <a:ea typeface="Arial" pitchFamily="34" charset="-122"/>
                <a:cs typeface="Arial" pitchFamily="34" charset="-120"/>
              </a:rPr>
              <a:t>NETRA</a:t>
            </a:r>
            <a:endParaRPr lang="en-US" sz="8200" dirty="0"/>
          </a:p>
        </p:txBody>
      </p:sp>
      <p:sp>
        <p:nvSpPr>
          <p:cNvPr id="5" name="Text 3"/>
          <p:cNvSpPr txBox="1"/>
          <p:nvPr/>
        </p:nvSpPr>
        <p:spPr>
          <a:xfrm>
            <a:off x="640080" y="3063240"/>
            <a:ext cx="7680960" cy="365760"/>
          </a:xfrm>
          <a:prstGeom prst="rect">
            <a:avLst/>
          </a:prstGeom>
          <a:noFill/>
          <a:ln/>
        </p:spPr>
        <p:txBody>
          <a:bodyPr wrap="square" lIns="0" tIns="0" rIns="0" bIns="0" rtlCol="0" anchor="ctr"/>
          <a:lstStyle/>
          <a:p>
            <a:pPr indent="0" marL="0">
              <a:buNone/>
            </a:pPr>
            <a:r>
              <a:rPr lang="en-US" sz="1700" dirty="0">
                <a:solidFill>
                  <a:srgbClr val="F0B23F"/>
                </a:solidFill>
                <a:latin typeface="Calibri" pitchFamily="34" charset="0"/>
                <a:ea typeface="Calibri" pitchFamily="34" charset="-122"/>
                <a:cs typeface="Calibri" pitchFamily="34" charset="-120"/>
              </a:rPr>
              <a:t>Network-wide Trajectory &amp; Recognition Analytics</a:t>
            </a:r>
            <a:endParaRPr lang="en-US" sz="1700" dirty="0"/>
          </a:p>
        </p:txBody>
      </p:sp>
      <p:sp>
        <p:nvSpPr>
          <p:cNvPr id="6" name="Text 4"/>
          <p:cNvSpPr txBox="1"/>
          <p:nvPr/>
        </p:nvSpPr>
        <p:spPr>
          <a:xfrm>
            <a:off x="640080" y="3703320"/>
            <a:ext cx="7498080" cy="914400"/>
          </a:xfrm>
          <a:prstGeom prst="rect">
            <a:avLst/>
          </a:prstGeom>
          <a:noFill/>
          <a:ln/>
        </p:spPr>
        <p:txBody>
          <a:bodyPr wrap="square" lIns="0" tIns="0" rIns="0" bIns="0" rtlCol="0" anchor="ctr"/>
          <a:lstStyle/>
          <a:p>
            <a:pPr indent="0" marL="0">
              <a:lnSpc>
                <a:spcPct val="125000"/>
              </a:lnSpc>
              <a:buNone/>
            </a:pPr>
            <a:r>
              <a:rPr lang="en-US" sz="1500" dirty="0">
                <a:solidFill>
                  <a:srgbClr val="BCC9D5"/>
                </a:solidFill>
                <a:latin typeface="Calibri" pitchFamily="34" charset="0"/>
                <a:ea typeface="Calibri" pitchFamily="34" charset="-122"/>
                <a:cs typeface="Calibri" pitchFamily="34" charset="-120"/>
              </a:rPr>
              <a:t>How the whole system works — explained from zero.</a:t>
            </a:r>
            <a:endParaRPr lang="en-US" sz="1500" dirty="0"/>
          </a:p>
          <a:p>
            <a:pPr indent="0" marL="0">
              <a:lnSpc>
                <a:spcPct val="125000"/>
              </a:lnSpc>
              <a:buNone/>
            </a:pPr>
            <a:r>
              <a:rPr lang="en-US" sz="1500" dirty="0">
                <a:solidFill>
                  <a:srgbClr val="BCC9D5"/>
                </a:solidFill>
                <a:latin typeface="Calibri" pitchFamily="34" charset="0"/>
                <a:ea typeface="Calibri" pitchFamily="34" charset="-122"/>
                <a:cs typeface="Calibri" pitchFamily="34" charset="-120"/>
              </a:rPr>
              <a:t>No prior knowledge assumed. Every technical word is defined the first time it appears.</a:t>
            </a:r>
            <a:endParaRPr lang="en-US" sz="1500" dirty="0"/>
          </a:p>
        </p:txBody>
      </p:sp>
      <p:sp>
        <p:nvSpPr>
          <p:cNvPr id="7" name="Shape 5"/>
          <p:cNvSpPr/>
          <p:nvPr/>
        </p:nvSpPr>
        <p:spPr>
          <a:xfrm>
            <a:off x="640080" y="5029200"/>
            <a:ext cx="3017520" cy="384048"/>
          </a:xfrm>
          <a:prstGeom prst="roundRect">
            <a:avLst>
              <a:gd name="adj" fmla="val 47619"/>
            </a:avLst>
          </a:prstGeom>
          <a:solidFill>
            <a:srgbClr val="213040"/>
          </a:solidFill>
          <a:ln w="12700">
            <a:solidFill>
              <a:srgbClr val="F0B23F"/>
            </a:solidFill>
            <a:prstDash val="solid"/>
          </a:ln>
        </p:spPr>
      </p:sp>
      <p:sp>
        <p:nvSpPr>
          <p:cNvPr id="8" name="Text 6"/>
          <p:cNvSpPr txBox="1"/>
          <p:nvPr/>
        </p:nvSpPr>
        <p:spPr>
          <a:xfrm>
            <a:off x="640080" y="5029200"/>
            <a:ext cx="3017520"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SIH — PROBLEM 127</a:t>
            </a:r>
            <a:endParaRPr lang="en-US" sz="1150" dirty="0"/>
          </a:p>
        </p:txBody>
      </p:sp>
      <p:sp>
        <p:nvSpPr>
          <p:cNvPr id="9" name="Shape 7"/>
          <p:cNvSpPr/>
          <p:nvPr/>
        </p:nvSpPr>
        <p:spPr>
          <a:xfrm>
            <a:off x="3840480" y="5029200"/>
            <a:ext cx="3017520" cy="384048"/>
          </a:xfrm>
          <a:prstGeom prst="roundRect">
            <a:avLst>
              <a:gd name="adj" fmla="val 47619"/>
            </a:avLst>
          </a:prstGeom>
          <a:solidFill>
            <a:srgbClr val="213040"/>
          </a:solidFill>
          <a:ln w="12700">
            <a:solidFill>
              <a:srgbClr val="58BFD6"/>
            </a:solidFill>
            <a:prstDash val="solid"/>
          </a:ln>
        </p:spPr>
      </p:sp>
      <p:sp>
        <p:nvSpPr>
          <p:cNvPr id="10" name="Text 8"/>
          <p:cNvSpPr txBox="1"/>
          <p:nvPr/>
        </p:nvSpPr>
        <p:spPr>
          <a:xfrm>
            <a:off x="3840480" y="5029200"/>
            <a:ext cx="3017520" cy="384048"/>
          </a:xfrm>
          <a:prstGeom prst="rect">
            <a:avLst/>
          </a:prstGeom>
          <a:noFill/>
          <a:ln/>
        </p:spPr>
        <p:txBody>
          <a:bodyPr wrap="square" lIns="0" tIns="0" rIns="0" bIns="0" rtlCol="0" anchor="ctr"/>
          <a:lstStyle/>
          <a:p>
            <a:pPr algn="ctr" indent="0" marL="0">
              <a:buNone/>
            </a:pPr>
            <a:r>
              <a:rPr lang="en-US" sz="1150" b="1" dirty="0">
                <a:solidFill>
                  <a:srgbClr val="58BFD6"/>
                </a:solidFill>
                <a:latin typeface="Courier New" pitchFamily="34" charset="0"/>
                <a:ea typeface="Courier New" pitchFamily="34" charset="-122"/>
                <a:cs typeface="Courier New" pitchFamily="34" charset="-120"/>
              </a:rPr>
              <a:t>MULTI-CAMERA ANPR</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1 — WHY THIS EXISTS</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Cameras today are islands</a:t>
            </a:r>
            <a:endParaRPr lang="en-US" sz="3200" dirty="0"/>
          </a:p>
        </p:txBody>
      </p:sp>
      <p:sp>
        <p:nvSpPr>
          <p:cNvPr id="4" name="Shape 2"/>
          <p:cNvSpPr/>
          <p:nvPr/>
        </p:nvSpPr>
        <p:spPr>
          <a:xfrm>
            <a:off x="640080" y="1691640"/>
            <a:ext cx="3383280" cy="1600200"/>
          </a:xfrm>
          <a:prstGeom prst="roundRect">
            <a:avLst>
              <a:gd name="adj" fmla="val 3429"/>
            </a:avLst>
          </a:prstGeom>
          <a:solidFill>
            <a:srgbClr val="18242F"/>
          </a:solidFill>
          <a:ln w="12700">
            <a:solidFill>
              <a:srgbClr val="2E3F4E"/>
            </a:solidFill>
            <a:prstDash val="solid"/>
          </a:ln>
        </p:spPr>
      </p:sp>
      <p:sp>
        <p:nvSpPr>
          <p:cNvPr id="5" name="Text 3"/>
          <p:cNvSpPr txBox="1"/>
          <p:nvPr/>
        </p:nvSpPr>
        <p:spPr>
          <a:xfrm>
            <a:off x="914400" y="1874520"/>
            <a:ext cx="2834640" cy="292608"/>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Camera 1</a:t>
            </a:r>
            <a:endParaRPr lang="en-US" sz="1500" dirty="0"/>
          </a:p>
        </p:txBody>
      </p:sp>
      <p:sp>
        <p:nvSpPr>
          <p:cNvPr id="6" name="Text 4"/>
          <p:cNvSpPr txBox="1"/>
          <p:nvPr/>
        </p:nvSpPr>
        <p:spPr>
          <a:xfrm>
            <a:off x="914400" y="2240280"/>
            <a:ext cx="2834640" cy="822960"/>
          </a:xfrm>
          <a:prstGeom prst="rect">
            <a:avLst/>
          </a:prstGeom>
          <a:noFill/>
          <a:ln/>
        </p:spPr>
        <p:txBody>
          <a:bodyPr wrap="square" lIns="0" tIns="0" rIns="0" bIns="0" rtlCol="0" anchor="ctr"/>
          <a:lstStyle/>
          <a:p>
            <a:pPr indent="0" marL="0">
              <a:lnSpc>
                <a:spcPct val="120000"/>
              </a:lnSpc>
              <a:buNone/>
            </a:pPr>
            <a:r>
              <a:rPr lang="en-US" sz="1350" dirty="0">
                <a:solidFill>
                  <a:srgbClr val="BCC9D5"/>
                </a:solidFill>
                <a:latin typeface="Calibri" pitchFamily="34" charset="0"/>
                <a:ea typeface="Calibri" pitchFamily="34" charset="-122"/>
                <a:cs typeface="Calibri" pitchFamily="34" charset="-120"/>
              </a:rPr>
              <a:t>Sees a white bus.</a:t>
            </a:r>
            <a:endParaRPr lang="en-US" sz="1350" dirty="0"/>
          </a:p>
          <a:p>
            <a:pPr indent="0" marL="0">
              <a:lnSpc>
                <a:spcPct val="120000"/>
              </a:lnSpc>
              <a:buNone/>
            </a:pPr>
            <a:r>
              <a:rPr lang="en-US" sz="1350" dirty="0">
                <a:solidFill>
                  <a:srgbClr val="BCC9D5"/>
                </a:solidFill>
                <a:latin typeface="Calibri" pitchFamily="34" charset="0"/>
                <a:ea typeface="Calibri" pitchFamily="34" charset="-122"/>
                <a:cs typeface="Calibri" pitchFamily="34" charset="-120"/>
              </a:rPr>
              <a:t>Writes it down.</a:t>
            </a:r>
            <a:endParaRPr lang="en-US" sz="1350" dirty="0"/>
          </a:p>
        </p:txBody>
      </p:sp>
      <p:sp>
        <p:nvSpPr>
          <p:cNvPr id="7" name="Shape 5"/>
          <p:cNvSpPr/>
          <p:nvPr/>
        </p:nvSpPr>
        <p:spPr>
          <a:xfrm>
            <a:off x="4407408" y="1691640"/>
            <a:ext cx="3383280" cy="1600200"/>
          </a:xfrm>
          <a:prstGeom prst="roundRect">
            <a:avLst>
              <a:gd name="adj" fmla="val 3429"/>
            </a:avLst>
          </a:prstGeom>
          <a:solidFill>
            <a:srgbClr val="18242F"/>
          </a:solidFill>
          <a:ln w="12700">
            <a:solidFill>
              <a:srgbClr val="2E3F4E"/>
            </a:solidFill>
            <a:prstDash val="solid"/>
          </a:ln>
        </p:spPr>
      </p:sp>
      <p:sp>
        <p:nvSpPr>
          <p:cNvPr id="8" name="Text 6"/>
          <p:cNvSpPr txBox="1"/>
          <p:nvPr/>
        </p:nvSpPr>
        <p:spPr>
          <a:xfrm>
            <a:off x="4681728" y="1874520"/>
            <a:ext cx="2834640" cy="292608"/>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Camera 2</a:t>
            </a:r>
            <a:endParaRPr lang="en-US" sz="1500" dirty="0"/>
          </a:p>
        </p:txBody>
      </p:sp>
      <p:sp>
        <p:nvSpPr>
          <p:cNvPr id="9" name="Text 7"/>
          <p:cNvSpPr txBox="1"/>
          <p:nvPr/>
        </p:nvSpPr>
        <p:spPr>
          <a:xfrm>
            <a:off x="4681728" y="2240280"/>
            <a:ext cx="2834640" cy="822960"/>
          </a:xfrm>
          <a:prstGeom prst="rect">
            <a:avLst/>
          </a:prstGeom>
          <a:noFill/>
          <a:ln/>
        </p:spPr>
        <p:txBody>
          <a:bodyPr wrap="square" lIns="0" tIns="0" rIns="0" bIns="0" rtlCol="0" anchor="ctr"/>
          <a:lstStyle/>
          <a:p>
            <a:pPr indent="0" marL="0">
              <a:lnSpc>
                <a:spcPct val="120000"/>
              </a:lnSpc>
              <a:buNone/>
            </a:pPr>
            <a:r>
              <a:rPr lang="en-US" sz="1350" dirty="0">
                <a:solidFill>
                  <a:srgbClr val="BCC9D5"/>
                </a:solidFill>
                <a:latin typeface="Calibri" pitchFamily="34" charset="0"/>
                <a:ea typeface="Calibri" pitchFamily="34" charset="-122"/>
                <a:cs typeface="Calibri" pitchFamily="34" charset="-120"/>
              </a:rPr>
              <a:t>Sees a white bus.</a:t>
            </a:r>
            <a:endParaRPr lang="en-US" sz="1350" dirty="0"/>
          </a:p>
          <a:p>
            <a:pPr indent="0" marL="0">
              <a:lnSpc>
                <a:spcPct val="120000"/>
              </a:lnSpc>
              <a:buNone/>
            </a:pPr>
            <a:r>
              <a:rPr lang="en-US" sz="1350" dirty="0">
                <a:solidFill>
                  <a:srgbClr val="BCC9D5"/>
                </a:solidFill>
                <a:latin typeface="Calibri" pitchFamily="34" charset="0"/>
                <a:ea typeface="Calibri" pitchFamily="34" charset="-122"/>
                <a:cs typeface="Calibri" pitchFamily="34" charset="-120"/>
              </a:rPr>
              <a:t>Writes it down.</a:t>
            </a:r>
            <a:endParaRPr lang="en-US" sz="1350" dirty="0"/>
          </a:p>
        </p:txBody>
      </p:sp>
      <p:sp>
        <p:nvSpPr>
          <p:cNvPr id="10" name="Shape 8"/>
          <p:cNvSpPr/>
          <p:nvPr/>
        </p:nvSpPr>
        <p:spPr>
          <a:xfrm>
            <a:off x="8174736" y="1691640"/>
            <a:ext cx="3383280" cy="1600200"/>
          </a:xfrm>
          <a:prstGeom prst="roundRect">
            <a:avLst>
              <a:gd name="adj" fmla="val 3429"/>
            </a:avLst>
          </a:prstGeom>
          <a:solidFill>
            <a:srgbClr val="18242F"/>
          </a:solidFill>
          <a:ln w="12700">
            <a:solidFill>
              <a:srgbClr val="2E3F4E"/>
            </a:solidFill>
            <a:prstDash val="solid"/>
          </a:ln>
        </p:spPr>
      </p:sp>
      <p:sp>
        <p:nvSpPr>
          <p:cNvPr id="11" name="Text 9"/>
          <p:cNvSpPr txBox="1"/>
          <p:nvPr/>
        </p:nvSpPr>
        <p:spPr>
          <a:xfrm>
            <a:off x="8449056" y="1874520"/>
            <a:ext cx="2834640" cy="292608"/>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Camera 3</a:t>
            </a:r>
            <a:endParaRPr lang="en-US" sz="1500" dirty="0"/>
          </a:p>
        </p:txBody>
      </p:sp>
      <p:sp>
        <p:nvSpPr>
          <p:cNvPr id="12" name="Text 10"/>
          <p:cNvSpPr txBox="1"/>
          <p:nvPr/>
        </p:nvSpPr>
        <p:spPr>
          <a:xfrm>
            <a:off x="8449056" y="2240280"/>
            <a:ext cx="2834640" cy="822960"/>
          </a:xfrm>
          <a:prstGeom prst="rect">
            <a:avLst/>
          </a:prstGeom>
          <a:noFill/>
          <a:ln/>
        </p:spPr>
        <p:txBody>
          <a:bodyPr wrap="square" lIns="0" tIns="0" rIns="0" bIns="0" rtlCol="0" anchor="ctr"/>
          <a:lstStyle/>
          <a:p>
            <a:pPr indent="0" marL="0">
              <a:lnSpc>
                <a:spcPct val="120000"/>
              </a:lnSpc>
              <a:buNone/>
            </a:pPr>
            <a:r>
              <a:rPr lang="en-US" sz="1350" dirty="0">
                <a:solidFill>
                  <a:srgbClr val="BCC9D5"/>
                </a:solidFill>
                <a:latin typeface="Calibri" pitchFamily="34" charset="0"/>
                <a:ea typeface="Calibri" pitchFamily="34" charset="-122"/>
                <a:cs typeface="Calibri" pitchFamily="34" charset="-120"/>
              </a:rPr>
              <a:t>Sees a white bus.</a:t>
            </a:r>
            <a:endParaRPr lang="en-US" sz="1350" dirty="0"/>
          </a:p>
          <a:p>
            <a:pPr indent="0" marL="0">
              <a:lnSpc>
                <a:spcPct val="120000"/>
              </a:lnSpc>
              <a:buNone/>
            </a:pPr>
            <a:r>
              <a:rPr lang="en-US" sz="1350" dirty="0">
                <a:solidFill>
                  <a:srgbClr val="BCC9D5"/>
                </a:solidFill>
                <a:latin typeface="Calibri" pitchFamily="34" charset="0"/>
                <a:ea typeface="Calibri" pitchFamily="34" charset="-122"/>
                <a:cs typeface="Calibri" pitchFamily="34" charset="-120"/>
              </a:rPr>
              <a:t>Writes it down.</a:t>
            </a:r>
            <a:endParaRPr lang="en-US" sz="1350" dirty="0"/>
          </a:p>
        </p:txBody>
      </p:sp>
      <p:sp>
        <p:nvSpPr>
          <p:cNvPr id="13" name="Shape 11"/>
          <p:cNvSpPr/>
          <p:nvPr/>
        </p:nvSpPr>
        <p:spPr>
          <a:xfrm>
            <a:off x="640080" y="3611880"/>
            <a:ext cx="10911535" cy="1051560"/>
          </a:xfrm>
          <a:prstGeom prst="roundRect">
            <a:avLst>
              <a:gd name="adj" fmla="val 5217"/>
            </a:avLst>
          </a:prstGeom>
          <a:solidFill>
            <a:srgbClr val="2A1A18"/>
          </a:solidFill>
          <a:ln w="12700">
            <a:solidFill>
              <a:srgbClr val="2E3F4E"/>
            </a:solidFill>
            <a:prstDash val="solid"/>
          </a:ln>
        </p:spPr>
      </p:sp>
      <p:sp>
        <p:nvSpPr>
          <p:cNvPr id="14" name="Text 12"/>
          <p:cNvSpPr txBox="1"/>
          <p:nvPr/>
        </p:nvSpPr>
        <p:spPr>
          <a:xfrm>
            <a:off x="1005840" y="3822192"/>
            <a:ext cx="10180015" cy="548640"/>
          </a:xfrm>
          <a:prstGeom prst="rect">
            <a:avLst/>
          </a:prstGeom>
          <a:noFill/>
          <a:ln/>
        </p:spPr>
        <p:txBody>
          <a:bodyPr wrap="square" lIns="0" tIns="0" rIns="0" bIns="0" rtlCol="0" anchor="ctr"/>
          <a:lstStyle/>
          <a:p>
            <a:pPr indent="0" marL="0">
              <a:buNone/>
            </a:pPr>
            <a:r>
              <a:rPr lang="en-US" sz="2600" b="1" dirty="0">
                <a:solidFill>
                  <a:srgbClr val="EC6055"/>
                </a:solidFill>
                <a:latin typeface="Arial" pitchFamily="34" charset="0"/>
                <a:ea typeface="Arial" pitchFamily="34" charset="-122"/>
                <a:cs typeface="Arial" pitchFamily="34" charset="-120"/>
              </a:rPr>
              <a:t>Nobody knows it was the SAME bus.</a:t>
            </a:r>
            <a:endParaRPr lang="en-US" sz="2600" dirty="0"/>
          </a:p>
        </p:txBody>
      </p:sp>
      <p:sp>
        <p:nvSpPr>
          <p:cNvPr id="15" name="Text 13"/>
          <p:cNvSpPr txBox="1"/>
          <p:nvPr/>
        </p:nvSpPr>
        <p:spPr>
          <a:xfrm>
            <a:off x="640080" y="4892040"/>
            <a:ext cx="10911535" cy="45720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Because of that, two things go wrong every day:</a:t>
            </a:r>
            <a:endParaRPr lang="en-US" sz="1600" dirty="0"/>
          </a:p>
        </p:txBody>
      </p:sp>
      <p:sp>
        <p:nvSpPr>
          <p:cNvPr id="16" name="Text 14"/>
          <p:cNvSpPr txBox="1"/>
          <p:nvPr/>
        </p:nvSpPr>
        <p:spPr>
          <a:xfrm>
            <a:off x="640080" y="5303520"/>
            <a:ext cx="10911535" cy="109728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450" dirty="0">
                <a:solidFill>
                  <a:srgbClr val="BCC9D5"/>
                </a:solidFill>
                <a:latin typeface="Calibri" pitchFamily="34" charset="0"/>
                <a:ea typeface="Calibri" pitchFamily="34" charset="-122"/>
                <a:cs typeface="Calibri" pitchFamily="34" charset="-120"/>
              </a:rPr>
              <a:t>To follow one vehicle across a city, a police officer sits and watches footage by hand — for hours.</a:t>
            </a:r>
            <a:endParaRPr lang="en-US" sz="1450" dirty="0"/>
          </a:p>
          <a:p>
            <a:pPr marL="342900" indent="-342900">
              <a:lnSpc>
                <a:spcPct val="110000"/>
              </a:lnSpc>
              <a:spcAft>
                <a:spcPts val="700"/>
              </a:spcAft>
              <a:buSzPct val="100000"/>
              <a:buChar char="•"/>
            </a:pPr>
            <a:r>
              <a:rPr lang="en-US" sz="1450" dirty="0">
                <a:solidFill>
                  <a:srgbClr val="BCC9D5"/>
                </a:solidFill>
                <a:latin typeface="Calibri" pitchFamily="34" charset="0"/>
                <a:ea typeface="Calibri" pitchFamily="34" charset="-122"/>
                <a:cs typeface="Calibri" pitchFamily="34" charset="-120"/>
              </a:rPr>
              <a:t>Traffic control decides a road is jammed by counting cars. That is a bad measure: a wide road with many cars can still be moving perfectly fine.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1 — THE IDEA</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We connect the cameras to each other</a:t>
            </a:r>
            <a:endParaRPr lang="en-US" sz="3200" dirty="0"/>
          </a:p>
        </p:txBody>
      </p:sp>
      <p:sp>
        <p:nvSpPr>
          <p:cNvPr id="4" name="Shape 2"/>
          <p:cNvSpPr/>
          <p:nvPr/>
        </p:nvSpPr>
        <p:spPr>
          <a:xfrm>
            <a:off x="640080" y="1691640"/>
            <a:ext cx="10911535" cy="1097280"/>
          </a:xfrm>
          <a:prstGeom prst="roundRect">
            <a:avLst>
              <a:gd name="adj" fmla="val 5000"/>
            </a:avLst>
          </a:prstGeom>
          <a:solidFill>
            <a:srgbClr val="18242F"/>
          </a:solidFill>
          <a:ln w="12700">
            <a:solidFill>
              <a:srgbClr val="2E3F4E"/>
            </a:solidFill>
            <a:prstDash val="solid"/>
          </a:ln>
        </p:spPr>
      </p:sp>
      <p:sp>
        <p:nvSpPr>
          <p:cNvPr id="5" name="Shape 3"/>
          <p:cNvSpPr/>
          <p:nvPr/>
        </p:nvSpPr>
        <p:spPr>
          <a:xfrm>
            <a:off x="914400" y="1965960"/>
            <a:ext cx="548640" cy="548640"/>
          </a:xfrm>
          <a:prstGeom prst="ellipse">
            <a:avLst/>
          </a:prstGeom>
          <a:solidFill>
            <a:srgbClr val="F0B23F"/>
          </a:solidFill>
          <a:ln w="12700">
            <a:solidFill>
              <a:srgbClr val="F0B23F"/>
            </a:solidFill>
            <a:prstDash val="solid"/>
          </a:ln>
        </p:spPr>
      </p:sp>
      <p:sp>
        <p:nvSpPr>
          <p:cNvPr id="6" name="Text 4"/>
          <p:cNvSpPr txBox="1"/>
          <p:nvPr/>
        </p:nvSpPr>
        <p:spPr>
          <a:xfrm>
            <a:off x="914400" y="1965960"/>
            <a:ext cx="548640" cy="548640"/>
          </a:xfrm>
          <a:prstGeom prst="rect">
            <a:avLst/>
          </a:prstGeom>
          <a:noFill/>
          <a:ln/>
        </p:spPr>
        <p:txBody>
          <a:bodyPr wrap="square" lIns="0" tIns="0" rIns="0" bIns="0" rtlCol="0" anchor="ctr"/>
          <a:lstStyle/>
          <a:p>
            <a:pPr algn="ctr" indent="0" marL="0">
              <a:buNone/>
            </a:pPr>
            <a:r>
              <a:rPr lang="en-US" sz="2000" b="1" dirty="0">
                <a:solidFill>
                  <a:srgbClr val="060A0E"/>
                </a:solidFill>
                <a:latin typeface="Arial" pitchFamily="34" charset="0"/>
                <a:ea typeface="Arial" pitchFamily="34" charset="-122"/>
                <a:cs typeface="Arial" pitchFamily="34" charset="-120"/>
              </a:rPr>
              <a:t>1</a:t>
            </a:r>
            <a:endParaRPr lang="en-US" sz="2000" dirty="0"/>
          </a:p>
        </p:txBody>
      </p:sp>
      <p:sp>
        <p:nvSpPr>
          <p:cNvPr id="7" name="Text 5"/>
          <p:cNvSpPr txBox="1"/>
          <p:nvPr/>
        </p:nvSpPr>
        <p:spPr>
          <a:xfrm>
            <a:off x="1645920" y="1874520"/>
            <a:ext cx="2743200" cy="365760"/>
          </a:xfrm>
          <a:prstGeom prst="rect">
            <a:avLst/>
          </a:prstGeom>
          <a:noFill/>
          <a:ln/>
        </p:spPr>
        <p:txBody>
          <a:bodyPr wrap="square" lIns="0" tIns="0" rIns="0" bIns="0" rtlCol="0" anchor="ctr"/>
          <a:lstStyle/>
          <a:p>
            <a:pPr indent="0" marL="0">
              <a:buNone/>
            </a:pPr>
            <a:r>
              <a:rPr lang="en-US" sz="2000" b="1" dirty="0">
                <a:solidFill>
                  <a:srgbClr val="58BFD6"/>
                </a:solidFill>
                <a:latin typeface="Arial" pitchFamily="34" charset="0"/>
                <a:ea typeface="Arial" pitchFamily="34" charset="-122"/>
                <a:cs typeface="Arial" pitchFamily="34" charset="-120"/>
              </a:rPr>
              <a:t>WATCH</a:t>
            </a:r>
            <a:endParaRPr lang="en-US" sz="2000" dirty="0"/>
          </a:p>
        </p:txBody>
      </p:sp>
      <p:sp>
        <p:nvSpPr>
          <p:cNvPr id="8" name="Text 6"/>
          <p:cNvSpPr txBox="1"/>
          <p:nvPr/>
        </p:nvSpPr>
        <p:spPr>
          <a:xfrm>
            <a:off x="1645920" y="2267712"/>
            <a:ext cx="9448495" cy="457200"/>
          </a:xfrm>
          <a:prstGeom prst="rect">
            <a:avLst/>
          </a:prstGeom>
          <a:noFill/>
          <a:ln/>
        </p:spPr>
        <p:txBody>
          <a:bodyPr wrap="square" lIns="0" tIns="0" rIns="0" bIns="0" rtlCol="0" anchor="ctr"/>
          <a:lstStyle/>
          <a:p>
            <a:pPr indent="0" marL="0">
              <a:buNone/>
            </a:pPr>
            <a:r>
              <a:rPr lang="en-US" sz="1450" dirty="0">
                <a:solidFill>
                  <a:srgbClr val="BCC9D5"/>
                </a:solidFill>
                <a:latin typeface="Calibri" pitchFamily="34" charset="0"/>
                <a:ea typeface="Calibri" pitchFamily="34" charset="-122"/>
                <a:cs typeface="Calibri" pitchFamily="34" charset="-120"/>
              </a:rPr>
              <a:t>Read every camera at the same time. Find every vehicle. Read the number plates.</a:t>
            </a:r>
            <a:endParaRPr lang="en-US" sz="1450" dirty="0"/>
          </a:p>
        </p:txBody>
      </p:sp>
      <p:sp>
        <p:nvSpPr>
          <p:cNvPr id="9" name="Shape 7"/>
          <p:cNvSpPr/>
          <p:nvPr/>
        </p:nvSpPr>
        <p:spPr>
          <a:xfrm>
            <a:off x="640080" y="2990088"/>
            <a:ext cx="10911535" cy="1097280"/>
          </a:xfrm>
          <a:prstGeom prst="roundRect">
            <a:avLst>
              <a:gd name="adj" fmla="val 5000"/>
            </a:avLst>
          </a:prstGeom>
          <a:solidFill>
            <a:srgbClr val="18242F"/>
          </a:solidFill>
          <a:ln w="12700">
            <a:solidFill>
              <a:srgbClr val="2E3F4E"/>
            </a:solidFill>
            <a:prstDash val="solid"/>
          </a:ln>
        </p:spPr>
      </p:sp>
      <p:sp>
        <p:nvSpPr>
          <p:cNvPr id="10" name="Shape 8"/>
          <p:cNvSpPr/>
          <p:nvPr/>
        </p:nvSpPr>
        <p:spPr>
          <a:xfrm>
            <a:off x="914400" y="3264408"/>
            <a:ext cx="548640" cy="548640"/>
          </a:xfrm>
          <a:prstGeom prst="ellipse">
            <a:avLst/>
          </a:prstGeom>
          <a:solidFill>
            <a:srgbClr val="F0B23F"/>
          </a:solidFill>
          <a:ln w="12700">
            <a:solidFill>
              <a:srgbClr val="F0B23F"/>
            </a:solidFill>
            <a:prstDash val="solid"/>
          </a:ln>
        </p:spPr>
      </p:sp>
      <p:sp>
        <p:nvSpPr>
          <p:cNvPr id="11" name="Text 9"/>
          <p:cNvSpPr txBox="1"/>
          <p:nvPr/>
        </p:nvSpPr>
        <p:spPr>
          <a:xfrm>
            <a:off x="914400" y="3264408"/>
            <a:ext cx="548640" cy="548640"/>
          </a:xfrm>
          <a:prstGeom prst="rect">
            <a:avLst/>
          </a:prstGeom>
          <a:noFill/>
          <a:ln/>
        </p:spPr>
        <p:txBody>
          <a:bodyPr wrap="square" lIns="0" tIns="0" rIns="0" bIns="0" rtlCol="0" anchor="ctr"/>
          <a:lstStyle/>
          <a:p>
            <a:pPr algn="ctr" indent="0" marL="0">
              <a:buNone/>
            </a:pPr>
            <a:r>
              <a:rPr lang="en-US" sz="2000" b="1" dirty="0">
                <a:solidFill>
                  <a:srgbClr val="060A0E"/>
                </a:solidFill>
                <a:latin typeface="Arial" pitchFamily="34" charset="0"/>
                <a:ea typeface="Arial" pitchFamily="34" charset="-122"/>
                <a:cs typeface="Arial" pitchFamily="34" charset="-120"/>
              </a:rPr>
              <a:t>2</a:t>
            </a:r>
            <a:endParaRPr lang="en-US" sz="2000" dirty="0"/>
          </a:p>
        </p:txBody>
      </p:sp>
      <p:sp>
        <p:nvSpPr>
          <p:cNvPr id="12" name="Text 10"/>
          <p:cNvSpPr txBox="1"/>
          <p:nvPr/>
        </p:nvSpPr>
        <p:spPr>
          <a:xfrm>
            <a:off x="1645920" y="3172968"/>
            <a:ext cx="2743200" cy="365760"/>
          </a:xfrm>
          <a:prstGeom prst="rect">
            <a:avLst/>
          </a:prstGeom>
          <a:noFill/>
          <a:ln/>
        </p:spPr>
        <p:txBody>
          <a:bodyPr wrap="square" lIns="0" tIns="0" rIns="0" bIns="0" rtlCol="0" anchor="ctr"/>
          <a:lstStyle/>
          <a:p>
            <a:pPr indent="0" marL="0">
              <a:buNone/>
            </a:pPr>
            <a:r>
              <a:rPr lang="en-US" sz="2000" b="1" dirty="0">
                <a:solidFill>
                  <a:srgbClr val="F0B23F"/>
                </a:solidFill>
                <a:latin typeface="Arial" pitchFamily="34" charset="0"/>
                <a:ea typeface="Arial" pitchFamily="34" charset="-122"/>
                <a:cs typeface="Arial" pitchFamily="34" charset="-120"/>
              </a:rPr>
              <a:t>CONNECT</a:t>
            </a:r>
            <a:endParaRPr lang="en-US" sz="2000" dirty="0"/>
          </a:p>
        </p:txBody>
      </p:sp>
      <p:sp>
        <p:nvSpPr>
          <p:cNvPr id="13" name="Text 11"/>
          <p:cNvSpPr txBox="1"/>
          <p:nvPr/>
        </p:nvSpPr>
        <p:spPr>
          <a:xfrm>
            <a:off x="1645920" y="3566160"/>
            <a:ext cx="9448495" cy="457200"/>
          </a:xfrm>
          <a:prstGeom prst="rect">
            <a:avLst/>
          </a:prstGeom>
          <a:noFill/>
          <a:ln/>
        </p:spPr>
        <p:txBody>
          <a:bodyPr wrap="square" lIns="0" tIns="0" rIns="0" bIns="0" rtlCol="0" anchor="ctr"/>
          <a:lstStyle/>
          <a:p>
            <a:pPr indent="0" marL="0">
              <a:buNone/>
            </a:pPr>
            <a:r>
              <a:rPr lang="en-US" sz="1450" dirty="0">
                <a:solidFill>
                  <a:srgbClr val="BCC9D5"/>
                </a:solidFill>
                <a:latin typeface="Calibri" pitchFamily="34" charset="0"/>
                <a:ea typeface="Calibri" pitchFamily="34" charset="-122"/>
                <a:cs typeface="Calibri" pitchFamily="34" charset="-120"/>
              </a:rPr>
              <a:t>Work out which sightings on DIFFERENT cameras are the same physical vehicle.</a:t>
            </a:r>
            <a:endParaRPr lang="en-US" sz="1450" dirty="0"/>
          </a:p>
        </p:txBody>
      </p:sp>
      <p:sp>
        <p:nvSpPr>
          <p:cNvPr id="14" name="Shape 12"/>
          <p:cNvSpPr/>
          <p:nvPr/>
        </p:nvSpPr>
        <p:spPr>
          <a:xfrm>
            <a:off x="640080" y="4288536"/>
            <a:ext cx="10911535" cy="1097280"/>
          </a:xfrm>
          <a:prstGeom prst="roundRect">
            <a:avLst>
              <a:gd name="adj" fmla="val 5000"/>
            </a:avLst>
          </a:prstGeom>
          <a:solidFill>
            <a:srgbClr val="18242F"/>
          </a:solidFill>
          <a:ln w="12700">
            <a:solidFill>
              <a:srgbClr val="2E3F4E"/>
            </a:solidFill>
            <a:prstDash val="solid"/>
          </a:ln>
        </p:spPr>
      </p:sp>
      <p:sp>
        <p:nvSpPr>
          <p:cNvPr id="15" name="Shape 13"/>
          <p:cNvSpPr/>
          <p:nvPr/>
        </p:nvSpPr>
        <p:spPr>
          <a:xfrm>
            <a:off x="914400" y="4562856"/>
            <a:ext cx="548640" cy="548640"/>
          </a:xfrm>
          <a:prstGeom prst="ellipse">
            <a:avLst/>
          </a:prstGeom>
          <a:solidFill>
            <a:srgbClr val="F0B23F"/>
          </a:solidFill>
          <a:ln w="12700">
            <a:solidFill>
              <a:srgbClr val="F0B23F"/>
            </a:solidFill>
            <a:prstDash val="solid"/>
          </a:ln>
        </p:spPr>
      </p:sp>
      <p:sp>
        <p:nvSpPr>
          <p:cNvPr id="16" name="Text 14"/>
          <p:cNvSpPr txBox="1"/>
          <p:nvPr/>
        </p:nvSpPr>
        <p:spPr>
          <a:xfrm>
            <a:off x="914400" y="4562856"/>
            <a:ext cx="548640" cy="548640"/>
          </a:xfrm>
          <a:prstGeom prst="rect">
            <a:avLst/>
          </a:prstGeom>
          <a:noFill/>
          <a:ln/>
        </p:spPr>
        <p:txBody>
          <a:bodyPr wrap="square" lIns="0" tIns="0" rIns="0" bIns="0" rtlCol="0" anchor="ctr"/>
          <a:lstStyle/>
          <a:p>
            <a:pPr algn="ctr" indent="0" marL="0">
              <a:buNone/>
            </a:pPr>
            <a:r>
              <a:rPr lang="en-US" sz="2000" b="1" dirty="0">
                <a:solidFill>
                  <a:srgbClr val="060A0E"/>
                </a:solidFill>
                <a:latin typeface="Arial" pitchFamily="34" charset="0"/>
                <a:ea typeface="Arial" pitchFamily="34" charset="-122"/>
                <a:cs typeface="Arial" pitchFamily="34" charset="-120"/>
              </a:rPr>
              <a:t>3</a:t>
            </a:r>
            <a:endParaRPr lang="en-US" sz="2000" dirty="0"/>
          </a:p>
        </p:txBody>
      </p:sp>
      <p:sp>
        <p:nvSpPr>
          <p:cNvPr id="17" name="Text 15"/>
          <p:cNvSpPr txBox="1"/>
          <p:nvPr/>
        </p:nvSpPr>
        <p:spPr>
          <a:xfrm>
            <a:off x="1645920" y="4471416"/>
            <a:ext cx="2743200" cy="365760"/>
          </a:xfrm>
          <a:prstGeom prst="rect">
            <a:avLst/>
          </a:prstGeom>
          <a:noFill/>
          <a:ln/>
        </p:spPr>
        <p:txBody>
          <a:bodyPr wrap="square" lIns="0" tIns="0" rIns="0" bIns="0" rtlCol="0" anchor="ctr"/>
          <a:lstStyle/>
          <a:p>
            <a:pPr indent="0" marL="0">
              <a:buNone/>
            </a:pPr>
            <a:r>
              <a:rPr lang="en-US" sz="2000" b="1" dirty="0">
                <a:solidFill>
                  <a:srgbClr val="46C888"/>
                </a:solidFill>
                <a:latin typeface="Arial" pitchFamily="34" charset="0"/>
                <a:ea typeface="Arial" pitchFamily="34" charset="-122"/>
                <a:cs typeface="Arial" pitchFamily="34" charset="-120"/>
              </a:rPr>
              <a:t>UNDERSTAND</a:t>
            </a:r>
            <a:endParaRPr lang="en-US" sz="2000" dirty="0"/>
          </a:p>
        </p:txBody>
      </p:sp>
      <p:sp>
        <p:nvSpPr>
          <p:cNvPr id="18" name="Text 16"/>
          <p:cNvSpPr txBox="1"/>
          <p:nvPr/>
        </p:nvSpPr>
        <p:spPr>
          <a:xfrm>
            <a:off x="1645920" y="4864608"/>
            <a:ext cx="9448495" cy="457200"/>
          </a:xfrm>
          <a:prstGeom prst="rect">
            <a:avLst/>
          </a:prstGeom>
          <a:noFill/>
          <a:ln/>
        </p:spPr>
        <p:txBody>
          <a:bodyPr wrap="square" lIns="0" tIns="0" rIns="0" bIns="0" rtlCol="0" anchor="ctr"/>
          <a:lstStyle/>
          <a:p>
            <a:pPr indent="0" marL="0">
              <a:buNone/>
            </a:pPr>
            <a:r>
              <a:rPr lang="en-US" sz="1450" dirty="0">
                <a:solidFill>
                  <a:srgbClr val="BCC9D5"/>
                </a:solidFill>
                <a:latin typeface="Calibri" pitchFamily="34" charset="0"/>
                <a:ea typeface="Calibri" pitchFamily="34" charset="-122"/>
                <a:cs typeface="Calibri" pitchFamily="34" charset="-120"/>
              </a:rPr>
              <a:t>Turn those links into a map trail for one vehicle, and traffic numbers for the city.</a:t>
            </a:r>
            <a:endParaRPr lang="en-US" sz="1450" dirty="0"/>
          </a:p>
        </p:txBody>
      </p:sp>
      <p:sp>
        <p:nvSpPr>
          <p:cNvPr id="19" name="Shape 17"/>
          <p:cNvSpPr/>
          <p:nvPr/>
        </p:nvSpPr>
        <p:spPr>
          <a:xfrm>
            <a:off x="640080" y="5623560"/>
            <a:ext cx="10911535" cy="868680"/>
          </a:xfrm>
          <a:prstGeom prst="roundRect">
            <a:avLst>
              <a:gd name="adj" fmla="val 6316"/>
            </a:avLst>
          </a:prstGeom>
          <a:solidFill>
            <a:srgbClr val="1E2A1B"/>
          </a:solidFill>
          <a:ln w="12700">
            <a:solidFill>
              <a:srgbClr val="2E3F4E"/>
            </a:solidFill>
            <a:prstDash val="solid"/>
          </a:ln>
        </p:spPr>
      </p:sp>
      <p:sp>
        <p:nvSpPr>
          <p:cNvPr id="20" name="Text 18"/>
          <p:cNvSpPr txBox="1"/>
          <p:nvPr/>
        </p:nvSpPr>
        <p:spPr>
          <a:xfrm>
            <a:off x="1005840" y="5779008"/>
            <a:ext cx="10180015" cy="548640"/>
          </a:xfrm>
          <a:prstGeom prst="rect">
            <a:avLst/>
          </a:prstGeom>
          <a:noFill/>
          <a:ln/>
        </p:spPr>
        <p:txBody>
          <a:bodyPr wrap="square" lIns="0" tIns="0" rIns="0" bIns="0" rtlCol="0" anchor="ctr"/>
          <a:lstStyle/>
          <a:p>
            <a:pPr indent="0" marL="0">
              <a:buNone/>
            </a:pPr>
            <a:r>
              <a:rPr lang="en-US" sz="1500" i="1" dirty="0">
                <a:solidFill>
                  <a:srgbClr val="46C888"/>
                </a:solidFill>
                <a:latin typeface="Calibri" pitchFamily="34" charset="0"/>
                <a:ea typeface="Calibri" pitchFamily="34" charset="-122"/>
                <a:cs typeface="Calibri" pitchFamily="34" charset="-120"/>
              </a:rPr>
              <a:t>"Connect" is the real project. Watching is off-the-shelf. Connecting is the part nobody has solved — and it is where all our own code lives.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A0E"/>
        </a:solidFill>
      </p:bgPr>
    </p:bg>
    <p:spTree>
      <p:nvGrpSpPr>
        <p:cNvPr id="1" name=""/>
        <p:cNvGrpSpPr/>
        <p:nvPr/>
      </p:nvGrpSpPr>
      <p:grpSpPr>
        <a:xfrm>
          <a:off x="0" y="0"/>
          <a:ext cx="0" cy="0"/>
          <a:chOff x="0" y="0"/>
          <a:chExt cx="0" cy="0"/>
        </a:xfrm>
      </p:grpSpPr>
      <p:sp>
        <p:nvSpPr>
          <p:cNvPr id="2" name="Text 0"/>
          <p:cNvSpPr txBox="1"/>
          <p:nvPr/>
        </p:nvSpPr>
        <p:spPr>
          <a:xfrm>
            <a:off x="640080" y="2011680"/>
            <a:ext cx="5852160" cy="2011680"/>
          </a:xfrm>
          <a:prstGeom prst="rect">
            <a:avLst/>
          </a:prstGeom>
          <a:noFill/>
          <a:ln/>
        </p:spPr>
        <p:txBody>
          <a:bodyPr wrap="square" lIns="0" tIns="0" rIns="0" bIns="0" rtlCol="0" anchor="ctr"/>
          <a:lstStyle/>
          <a:p>
            <a:pPr indent="0" marL="0">
              <a:lnSpc>
                <a:spcPct val="95000"/>
              </a:lnSpc>
              <a:buNone/>
            </a:pPr>
            <a:r>
              <a:rPr lang="en-US" sz="5400" b="1" dirty="0">
                <a:solidFill>
                  <a:srgbClr val="FFFFFF"/>
                </a:solidFill>
                <a:latin typeface="Arial" pitchFamily="34" charset="0"/>
                <a:ea typeface="Arial" pitchFamily="34" charset="-122"/>
                <a:cs typeface="Arial" pitchFamily="34" charset="-120"/>
              </a:rPr>
              <a:t>First,</a:t>
            </a:r>
            <a:endParaRPr lang="en-US" sz="5400" dirty="0"/>
          </a:p>
          <a:p>
            <a:pPr indent="0" marL="0">
              <a:lnSpc>
                <a:spcPct val="95000"/>
              </a:lnSpc>
              <a:buNone/>
            </a:pPr>
            <a:r>
              <a:rPr lang="en-US" sz="5400" b="1" dirty="0">
                <a:solidFill>
                  <a:srgbClr val="FFFFFF"/>
                </a:solidFill>
                <a:latin typeface="Arial" pitchFamily="34" charset="0"/>
                <a:ea typeface="Arial" pitchFamily="34" charset="-122"/>
                <a:cs typeface="Arial" pitchFamily="34" charset="-120"/>
              </a:rPr>
              <a:t>five words</a:t>
            </a:r>
            <a:endParaRPr lang="en-US" sz="5400" dirty="0"/>
          </a:p>
        </p:txBody>
      </p:sp>
      <p:sp>
        <p:nvSpPr>
          <p:cNvPr id="3" name="Text 1"/>
          <p:cNvSpPr txBox="1"/>
          <p:nvPr/>
        </p:nvSpPr>
        <p:spPr>
          <a:xfrm>
            <a:off x="640080" y="4206240"/>
            <a:ext cx="5394960" cy="822960"/>
          </a:xfrm>
          <a:prstGeom prst="rect">
            <a:avLst/>
          </a:prstGeom>
          <a:noFill/>
          <a:ln/>
        </p:spPr>
        <p:txBody>
          <a:bodyPr wrap="square" lIns="0" tIns="0" rIns="0" bIns="0" rtlCol="0" anchor="ctr"/>
          <a:lstStyle/>
          <a:p>
            <a:pPr indent="0" marL="0">
              <a:lnSpc>
                <a:spcPct val="120000"/>
              </a:lnSpc>
              <a:buNone/>
            </a:pPr>
            <a:r>
              <a:rPr lang="en-US" sz="1600" dirty="0">
                <a:solidFill>
                  <a:srgbClr val="BCC9D5"/>
                </a:solidFill>
                <a:latin typeface="Calibri" pitchFamily="34" charset="0"/>
                <a:ea typeface="Calibri" pitchFamily="34" charset="-122"/>
                <a:cs typeface="Calibri" pitchFamily="34" charset="-120"/>
              </a:rPr>
              <a:t>Everything after this uses them. Learn these five and the rest of the deck is easy.</a:t>
            </a:r>
            <a:endParaRPr lang="en-US" sz="1600" dirty="0"/>
          </a:p>
        </p:txBody>
      </p:sp>
      <p:sp>
        <p:nvSpPr>
          <p:cNvPr id="4" name="Shape 2"/>
          <p:cNvSpPr/>
          <p:nvPr/>
        </p:nvSpPr>
        <p:spPr>
          <a:xfrm>
            <a:off x="6858000" y="1417320"/>
            <a:ext cx="4663440" cy="658368"/>
          </a:xfrm>
          <a:prstGeom prst="roundRect">
            <a:avLst>
              <a:gd name="adj" fmla="val 8333"/>
            </a:avLst>
          </a:prstGeom>
          <a:solidFill>
            <a:srgbClr val="18242F"/>
          </a:solidFill>
          <a:ln w="12700">
            <a:solidFill>
              <a:srgbClr val="2E3F4E"/>
            </a:solidFill>
            <a:prstDash val="solid"/>
          </a:ln>
        </p:spPr>
      </p:sp>
      <p:sp>
        <p:nvSpPr>
          <p:cNvPr id="5" name="Shape 3"/>
          <p:cNvSpPr/>
          <p:nvPr/>
        </p:nvSpPr>
        <p:spPr>
          <a:xfrm>
            <a:off x="7086600" y="1517904"/>
            <a:ext cx="457200" cy="457200"/>
          </a:xfrm>
          <a:prstGeom prst="ellipse">
            <a:avLst/>
          </a:prstGeom>
          <a:solidFill>
            <a:srgbClr val="F0B23F"/>
          </a:solidFill>
          <a:ln w="12700">
            <a:solidFill>
              <a:srgbClr val="F0B23F"/>
            </a:solidFill>
            <a:prstDash val="solid"/>
          </a:ln>
        </p:spPr>
      </p:sp>
      <p:sp>
        <p:nvSpPr>
          <p:cNvPr id="6" name="Text 4"/>
          <p:cNvSpPr txBox="1"/>
          <p:nvPr/>
        </p:nvSpPr>
        <p:spPr>
          <a:xfrm>
            <a:off x="7086600" y="1517904"/>
            <a:ext cx="457200" cy="45720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7726680" y="1417320"/>
            <a:ext cx="3657600" cy="65836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Model</a:t>
            </a:r>
            <a:endParaRPr lang="en-US" sz="1700" dirty="0"/>
          </a:p>
        </p:txBody>
      </p:sp>
      <p:sp>
        <p:nvSpPr>
          <p:cNvPr id="8" name="Shape 6"/>
          <p:cNvSpPr/>
          <p:nvPr/>
        </p:nvSpPr>
        <p:spPr>
          <a:xfrm>
            <a:off x="6858000" y="2258568"/>
            <a:ext cx="4663440" cy="658368"/>
          </a:xfrm>
          <a:prstGeom prst="roundRect">
            <a:avLst>
              <a:gd name="adj" fmla="val 8333"/>
            </a:avLst>
          </a:prstGeom>
          <a:solidFill>
            <a:srgbClr val="18242F"/>
          </a:solidFill>
          <a:ln w="12700">
            <a:solidFill>
              <a:srgbClr val="2E3F4E"/>
            </a:solidFill>
            <a:prstDash val="solid"/>
          </a:ln>
        </p:spPr>
      </p:sp>
      <p:sp>
        <p:nvSpPr>
          <p:cNvPr id="9" name="Shape 7"/>
          <p:cNvSpPr/>
          <p:nvPr/>
        </p:nvSpPr>
        <p:spPr>
          <a:xfrm>
            <a:off x="7086600" y="2359152"/>
            <a:ext cx="457200" cy="457200"/>
          </a:xfrm>
          <a:prstGeom prst="ellipse">
            <a:avLst/>
          </a:prstGeom>
          <a:solidFill>
            <a:srgbClr val="F0B23F"/>
          </a:solidFill>
          <a:ln w="12700">
            <a:solidFill>
              <a:srgbClr val="F0B23F"/>
            </a:solidFill>
            <a:prstDash val="solid"/>
          </a:ln>
        </p:spPr>
      </p:sp>
      <p:sp>
        <p:nvSpPr>
          <p:cNvPr id="10" name="Text 8"/>
          <p:cNvSpPr txBox="1"/>
          <p:nvPr/>
        </p:nvSpPr>
        <p:spPr>
          <a:xfrm>
            <a:off x="7086600" y="2359152"/>
            <a:ext cx="457200" cy="45720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2</a:t>
            </a:r>
            <a:endParaRPr lang="en-US" sz="1500" dirty="0"/>
          </a:p>
        </p:txBody>
      </p:sp>
      <p:sp>
        <p:nvSpPr>
          <p:cNvPr id="11" name="Text 9"/>
          <p:cNvSpPr txBox="1"/>
          <p:nvPr/>
        </p:nvSpPr>
        <p:spPr>
          <a:xfrm>
            <a:off x="7726680" y="2258568"/>
            <a:ext cx="3657600" cy="65836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Confidence</a:t>
            </a:r>
            <a:endParaRPr lang="en-US" sz="1700" dirty="0"/>
          </a:p>
        </p:txBody>
      </p:sp>
      <p:sp>
        <p:nvSpPr>
          <p:cNvPr id="12" name="Shape 10"/>
          <p:cNvSpPr/>
          <p:nvPr/>
        </p:nvSpPr>
        <p:spPr>
          <a:xfrm>
            <a:off x="6858000" y="3099816"/>
            <a:ext cx="4663440" cy="658368"/>
          </a:xfrm>
          <a:prstGeom prst="roundRect">
            <a:avLst>
              <a:gd name="adj" fmla="val 8333"/>
            </a:avLst>
          </a:prstGeom>
          <a:solidFill>
            <a:srgbClr val="18242F"/>
          </a:solidFill>
          <a:ln w="12700">
            <a:solidFill>
              <a:srgbClr val="2E3F4E"/>
            </a:solidFill>
            <a:prstDash val="solid"/>
          </a:ln>
        </p:spPr>
      </p:sp>
      <p:sp>
        <p:nvSpPr>
          <p:cNvPr id="13" name="Shape 11"/>
          <p:cNvSpPr/>
          <p:nvPr/>
        </p:nvSpPr>
        <p:spPr>
          <a:xfrm>
            <a:off x="7086600" y="3200400"/>
            <a:ext cx="457200" cy="457200"/>
          </a:xfrm>
          <a:prstGeom prst="ellipse">
            <a:avLst/>
          </a:prstGeom>
          <a:solidFill>
            <a:srgbClr val="F0B23F"/>
          </a:solidFill>
          <a:ln w="12700">
            <a:solidFill>
              <a:srgbClr val="F0B23F"/>
            </a:solidFill>
            <a:prstDash val="solid"/>
          </a:ln>
        </p:spPr>
      </p:sp>
      <p:sp>
        <p:nvSpPr>
          <p:cNvPr id="14" name="Text 12"/>
          <p:cNvSpPr txBox="1"/>
          <p:nvPr/>
        </p:nvSpPr>
        <p:spPr>
          <a:xfrm>
            <a:off x="7086600" y="3200400"/>
            <a:ext cx="457200" cy="45720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3</a:t>
            </a:r>
            <a:endParaRPr lang="en-US" sz="1500" dirty="0"/>
          </a:p>
        </p:txBody>
      </p:sp>
      <p:sp>
        <p:nvSpPr>
          <p:cNvPr id="15" name="Text 13"/>
          <p:cNvSpPr txBox="1"/>
          <p:nvPr/>
        </p:nvSpPr>
        <p:spPr>
          <a:xfrm>
            <a:off x="7726680" y="3099816"/>
            <a:ext cx="3657600" cy="65836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Frontend &amp; Backend</a:t>
            </a:r>
            <a:endParaRPr lang="en-US" sz="1700" dirty="0"/>
          </a:p>
        </p:txBody>
      </p:sp>
      <p:sp>
        <p:nvSpPr>
          <p:cNvPr id="16" name="Shape 14"/>
          <p:cNvSpPr/>
          <p:nvPr/>
        </p:nvSpPr>
        <p:spPr>
          <a:xfrm>
            <a:off x="6858000" y="3941064"/>
            <a:ext cx="4663440" cy="658368"/>
          </a:xfrm>
          <a:prstGeom prst="roundRect">
            <a:avLst>
              <a:gd name="adj" fmla="val 8333"/>
            </a:avLst>
          </a:prstGeom>
          <a:solidFill>
            <a:srgbClr val="18242F"/>
          </a:solidFill>
          <a:ln w="12700">
            <a:solidFill>
              <a:srgbClr val="2E3F4E"/>
            </a:solidFill>
            <a:prstDash val="solid"/>
          </a:ln>
        </p:spPr>
      </p:sp>
      <p:sp>
        <p:nvSpPr>
          <p:cNvPr id="17" name="Shape 15"/>
          <p:cNvSpPr/>
          <p:nvPr/>
        </p:nvSpPr>
        <p:spPr>
          <a:xfrm>
            <a:off x="7086600" y="4041648"/>
            <a:ext cx="457200" cy="457200"/>
          </a:xfrm>
          <a:prstGeom prst="ellipse">
            <a:avLst/>
          </a:prstGeom>
          <a:solidFill>
            <a:srgbClr val="F0B23F"/>
          </a:solidFill>
          <a:ln w="12700">
            <a:solidFill>
              <a:srgbClr val="F0B23F"/>
            </a:solidFill>
            <a:prstDash val="solid"/>
          </a:ln>
        </p:spPr>
      </p:sp>
      <p:sp>
        <p:nvSpPr>
          <p:cNvPr id="18" name="Text 16"/>
          <p:cNvSpPr txBox="1"/>
          <p:nvPr/>
        </p:nvSpPr>
        <p:spPr>
          <a:xfrm>
            <a:off x="7086600" y="4041648"/>
            <a:ext cx="457200" cy="45720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4</a:t>
            </a:r>
            <a:endParaRPr lang="en-US" sz="1500" dirty="0"/>
          </a:p>
        </p:txBody>
      </p:sp>
      <p:sp>
        <p:nvSpPr>
          <p:cNvPr id="19" name="Text 17"/>
          <p:cNvSpPr txBox="1"/>
          <p:nvPr/>
        </p:nvSpPr>
        <p:spPr>
          <a:xfrm>
            <a:off x="7726680" y="3941064"/>
            <a:ext cx="3657600" cy="65836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API</a:t>
            </a:r>
            <a:endParaRPr lang="en-US" sz="1700" dirty="0"/>
          </a:p>
        </p:txBody>
      </p:sp>
      <p:sp>
        <p:nvSpPr>
          <p:cNvPr id="20" name="Shape 18"/>
          <p:cNvSpPr/>
          <p:nvPr/>
        </p:nvSpPr>
        <p:spPr>
          <a:xfrm>
            <a:off x="6858000" y="4782312"/>
            <a:ext cx="4663440" cy="658368"/>
          </a:xfrm>
          <a:prstGeom prst="roundRect">
            <a:avLst>
              <a:gd name="adj" fmla="val 8333"/>
            </a:avLst>
          </a:prstGeom>
          <a:solidFill>
            <a:srgbClr val="18242F"/>
          </a:solidFill>
          <a:ln w="12700">
            <a:solidFill>
              <a:srgbClr val="2E3F4E"/>
            </a:solidFill>
            <a:prstDash val="solid"/>
          </a:ln>
        </p:spPr>
      </p:sp>
      <p:sp>
        <p:nvSpPr>
          <p:cNvPr id="21" name="Shape 19"/>
          <p:cNvSpPr/>
          <p:nvPr/>
        </p:nvSpPr>
        <p:spPr>
          <a:xfrm>
            <a:off x="7086600" y="4882896"/>
            <a:ext cx="457200" cy="457200"/>
          </a:xfrm>
          <a:prstGeom prst="ellipse">
            <a:avLst/>
          </a:prstGeom>
          <a:solidFill>
            <a:srgbClr val="F0B23F"/>
          </a:solidFill>
          <a:ln w="12700">
            <a:solidFill>
              <a:srgbClr val="F0B23F"/>
            </a:solidFill>
            <a:prstDash val="solid"/>
          </a:ln>
        </p:spPr>
      </p:sp>
      <p:sp>
        <p:nvSpPr>
          <p:cNvPr id="22" name="Text 20"/>
          <p:cNvSpPr txBox="1"/>
          <p:nvPr/>
        </p:nvSpPr>
        <p:spPr>
          <a:xfrm>
            <a:off x="7086600" y="4882896"/>
            <a:ext cx="457200" cy="45720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5</a:t>
            </a:r>
            <a:endParaRPr lang="en-US" sz="1500" dirty="0"/>
          </a:p>
        </p:txBody>
      </p:sp>
      <p:sp>
        <p:nvSpPr>
          <p:cNvPr id="23" name="Text 21"/>
          <p:cNvSpPr txBox="1"/>
          <p:nvPr/>
        </p:nvSpPr>
        <p:spPr>
          <a:xfrm>
            <a:off x="7726680" y="4782312"/>
            <a:ext cx="3657600" cy="65836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Database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WORD 1 OF 5</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A "model" is a program that learned</a:t>
            </a:r>
            <a:endParaRPr lang="en-US" sz="3200" dirty="0"/>
          </a:p>
        </p:txBody>
      </p:sp>
      <p:sp>
        <p:nvSpPr>
          <p:cNvPr id="4" name="Shape 2"/>
          <p:cNvSpPr/>
          <p:nvPr/>
        </p:nvSpPr>
        <p:spPr>
          <a:xfrm>
            <a:off x="640080" y="1691640"/>
            <a:ext cx="5257800" cy="2103120"/>
          </a:xfrm>
          <a:prstGeom prst="roundRect">
            <a:avLst>
              <a:gd name="adj" fmla="val 2609"/>
            </a:avLst>
          </a:prstGeom>
          <a:solidFill>
            <a:srgbClr val="18242F"/>
          </a:solidFill>
          <a:ln w="12700">
            <a:solidFill>
              <a:srgbClr val="2E3F4E"/>
            </a:solidFill>
            <a:prstDash val="solid"/>
          </a:ln>
        </p:spPr>
      </p:sp>
      <p:sp>
        <p:nvSpPr>
          <p:cNvPr id="5" name="Text 3"/>
          <p:cNvSpPr txBox="1"/>
          <p:nvPr/>
        </p:nvSpPr>
        <p:spPr>
          <a:xfrm>
            <a:off x="960120" y="1874520"/>
            <a:ext cx="4572000" cy="320040"/>
          </a:xfrm>
          <a:prstGeom prst="rect">
            <a:avLst/>
          </a:prstGeom>
          <a:noFill/>
          <a:ln/>
        </p:spPr>
        <p:txBody>
          <a:bodyPr wrap="square" lIns="0" tIns="0" rIns="0" bIns="0" rtlCol="0" anchor="ctr"/>
          <a:lstStyle/>
          <a:p>
            <a:pPr indent="0" marL="0">
              <a:buNone/>
            </a:pPr>
            <a:r>
              <a:rPr lang="en-US" sz="1600" b="1" dirty="0">
                <a:solidFill>
                  <a:srgbClr val="8496A6"/>
                </a:solidFill>
                <a:latin typeface="Arial" pitchFamily="34" charset="0"/>
                <a:ea typeface="Arial" pitchFamily="34" charset="-122"/>
                <a:cs typeface="Arial" pitchFamily="34" charset="-120"/>
              </a:rPr>
              <a:t>Normal program</a:t>
            </a:r>
            <a:endParaRPr lang="en-US" sz="1600" dirty="0"/>
          </a:p>
        </p:txBody>
      </p:sp>
      <p:sp>
        <p:nvSpPr>
          <p:cNvPr id="6" name="Text 4"/>
          <p:cNvSpPr txBox="1"/>
          <p:nvPr/>
        </p:nvSpPr>
        <p:spPr>
          <a:xfrm>
            <a:off x="960120" y="2240280"/>
            <a:ext cx="4617720" cy="146304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A human writes the rules by hand.</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"If the shape has four wheels and is this wide, call it a car."</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Works for simple things. Hopeless for photos.</a:t>
            </a:r>
            <a:endParaRPr lang="en-US" sz="1350" dirty="0"/>
          </a:p>
        </p:txBody>
      </p:sp>
      <p:sp>
        <p:nvSpPr>
          <p:cNvPr id="7" name="Shape 5"/>
          <p:cNvSpPr/>
          <p:nvPr/>
        </p:nvSpPr>
        <p:spPr>
          <a:xfrm>
            <a:off x="6291072" y="1691640"/>
            <a:ext cx="5257800" cy="2103120"/>
          </a:xfrm>
          <a:prstGeom prst="roundRect">
            <a:avLst>
              <a:gd name="adj" fmla="val 2609"/>
            </a:avLst>
          </a:prstGeom>
          <a:solidFill>
            <a:srgbClr val="213040"/>
          </a:solidFill>
          <a:ln w="12700">
            <a:solidFill>
              <a:srgbClr val="2E3F4E"/>
            </a:solidFill>
            <a:prstDash val="solid"/>
          </a:ln>
        </p:spPr>
      </p:sp>
      <p:sp>
        <p:nvSpPr>
          <p:cNvPr id="8" name="Text 6"/>
          <p:cNvSpPr txBox="1"/>
          <p:nvPr/>
        </p:nvSpPr>
        <p:spPr>
          <a:xfrm>
            <a:off x="6611112" y="1874520"/>
            <a:ext cx="4572000" cy="320040"/>
          </a:xfrm>
          <a:prstGeom prst="rect">
            <a:avLst/>
          </a:prstGeom>
          <a:noFill/>
          <a:ln/>
        </p:spPr>
        <p:txBody>
          <a:bodyPr wrap="square" lIns="0" tIns="0" rIns="0" bIns="0" rtlCol="0" anchor="ctr"/>
          <a:lstStyle/>
          <a:p>
            <a:pPr indent="0" marL="0">
              <a:buNone/>
            </a:pPr>
            <a:r>
              <a:rPr lang="en-US" sz="1600" b="1" dirty="0">
                <a:solidFill>
                  <a:srgbClr val="F0B23F"/>
                </a:solidFill>
                <a:latin typeface="Arial" pitchFamily="34" charset="0"/>
                <a:ea typeface="Arial" pitchFamily="34" charset="-122"/>
                <a:cs typeface="Arial" pitchFamily="34" charset="-120"/>
              </a:rPr>
              <a:t>A model</a:t>
            </a:r>
            <a:endParaRPr lang="en-US" sz="1600" dirty="0"/>
          </a:p>
        </p:txBody>
      </p:sp>
      <p:sp>
        <p:nvSpPr>
          <p:cNvPr id="9" name="Text 7"/>
          <p:cNvSpPr txBox="1"/>
          <p:nvPr/>
        </p:nvSpPr>
        <p:spPr>
          <a:xfrm>
            <a:off x="6611112" y="2240280"/>
            <a:ext cx="4617720" cy="155448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Nobody writes any rules.</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It is shown millions of labelled photos — "this is a car", "this is a bus" — until it works the pattern out for itself.</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That is how ours knows a bus.</a:t>
            </a:r>
            <a:endParaRPr lang="en-US" sz="1350" dirty="0"/>
          </a:p>
        </p:txBody>
      </p:sp>
      <p:sp>
        <p:nvSpPr>
          <p:cNvPr id="10" name="Text 8"/>
          <p:cNvSpPr txBox="1"/>
          <p:nvPr/>
        </p:nvSpPr>
        <p:spPr>
          <a:xfrm>
            <a:off x="640080" y="4023360"/>
            <a:ext cx="10911535" cy="457200"/>
          </a:xfrm>
          <a:prstGeom prst="rect">
            <a:avLst/>
          </a:prstGeom>
          <a:noFill/>
          <a:ln/>
        </p:spPr>
        <p:txBody>
          <a:bodyPr wrap="square" lIns="0" tIns="0" rIns="0" bIns="0" rtlCol="0" anchor="ctr"/>
          <a:lstStyle/>
          <a:p>
            <a:pPr indent="0" marL="0">
              <a:lnSpc>
                <a:spcPct val="115000"/>
              </a:lnSpc>
              <a:buNone/>
            </a:pPr>
            <a:r>
              <a:rPr lang="en-US" sz="1500" dirty="0">
                <a:solidFill>
                  <a:srgbClr val="BCC9D5"/>
                </a:solidFill>
                <a:latin typeface="Calibri" pitchFamily="34" charset="0"/>
                <a:ea typeface="Calibri" pitchFamily="34" charset="-122"/>
                <a:cs typeface="Calibri" pitchFamily="34" charset="-120"/>
              </a:rPr>
              <a:t>Two words that get confused all the time:</a:t>
            </a:r>
            <a:endParaRPr lang="en-US" sz="1500" dirty="0"/>
          </a:p>
        </p:txBody>
      </p:sp>
      <p:sp>
        <p:nvSpPr>
          <p:cNvPr id="11" name="Shape 9"/>
          <p:cNvSpPr/>
          <p:nvPr/>
        </p:nvSpPr>
        <p:spPr>
          <a:xfrm>
            <a:off x="640080" y="4434840"/>
            <a:ext cx="10911535" cy="1737360"/>
          </a:xfrm>
          <a:prstGeom prst="roundRect">
            <a:avLst>
              <a:gd name="adj" fmla="val 3158"/>
            </a:avLst>
          </a:prstGeom>
          <a:solidFill>
            <a:srgbClr val="18242F"/>
          </a:solidFill>
          <a:ln w="12700">
            <a:solidFill>
              <a:srgbClr val="2E3F4E"/>
            </a:solidFill>
            <a:prstDash val="solid"/>
          </a:ln>
        </p:spPr>
      </p:sp>
      <p:sp>
        <p:nvSpPr>
          <p:cNvPr id="12" name="Text 10"/>
          <p:cNvSpPr txBox="1"/>
          <p:nvPr/>
        </p:nvSpPr>
        <p:spPr>
          <a:xfrm>
            <a:off x="1005840" y="4617720"/>
            <a:ext cx="10180015" cy="1417320"/>
          </a:xfrm>
          <a:prstGeom prst="rect">
            <a:avLst/>
          </a:prstGeom>
          <a:noFill/>
          <a:ln/>
        </p:spPr>
        <p:txBody>
          <a:bodyPr wrap="square" lIns="0" tIns="0" rIns="0" bIns="0" rtlCol="0" anchor="ctr"/>
          <a:lstStyle/>
          <a:p>
            <a:pPr indent="0" marL="0">
              <a:lnSpc>
                <a:spcPct val="115000"/>
              </a:lnSpc>
              <a:buNone/>
            </a:pPr>
            <a:r>
              <a:rPr lang="en-US" sz="1500" b="1" dirty="0">
                <a:solidFill>
                  <a:srgbClr val="F0B23F"/>
                </a:solidFill>
                <a:latin typeface="Arial" pitchFamily="34" charset="0"/>
                <a:ea typeface="Arial" pitchFamily="34" charset="-122"/>
                <a:cs typeface="Arial" pitchFamily="34" charset="-120"/>
              </a:rPr>
              <a:t>TRAINING  </a:t>
            </a:r>
            <a:pPr indent="0" marL="0">
              <a:lnSpc>
                <a:spcPct val="115000"/>
              </a:lnSpc>
              <a:buNone/>
            </a:pPr>
            <a:r>
              <a:rPr lang="en-US" sz="1450" dirty="0">
                <a:solidFill>
                  <a:srgbClr val="BCC9D5"/>
                </a:solidFill>
                <a:latin typeface="Calibri" pitchFamily="34" charset="0"/>
                <a:ea typeface="Calibri" pitchFamily="34" charset="-122"/>
                <a:cs typeface="Calibri" pitchFamily="34" charset="-120"/>
              </a:rPr>
              <a:t>is showing it the millions of photos so it learns. It is slow and expensive and needs powerful computers.</a:t>
            </a:r>
            <a:endParaRPr lang="en-US" sz="1500" dirty="0"/>
          </a:p>
          <a:p>
            <a:pPr indent="0" marL="0">
              <a:lnSpc>
                <a:spcPct val="115000"/>
              </a:lnSpc>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indent="0" marL="0">
              <a:lnSpc>
                <a:spcPct val="115000"/>
              </a:lnSpc>
              <a:buNone/>
            </a:pPr>
            <a:r>
              <a:rPr lang="en-US" sz="1500" b="1" dirty="0">
                <a:solidFill>
                  <a:srgbClr val="46C888"/>
                </a:solidFill>
                <a:latin typeface="Arial" pitchFamily="34" charset="0"/>
                <a:ea typeface="Arial" pitchFamily="34" charset="-122"/>
                <a:cs typeface="Arial" pitchFamily="34" charset="-120"/>
              </a:rPr>
              <a:t>RUNNING  </a:t>
            </a:r>
            <a:pPr indent="0" marL="0">
              <a:lnSpc>
                <a:spcPct val="115000"/>
              </a:lnSpc>
              <a:buNone/>
            </a:pPr>
            <a:r>
              <a:rPr lang="en-US" sz="1450" dirty="0">
                <a:solidFill>
                  <a:srgbClr val="BCC9D5"/>
                </a:solidFill>
                <a:latin typeface="Calibri" pitchFamily="34" charset="0"/>
                <a:ea typeface="Calibri" pitchFamily="34" charset="-122"/>
                <a:cs typeface="Calibri" pitchFamily="34" charset="-120"/>
              </a:rPr>
              <a:t>is using the already-finished model. It is fast and cheap.</a:t>
            </a:r>
            <a:endParaRPr lang="en-US" sz="1500" dirty="0"/>
          </a:p>
          <a:p>
            <a:pPr indent="0" marL="0">
              <a:lnSpc>
                <a:spcPct val="115000"/>
              </a:lnSpc>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indent="0" marL="0">
              <a:lnSpc>
                <a:spcPct val="115000"/>
              </a:lnSpc>
              <a:buNone/>
            </a:pPr>
            <a:r>
              <a:rPr lang="en-US" sz="1450" i="1" dirty="0">
                <a:solidFill>
                  <a:srgbClr val="FFFFFF"/>
                </a:solidFill>
                <a:latin typeface="Calibri" pitchFamily="34" charset="0"/>
                <a:ea typeface="Calibri" pitchFamily="34" charset="-122"/>
                <a:cs typeface="Calibri" pitchFamily="34" charset="-120"/>
              </a:rPr>
              <a:t>We only RUN models that other people already trained and gave away free. That is exactly why this project costs zero rupees and works on a normal laptop.</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WORD 2 OF 5</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Every guess comes with a "confidence"</a:t>
            </a:r>
            <a:endParaRPr lang="en-US" sz="3200" dirty="0"/>
          </a:p>
        </p:txBody>
      </p:sp>
      <p:sp>
        <p:nvSpPr>
          <p:cNvPr id="4" name="Text 2"/>
          <p:cNvSpPr txBox="1"/>
          <p:nvPr/>
        </p:nvSpPr>
        <p:spPr>
          <a:xfrm>
            <a:off x="640080" y="1481328"/>
            <a:ext cx="10911535" cy="45720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A model never just says "car". It says "car, and I am 0.91 sure." Confidence is a number from 0 to 1.</a:t>
            </a:r>
            <a:endParaRPr lang="en-US" sz="1600" dirty="0"/>
          </a:p>
        </p:txBody>
      </p:sp>
      <p:sp>
        <p:nvSpPr>
          <p:cNvPr id="5" name="Shape 3"/>
          <p:cNvSpPr/>
          <p:nvPr/>
        </p:nvSpPr>
        <p:spPr>
          <a:xfrm>
            <a:off x="640080" y="2148840"/>
            <a:ext cx="10911535" cy="777240"/>
          </a:xfrm>
          <a:prstGeom prst="roundRect">
            <a:avLst>
              <a:gd name="adj" fmla="val 7059"/>
            </a:avLst>
          </a:prstGeom>
          <a:solidFill>
            <a:srgbClr val="18242F"/>
          </a:solidFill>
          <a:ln w="12700">
            <a:solidFill>
              <a:srgbClr val="2E3F4E"/>
            </a:solidFill>
            <a:prstDash val="solid"/>
          </a:ln>
        </p:spPr>
      </p:sp>
      <p:sp>
        <p:nvSpPr>
          <p:cNvPr id="6" name="Text 4"/>
          <p:cNvSpPr txBox="1"/>
          <p:nvPr/>
        </p:nvSpPr>
        <p:spPr>
          <a:xfrm>
            <a:off x="960120" y="2148840"/>
            <a:ext cx="1280160" cy="777240"/>
          </a:xfrm>
          <a:prstGeom prst="rect">
            <a:avLst/>
          </a:prstGeom>
          <a:noFill/>
          <a:ln/>
        </p:spPr>
        <p:txBody>
          <a:bodyPr wrap="square" lIns="0" tIns="0" rIns="0" bIns="0" rtlCol="0" anchor="ctr"/>
          <a:lstStyle/>
          <a:p>
            <a:pPr indent="0" marL="0">
              <a:buNone/>
            </a:pPr>
            <a:r>
              <a:rPr lang="en-US" sz="2400" b="1" dirty="0">
                <a:solidFill>
                  <a:srgbClr val="46C888"/>
                </a:solidFill>
                <a:latin typeface="Courier New" pitchFamily="34" charset="0"/>
                <a:ea typeface="Courier New" pitchFamily="34" charset="-122"/>
                <a:cs typeface="Courier New" pitchFamily="34" charset="-120"/>
              </a:rPr>
              <a:t>0.95</a:t>
            </a:r>
            <a:endParaRPr lang="en-US" sz="2400" dirty="0"/>
          </a:p>
        </p:txBody>
      </p:sp>
      <p:sp>
        <p:nvSpPr>
          <p:cNvPr id="7" name="Text 5"/>
          <p:cNvSpPr txBox="1"/>
          <p:nvPr/>
        </p:nvSpPr>
        <p:spPr>
          <a:xfrm>
            <a:off x="2468880" y="2148840"/>
            <a:ext cx="8716975" cy="777240"/>
          </a:xfrm>
          <a:prstGeom prst="rect">
            <a:avLst/>
          </a:prstGeom>
          <a:noFill/>
          <a:ln/>
        </p:spPr>
        <p:txBody>
          <a:bodyPr wrap="square" lIns="0" tIns="0" rIns="0" bIns="0" rtlCol="0" anchor="ctr"/>
          <a:lstStyle/>
          <a:p>
            <a:pPr indent="0" marL="0">
              <a:buNone/>
            </a:pPr>
            <a:r>
              <a:rPr lang="en-US" sz="1450" dirty="0">
                <a:solidFill>
                  <a:srgbClr val="BCC9D5"/>
                </a:solidFill>
                <a:latin typeface="Calibri" pitchFamily="34" charset="0"/>
                <a:ea typeface="Calibri" pitchFamily="34" charset="-122"/>
                <a:cs typeface="Calibri" pitchFamily="34" charset="-120"/>
              </a:rPr>
              <a:t>Very sure. Trust it.</a:t>
            </a:r>
            <a:endParaRPr lang="en-US" sz="1450" dirty="0"/>
          </a:p>
        </p:txBody>
      </p:sp>
      <p:sp>
        <p:nvSpPr>
          <p:cNvPr id="8" name="Shape 6"/>
          <p:cNvSpPr/>
          <p:nvPr/>
        </p:nvSpPr>
        <p:spPr>
          <a:xfrm>
            <a:off x="640080" y="3081528"/>
            <a:ext cx="10911535" cy="777240"/>
          </a:xfrm>
          <a:prstGeom prst="roundRect">
            <a:avLst>
              <a:gd name="adj" fmla="val 7059"/>
            </a:avLst>
          </a:prstGeom>
          <a:solidFill>
            <a:srgbClr val="18242F"/>
          </a:solidFill>
          <a:ln w="12700">
            <a:solidFill>
              <a:srgbClr val="2E3F4E"/>
            </a:solidFill>
            <a:prstDash val="solid"/>
          </a:ln>
        </p:spPr>
      </p:sp>
      <p:sp>
        <p:nvSpPr>
          <p:cNvPr id="9" name="Text 7"/>
          <p:cNvSpPr txBox="1"/>
          <p:nvPr/>
        </p:nvSpPr>
        <p:spPr>
          <a:xfrm>
            <a:off x="960120" y="3081528"/>
            <a:ext cx="1280160" cy="777240"/>
          </a:xfrm>
          <a:prstGeom prst="rect">
            <a:avLst/>
          </a:prstGeom>
          <a:noFill/>
          <a:ln/>
        </p:spPr>
        <p:txBody>
          <a:bodyPr wrap="square" lIns="0" tIns="0" rIns="0" bIns="0" rtlCol="0" anchor="ctr"/>
          <a:lstStyle/>
          <a:p>
            <a:pPr indent="0" marL="0">
              <a:buNone/>
            </a:pPr>
            <a:r>
              <a:rPr lang="en-US" sz="2400" b="1" dirty="0">
                <a:solidFill>
                  <a:srgbClr val="F0B23F"/>
                </a:solidFill>
                <a:latin typeface="Courier New" pitchFamily="34" charset="0"/>
                <a:ea typeface="Courier New" pitchFamily="34" charset="-122"/>
                <a:cs typeface="Courier New" pitchFamily="34" charset="-120"/>
              </a:rPr>
              <a:t>0.60</a:t>
            </a:r>
            <a:endParaRPr lang="en-US" sz="2400" dirty="0"/>
          </a:p>
        </p:txBody>
      </p:sp>
      <p:sp>
        <p:nvSpPr>
          <p:cNvPr id="10" name="Text 8"/>
          <p:cNvSpPr txBox="1"/>
          <p:nvPr/>
        </p:nvSpPr>
        <p:spPr>
          <a:xfrm>
            <a:off x="2468880" y="3081528"/>
            <a:ext cx="8716975" cy="777240"/>
          </a:xfrm>
          <a:prstGeom prst="rect">
            <a:avLst/>
          </a:prstGeom>
          <a:noFill/>
          <a:ln/>
        </p:spPr>
        <p:txBody>
          <a:bodyPr wrap="square" lIns="0" tIns="0" rIns="0" bIns="0" rtlCol="0" anchor="ctr"/>
          <a:lstStyle/>
          <a:p>
            <a:pPr indent="0" marL="0">
              <a:buNone/>
            </a:pPr>
            <a:r>
              <a:rPr lang="en-US" sz="1450" dirty="0">
                <a:solidFill>
                  <a:srgbClr val="BCC9D5"/>
                </a:solidFill>
                <a:latin typeface="Calibri" pitchFamily="34" charset="0"/>
                <a:ea typeface="Calibri" pitchFamily="34" charset="-122"/>
                <a:cs typeface="Calibri" pitchFamily="34" charset="-120"/>
              </a:rPr>
              <a:t>Probably right. Worth keeping, but check it against other evidence.</a:t>
            </a:r>
            <a:endParaRPr lang="en-US" sz="1450" dirty="0"/>
          </a:p>
        </p:txBody>
      </p:sp>
      <p:sp>
        <p:nvSpPr>
          <p:cNvPr id="11" name="Shape 9"/>
          <p:cNvSpPr/>
          <p:nvPr/>
        </p:nvSpPr>
        <p:spPr>
          <a:xfrm>
            <a:off x="640080" y="4014216"/>
            <a:ext cx="10911535" cy="777240"/>
          </a:xfrm>
          <a:prstGeom prst="roundRect">
            <a:avLst>
              <a:gd name="adj" fmla="val 7059"/>
            </a:avLst>
          </a:prstGeom>
          <a:solidFill>
            <a:srgbClr val="18242F"/>
          </a:solidFill>
          <a:ln w="12700">
            <a:solidFill>
              <a:srgbClr val="2E3F4E"/>
            </a:solidFill>
            <a:prstDash val="solid"/>
          </a:ln>
        </p:spPr>
      </p:sp>
      <p:sp>
        <p:nvSpPr>
          <p:cNvPr id="12" name="Text 10"/>
          <p:cNvSpPr txBox="1"/>
          <p:nvPr/>
        </p:nvSpPr>
        <p:spPr>
          <a:xfrm>
            <a:off x="960120" y="4014216"/>
            <a:ext cx="1280160" cy="777240"/>
          </a:xfrm>
          <a:prstGeom prst="rect">
            <a:avLst/>
          </a:prstGeom>
          <a:noFill/>
          <a:ln/>
        </p:spPr>
        <p:txBody>
          <a:bodyPr wrap="square" lIns="0" tIns="0" rIns="0" bIns="0" rtlCol="0" anchor="ctr"/>
          <a:lstStyle/>
          <a:p>
            <a:pPr indent="0" marL="0">
              <a:buNone/>
            </a:pPr>
            <a:r>
              <a:rPr lang="en-US" sz="2400" b="1" dirty="0">
                <a:solidFill>
                  <a:srgbClr val="EC6055"/>
                </a:solidFill>
                <a:latin typeface="Courier New" pitchFamily="34" charset="0"/>
                <a:ea typeface="Courier New" pitchFamily="34" charset="-122"/>
                <a:cs typeface="Courier New" pitchFamily="34" charset="-120"/>
              </a:rPr>
              <a:t>0.20</a:t>
            </a:r>
            <a:endParaRPr lang="en-US" sz="2400" dirty="0"/>
          </a:p>
        </p:txBody>
      </p:sp>
      <p:sp>
        <p:nvSpPr>
          <p:cNvPr id="13" name="Text 11"/>
          <p:cNvSpPr txBox="1"/>
          <p:nvPr/>
        </p:nvSpPr>
        <p:spPr>
          <a:xfrm>
            <a:off x="2468880" y="4014216"/>
            <a:ext cx="8716975" cy="777240"/>
          </a:xfrm>
          <a:prstGeom prst="rect">
            <a:avLst/>
          </a:prstGeom>
          <a:noFill/>
          <a:ln/>
        </p:spPr>
        <p:txBody>
          <a:bodyPr wrap="square" lIns="0" tIns="0" rIns="0" bIns="0" rtlCol="0" anchor="ctr"/>
          <a:lstStyle/>
          <a:p>
            <a:pPr indent="0" marL="0">
              <a:buNone/>
            </a:pPr>
            <a:r>
              <a:rPr lang="en-US" sz="1450" dirty="0">
                <a:solidFill>
                  <a:srgbClr val="BCC9D5"/>
                </a:solidFill>
                <a:latin typeface="Calibri" pitchFamily="34" charset="0"/>
                <a:ea typeface="Calibri" pitchFamily="34" charset="-122"/>
                <a:cs typeface="Calibri" pitchFamily="34" charset="-120"/>
              </a:rPr>
              <a:t>Almost certainly wrong. Throw it away.</a:t>
            </a:r>
            <a:endParaRPr lang="en-US" sz="1450" dirty="0"/>
          </a:p>
        </p:txBody>
      </p:sp>
      <p:sp>
        <p:nvSpPr>
          <p:cNvPr id="14" name="Shape 12"/>
          <p:cNvSpPr/>
          <p:nvPr/>
        </p:nvSpPr>
        <p:spPr>
          <a:xfrm>
            <a:off x="640080" y="5120640"/>
            <a:ext cx="10911535" cy="1143000"/>
          </a:xfrm>
          <a:prstGeom prst="roundRect">
            <a:avLst>
              <a:gd name="adj" fmla="val 4800"/>
            </a:avLst>
          </a:prstGeom>
          <a:solidFill>
            <a:srgbClr val="2A2318"/>
          </a:solidFill>
          <a:ln w="12700">
            <a:solidFill>
              <a:srgbClr val="2E3F4E"/>
            </a:solidFill>
            <a:prstDash val="solid"/>
          </a:ln>
        </p:spPr>
      </p:sp>
      <p:sp>
        <p:nvSpPr>
          <p:cNvPr id="15" name="Text 13"/>
          <p:cNvSpPr txBox="1"/>
          <p:nvPr/>
        </p:nvSpPr>
        <p:spPr>
          <a:xfrm>
            <a:off x="1005840" y="5285232"/>
            <a:ext cx="10180015" cy="347472"/>
          </a:xfrm>
          <a:prstGeom prst="rect">
            <a:avLst/>
          </a:prstGeom>
          <a:noFill/>
          <a:ln/>
        </p:spPr>
        <p:txBody>
          <a:bodyPr wrap="square" lIns="0" tIns="0" rIns="0" bIns="0" rtlCol="0" anchor="ctr"/>
          <a:lstStyle/>
          <a:p>
            <a:pPr indent="0" marL="0">
              <a:buNone/>
            </a:pPr>
            <a:r>
              <a:rPr lang="en-US" sz="1800" b="1" dirty="0">
                <a:solidFill>
                  <a:srgbClr val="F0B23F"/>
                </a:solidFill>
                <a:latin typeface="Arial" pitchFamily="34" charset="0"/>
                <a:ea typeface="Arial" pitchFamily="34" charset="-122"/>
                <a:cs typeface="Arial" pitchFamily="34" charset="-120"/>
              </a:rPr>
              <a:t>Our whole project is built on NOT throwing that number away.</a:t>
            </a:r>
            <a:endParaRPr lang="en-US" sz="1800" dirty="0"/>
          </a:p>
        </p:txBody>
      </p:sp>
      <p:sp>
        <p:nvSpPr>
          <p:cNvPr id="16" name="Text 14"/>
          <p:cNvSpPr txBox="1"/>
          <p:nvPr/>
        </p:nvSpPr>
        <p:spPr>
          <a:xfrm>
            <a:off x="1005840" y="5669280"/>
            <a:ext cx="10180015" cy="502920"/>
          </a:xfrm>
          <a:prstGeom prst="rect">
            <a:avLst/>
          </a:prstGeom>
          <a:noFill/>
          <a:ln/>
        </p:spPr>
        <p:txBody>
          <a:bodyPr wrap="square" lIns="0" tIns="0" rIns="0" bIns="0" rtlCol="0" anchor="ctr"/>
          <a:lstStyle/>
          <a:p>
            <a:pPr indent="0" marL="0">
              <a:buNone/>
            </a:pPr>
            <a:r>
              <a:rPr lang="en-US" sz="1400" dirty="0">
                <a:solidFill>
                  <a:srgbClr val="BCC9D5"/>
                </a:solidFill>
                <a:latin typeface="Calibri" pitchFamily="34" charset="0"/>
                <a:ea typeface="Calibri" pitchFamily="34" charset="-122"/>
                <a:cs typeface="Calibri" pitchFamily="34" charset="-120"/>
              </a:rPr>
              <a:t>Most systems keep the answer and bin the confidence. We carry it all the way to the screen, so the dashboard can tell you how sure it is — and can refuse to answer when it is not sure enough.</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WORD 3 OF 5</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Frontend and backend are two separate programs</a:t>
            </a:r>
            <a:endParaRPr lang="en-US" sz="3200" dirty="0"/>
          </a:p>
        </p:txBody>
      </p:sp>
      <p:sp>
        <p:nvSpPr>
          <p:cNvPr id="4" name="Shape 2"/>
          <p:cNvSpPr/>
          <p:nvPr/>
        </p:nvSpPr>
        <p:spPr>
          <a:xfrm>
            <a:off x="640080" y="1691640"/>
            <a:ext cx="5257800" cy="2423160"/>
          </a:xfrm>
          <a:prstGeom prst="roundRect">
            <a:avLst>
              <a:gd name="adj" fmla="val 2264"/>
            </a:avLst>
          </a:prstGeom>
          <a:solidFill>
            <a:srgbClr val="213040"/>
          </a:solidFill>
          <a:ln w="12700">
            <a:solidFill>
              <a:srgbClr val="2E3F4E"/>
            </a:solidFill>
            <a:prstDash val="solid"/>
          </a:ln>
        </p:spPr>
      </p:sp>
      <p:sp>
        <p:nvSpPr>
          <p:cNvPr id="5" name="Text 3"/>
          <p:cNvSpPr txBox="1"/>
          <p:nvPr/>
        </p:nvSpPr>
        <p:spPr>
          <a:xfrm>
            <a:off x="960120" y="1901952"/>
            <a:ext cx="4572000" cy="320040"/>
          </a:xfrm>
          <a:prstGeom prst="rect">
            <a:avLst/>
          </a:prstGeom>
          <a:noFill/>
          <a:ln/>
        </p:spPr>
        <p:txBody>
          <a:bodyPr wrap="square" lIns="0" tIns="0" rIns="0" bIns="0" rtlCol="0" anchor="ctr"/>
          <a:lstStyle/>
          <a:p>
            <a:pPr indent="0" marL="0">
              <a:buNone/>
            </a:pPr>
            <a:r>
              <a:rPr lang="en-US" sz="1700" b="1" dirty="0">
                <a:solidFill>
                  <a:srgbClr val="58BFD6"/>
                </a:solidFill>
                <a:latin typeface="Arial" pitchFamily="34" charset="0"/>
                <a:ea typeface="Arial" pitchFamily="34" charset="-122"/>
                <a:cs typeface="Arial" pitchFamily="34" charset="-120"/>
              </a:rPr>
              <a:t>FRONTEND</a:t>
            </a:r>
            <a:endParaRPr lang="en-US" sz="1700" dirty="0"/>
          </a:p>
        </p:txBody>
      </p:sp>
      <p:sp>
        <p:nvSpPr>
          <p:cNvPr id="6" name="Text 4"/>
          <p:cNvSpPr txBox="1"/>
          <p:nvPr/>
        </p:nvSpPr>
        <p:spPr>
          <a:xfrm>
            <a:off x="960120" y="2286000"/>
            <a:ext cx="4617720" cy="173736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The part you look at.</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Runs inside your web browser. Buttons, the map, the charts, the camera pictures.</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It is good at showing things and bad at heavy work.</a:t>
            </a:r>
            <a:endParaRPr lang="en-US" sz="1350" dirty="0"/>
          </a:p>
        </p:txBody>
      </p:sp>
      <p:sp>
        <p:nvSpPr>
          <p:cNvPr id="7" name="Shape 5"/>
          <p:cNvSpPr/>
          <p:nvPr/>
        </p:nvSpPr>
        <p:spPr>
          <a:xfrm>
            <a:off x="6291072" y="1691640"/>
            <a:ext cx="5257800" cy="2423160"/>
          </a:xfrm>
          <a:prstGeom prst="roundRect">
            <a:avLst>
              <a:gd name="adj" fmla="val 2264"/>
            </a:avLst>
          </a:prstGeom>
          <a:solidFill>
            <a:srgbClr val="213040"/>
          </a:solidFill>
          <a:ln w="12700">
            <a:solidFill>
              <a:srgbClr val="2E3F4E"/>
            </a:solidFill>
            <a:prstDash val="solid"/>
          </a:ln>
        </p:spPr>
      </p:sp>
      <p:sp>
        <p:nvSpPr>
          <p:cNvPr id="8" name="Text 6"/>
          <p:cNvSpPr txBox="1"/>
          <p:nvPr/>
        </p:nvSpPr>
        <p:spPr>
          <a:xfrm>
            <a:off x="6611112" y="1901952"/>
            <a:ext cx="4572000" cy="320040"/>
          </a:xfrm>
          <a:prstGeom prst="rect">
            <a:avLst/>
          </a:prstGeom>
          <a:noFill/>
          <a:ln/>
        </p:spPr>
        <p:txBody>
          <a:bodyPr wrap="square" lIns="0" tIns="0" rIns="0" bIns="0" rtlCol="0" anchor="ctr"/>
          <a:lstStyle/>
          <a:p>
            <a:pPr indent="0" marL="0">
              <a:buNone/>
            </a:pPr>
            <a:r>
              <a:rPr lang="en-US" sz="1700" b="1" dirty="0">
                <a:solidFill>
                  <a:srgbClr val="F0B23F"/>
                </a:solidFill>
                <a:latin typeface="Arial" pitchFamily="34" charset="0"/>
                <a:ea typeface="Arial" pitchFamily="34" charset="-122"/>
                <a:cs typeface="Arial" pitchFamily="34" charset="-120"/>
              </a:rPr>
              <a:t>BACKEND</a:t>
            </a:r>
            <a:endParaRPr lang="en-US" sz="1700" dirty="0"/>
          </a:p>
        </p:txBody>
      </p:sp>
      <p:sp>
        <p:nvSpPr>
          <p:cNvPr id="9" name="Text 7"/>
          <p:cNvSpPr txBox="1"/>
          <p:nvPr/>
        </p:nvSpPr>
        <p:spPr>
          <a:xfrm>
            <a:off x="6611112" y="2286000"/>
            <a:ext cx="4617720" cy="173736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The part that does the real work.</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Has no screen at all. Watches video, runs the AI, does the maths, saves data.</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It is good at heavy work and cannot show you anything.</a:t>
            </a:r>
            <a:endParaRPr lang="en-US" sz="1350" dirty="0"/>
          </a:p>
        </p:txBody>
      </p:sp>
      <p:sp>
        <p:nvSpPr>
          <p:cNvPr id="10" name="Text 8"/>
          <p:cNvSpPr txBox="1"/>
          <p:nvPr/>
        </p:nvSpPr>
        <p:spPr>
          <a:xfrm>
            <a:off x="640080" y="4343400"/>
            <a:ext cx="10911535" cy="73152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They are genuinely two different programs, even though both run on your one laptop. They talk to each other over the network — just like a website talks to a server, except here the "server" is also your own machine.</a:t>
            </a:r>
            <a:endParaRPr lang="en-US" sz="1600" dirty="0"/>
          </a:p>
        </p:txBody>
      </p:sp>
      <p:sp>
        <p:nvSpPr>
          <p:cNvPr id="11" name="Shape 9"/>
          <p:cNvSpPr/>
          <p:nvPr/>
        </p:nvSpPr>
        <p:spPr>
          <a:xfrm>
            <a:off x="640080" y="5212080"/>
            <a:ext cx="10911535" cy="1051560"/>
          </a:xfrm>
          <a:prstGeom prst="roundRect">
            <a:avLst>
              <a:gd name="adj" fmla="val 5217"/>
            </a:avLst>
          </a:prstGeom>
          <a:solidFill>
            <a:srgbClr val="18242F"/>
          </a:solidFill>
          <a:ln w="12700">
            <a:solidFill>
              <a:srgbClr val="2E3F4E"/>
            </a:solidFill>
            <a:prstDash val="solid"/>
          </a:ln>
        </p:spPr>
      </p:sp>
      <p:sp>
        <p:nvSpPr>
          <p:cNvPr id="12" name="Text 10"/>
          <p:cNvSpPr txBox="1"/>
          <p:nvPr/>
        </p:nvSpPr>
        <p:spPr>
          <a:xfrm>
            <a:off x="1005840" y="5376672"/>
            <a:ext cx="10180015" cy="320040"/>
          </a:xfrm>
          <a:prstGeom prst="rect">
            <a:avLst/>
          </a:prstGeom>
          <a:noFill/>
          <a:ln/>
        </p:spPr>
        <p:txBody>
          <a:bodyPr wrap="square" lIns="0" tIns="0" rIns="0" bIns="0" rtlCol="0" anchor="ctr"/>
          <a:lstStyle/>
          <a:p>
            <a:pPr indent="0" marL="0">
              <a:buNone/>
            </a:pPr>
            <a:r>
              <a:rPr lang="en-US" sz="1400" b="1" dirty="0">
                <a:solidFill>
                  <a:srgbClr val="8496A6"/>
                </a:solidFill>
                <a:latin typeface="Arial" pitchFamily="34" charset="0"/>
                <a:ea typeface="Arial" pitchFamily="34" charset="-122"/>
                <a:cs typeface="Arial" pitchFamily="34" charset="-120"/>
              </a:rPr>
              <a:t>Ours:   </a:t>
            </a:r>
            <a:pPr indent="0" marL="0">
              <a:buNone/>
            </a:pPr>
            <a:r>
              <a:rPr lang="en-US" sz="1400" dirty="0">
                <a:solidFill>
                  <a:srgbClr val="F0B23F"/>
                </a:solidFill>
                <a:latin typeface="Courier New" pitchFamily="34" charset="0"/>
                <a:ea typeface="Courier New" pitchFamily="34" charset="-122"/>
                <a:cs typeface="Courier New" pitchFamily="34" charset="-120"/>
              </a:rPr>
              <a:t>backend = Python  </a:t>
            </a:r>
            <a:pPr indent="0" marL="0">
              <a:buNone/>
            </a:pPr>
            <a:r>
              <a:rPr lang="en-US" sz="1400" dirty="0">
                <a:solidFill>
                  <a:srgbClr val="58BFD6"/>
                </a:solidFill>
                <a:latin typeface="Courier New" pitchFamily="34" charset="0"/>
                <a:ea typeface="Courier New" pitchFamily="34" charset="-122"/>
                <a:cs typeface="Courier New" pitchFamily="34" charset="-120"/>
              </a:rPr>
              <a:t>·   frontend = JavaScript running in the browser</a:t>
            </a:r>
            <a:endParaRPr lang="en-US" sz="1400" dirty="0"/>
          </a:p>
        </p:txBody>
      </p:sp>
      <p:sp>
        <p:nvSpPr>
          <p:cNvPr id="13" name="Text 11"/>
          <p:cNvSpPr txBox="1"/>
          <p:nvPr/>
        </p:nvSpPr>
        <p:spPr>
          <a:xfrm>
            <a:off x="1005840" y="5760720"/>
            <a:ext cx="10180015" cy="320040"/>
          </a:xfrm>
          <a:prstGeom prst="rect">
            <a:avLst/>
          </a:prstGeom>
          <a:noFill/>
          <a:ln/>
        </p:spPr>
        <p:txBody>
          <a:bodyPr wrap="square" lIns="0" tIns="0" rIns="0" bIns="0" rtlCol="0" anchor="ctr"/>
          <a:lstStyle/>
          <a:p>
            <a:pPr indent="0" marL="0">
              <a:buNone/>
            </a:pPr>
            <a:r>
              <a:rPr lang="en-US" sz="1350" i="1" dirty="0">
                <a:solidFill>
                  <a:srgbClr val="BCC9D5"/>
                </a:solidFill>
                <a:latin typeface="Calibri" pitchFamily="34" charset="0"/>
                <a:ea typeface="Calibri" pitchFamily="34" charset="-122"/>
                <a:cs typeface="Calibri" pitchFamily="34" charset="-120"/>
              </a:rPr>
              <a:t>That is why starting the project needs two commands in two terminal windows, not one.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WORD 4 OF 5</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An API is a doorway for asking questions</a:t>
            </a:r>
            <a:endParaRPr lang="en-US" sz="3200" dirty="0"/>
          </a:p>
        </p:txBody>
      </p:sp>
      <p:sp>
        <p:nvSpPr>
          <p:cNvPr id="4" name="Text 2"/>
          <p:cNvSpPr txBox="1"/>
          <p:nvPr/>
        </p:nvSpPr>
        <p:spPr>
          <a:xfrm>
            <a:off x="640080" y="1481328"/>
            <a:ext cx="10911535" cy="64008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The frontend cannot reach into the backend and grab things. It has to ask, politely, through a fixed set of doors. Each door is called an "endpoint", and it is just a web address that returns data instead of a web page.</a:t>
            </a:r>
            <a:endParaRPr lang="en-US" sz="1600" dirty="0"/>
          </a:p>
        </p:txBody>
      </p:sp>
      <p:sp>
        <p:nvSpPr>
          <p:cNvPr id="5" name="Shape 3"/>
          <p:cNvSpPr/>
          <p:nvPr/>
        </p:nvSpPr>
        <p:spPr>
          <a:xfrm>
            <a:off x="640080" y="2377440"/>
            <a:ext cx="10911535" cy="2743200"/>
          </a:xfrm>
          <a:prstGeom prst="roundRect">
            <a:avLst>
              <a:gd name="adj" fmla="val 2000"/>
            </a:avLst>
          </a:prstGeom>
          <a:solidFill>
            <a:srgbClr val="18242F"/>
          </a:solidFill>
          <a:ln w="12700">
            <a:solidFill>
              <a:srgbClr val="2E3F4E"/>
            </a:solidFill>
            <a:prstDash val="solid"/>
          </a:ln>
        </p:spPr>
      </p:sp>
      <p:sp>
        <p:nvSpPr>
          <p:cNvPr id="6" name="Text 4"/>
          <p:cNvSpPr txBox="1"/>
          <p:nvPr/>
        </p:nvSpPr>
        <p:spPr>
          <a:xfrm>
            <a:off x="1051560" y="2651760"/>
            <a:ext cx="2743200" cy="274320"/>
          </a:xfrm>
          <a:prstGeom prst="rect">
            <a:avLst/>
          </a:prstGeom>
          <a:noFill/>
          <a:ln/>
        </p:spPr>
        <p:txBody>
          <a:bodyPr wrap="square" lIns="0" tIns="0" rIns="0" bIns="0" rtlCol="0" anchor="ctr"/>
          <a:lstStyle/>
          <a:p>
            <a:pPr indent="0" marL="0">
              <a:buNone/>
            </a:pPr>
            <a:r>
              <a:rPr lang="en-US" sz="1300" b="1" dirty="0">
                <a:solidFill>
                  <a:srgbClr val="8496A6"/>
                </a:solidFill>
                <a:latin typeface="Arial" pitchFamily="34" charset="0"/>
                <a:ea typeface="Arial" pitchFamily="34" charset="-122"/>
                <a:cs typeface="Arial" pitchFamily="34" charset="-120"/>
              </a:rPr>
              <a:t>Browser asks:</a:t>
            </a:r>
            <a:endParaRPr lang="en-US" sz="1300" dirty="0"/>
          </a:p>
        </p:txBody>
      </p:sp>
      <p:sp>
        <p:nvSpPr>
          <p:cNvPr id="7" name="Text 5"/>
          <p:cNvSpPr txBox="1"/>
          <p:nvPr/>
        </p:nvSpPr>
        <p:spPr>
          <a:xfrm>
            <a:off x="1051560" y="2971800"/>
            <a:ext cx="10088575" cy="457200"/>
          </a:xfrm>
          <a:prstGeom prst="rect">
            <a:avLst/>
          </a:prstGeom>
          <a:noFill/>
          <a:ln/>
        </p:spPr>
        <p:txBody>
          <a:bodyPr wrap="square" lIns="0" tIns="0" rIns="0" bIns="0" rtlCol="0" anchor="ctr"/>
          <a:lstStyle/>
          <a:p>
            <a:pPr indent="0" marL="0">
              <a:buNone/>
            </a:pPr>
            <a:r>
              <a:rPr lang="en-US" sz="2000" b="1" dirty="0">
                <a:solidFill>
                  <a:srgbClr val="58BFD6"/>
                </a:solidFill>
                <a:latin typeface="Courier New" pitchFamily="34" charset="0"/>
                <a:ea typeface="Courier New" pitchFamily="34" charset="-122"/>
                <a:cs typeface="Courier New" pitchFamily="34" charset="-120"/>
              </a:rPr>
              <a:t>/api/stats</a:t>
            </a:r>
            <a:endParaRPr lang="en-US" sz="2000" dirty="0"/>
          </a:p>
        </p:txBody>
      </p:sp>
      <p:sp>
        <p:nvSpPr>
          <p:cNvPr id="8" name="Text 6"/>
          <p:cNvSpPr txBox="1"/>
          <p:nvPr/>
        </p:nvSpPr>
        <p:spPr>
          <a:xfrm>
            <a:off x="1051560" y="3794760"/>
            <a:ext cx="2743200" cy="274320"/>
          </a:xfrm>
          <a:prstGeom prst="rect">
            <a:avLst/>
          </a:prstGeom>
          <a:noFill/>
          <a:ln/>
        </p:spPr>
        <p:txBody>
          <a:bodyPr wrap="square" lIns="0" tIns="0" rIns="0" bIns="0" rtlCol="0" anchor="ctr"/>
          <a:lstStyle/>
          <a:p>
            <a:pPr indent="0" marL="0">
              <a:buNone/>
            </a:pPr>
            <a:r>
              <a:rPr lang="en-US" sz="1300" b="1" dirty="0">
                <a:solidFill>
                  <a:srgbClr val="8496A6"/>
                </a:solidFill>
                <a:latin typeface="Arial" pitchFamily="34" charset="0"/>
                <a:ea typeface="Arial" pitchFamily="34" charset="-122"/>
                <a:cs typeface="Arial" pitchFamily="34" charset="-120"/>
              </a:rPr>
              <a:t>Backend replies:</a:t>
            </a:r>
            <a:endParaRPr lang="en-US" sz="1300" dirty="0"/>
          </a:p>
        </p:txBody>
      </p:sp>
      <p:sp>
        <p:nvSpPr>
          <p:cNvPr id="9" name="Text 7"/>
          <p:cNvSpPr txBox="1"/>
          <p:nvPr/>
        </p:nvSpPr>
        <p:spPr>
          <a:xfrm>
            <a:off x="1051560" y="4114800"/>
            <a:ext cx="10088575" cy="457200"/>
          </a:xfrm>
          <a:prstGeom prst="rect">
            <a:avLst/>
          </a:prstGeom>
          <a:noFill/>
          <a:ln/>
        </p:spPr>
        <p:txBody>
          <a:bodyPr wrap="square" lIns="0" tIns="0" rIns="0" bIns="0" rtlCol="0" anchor="ctr"/>
          <a:lstStyle/>
          <a:p>
            <a:pPr indent="0" marL="0">
              <a:buNone/>
            </a:pPr>
            <a:r>
              <a:rPr lang="en-US" sz="1500" b="1" dirty="0">
                <a:solidFill>
                  <a:srgbClr val="F0B23F"/>
                </a:solidFill>
                <a:latin typeface="Courier New" pitchFamily="34" charset="0"/>
                <a:ea typeface="Courier New" pitchFamily="34" charset="-122"/>
                <a:cs typeface="Courier New" pitchFamily="34" charset="-120"/>
              </a:rPr>
              <a:t>{ "vehicles": 102, "cameras_live": 3, "plates_read": 66 }</a:t>
            </a:r>
            <a:endParaRPr lang="en-US" sz="1500" dirty="0"/>
          </a:p>
        </p:txBody>
      </p:sp>
      <p:sp>
        <p:nvSpPr>
          <p:cNvPr id="10" name="Text 8"/>
          <p:cNvSpPr txBox="1"/>
          <p:nvPr/>
        </p:nvSpPr>
        <p:spPr>
          <a:xfrm>
            <a:off x="1188720" y="3566160"/>
            <a:ext cx="457200" cy="274320"/>
          </a:xfrm>
          <a:prstGeom prst="rect">
            <a:avLst/>
          </a:prstGeom>
          <a:noFill/>
          <a:ln/>
        </p:spPr>
        <p:txBody>
          <a:bodyPr wrap="square" lIns="0" tIns="0" rIns="0" bIns="0" rtlCol="0" anchor="ctr"/>
          <a:lstStyle/>
          <a:p>
            <a:pPr algn="ctr" indent="0" marL="0">
              <a:buNone/>
            </a:pPr>
            <a:r>
              <a:rPr lang="en-US" sz="1300" dirty="0">
                <a:solidFill>
                  <a:srgbClr val="F0B23F"/>
                </a:solidFill>
                <a:latin typeface="Arial" pitchFamily="34" charset="0"/>
                <a:ea typeface="Arial" pitchFamily="34" charset="-122"/>
                <a:cs typeface="Arial" pitchFamily="34" charset="-120"/>
              </a:rPr>
              <a:t>▼</a:t>
            </a:r>
            <a:endParaRPr lang="en-US" sz="1300" dirty="0"/>
          </a:p>
        </p:txBody>
      </p:sp>
      <p:sp>
        <p:nvSpPr>
          <p:cNvPr id="11" name="Text 9"/>
          <p:cNvSpPr txBox="1"/>
          <p:nvPr/>
        </p:nvSpPr>
        <p:spPr>
          <a:xfrm>
            <a:off x="640080" y="5349240"/>
            <a:ext cx="10911535" cy="64008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Our backend has 15 such doors. The browser never gets to look inside the database itself — it can only ask through these. That is what keeps the two halves independent.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WORD 5 OF 5</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The database is one file on your disk</a:t>
            </a:r>
            <a:endParaRPr lang="en-US" sz="3200" dirty="0"/>
          </a:p>
        </p:txBody>
      </p:sp>
      <p:sp>
        <p:nvSpPr>
          <p:cNvPr id="4" name="Text 2"/>
          <p:cNvSpPr txBox="1"/>
          <p:nvPr/>
        </p:nvSpPr>
        <p:spPr>
          <a:xfrm>
            <a:off x="640080" y="1481328"/>
            <a:ext cx="10911535" cy="54864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A database is an organised place to keep information so you can find it again quickly. Think of a very strict spreadsheet that never lets you type the wrong kind of thing into a column.</a:t>
            </a:r>
            <a:endParaRPr lang="en-US" sz="1600" dirty="0"/>
          </a:p>
        </p:txBody>
      </p:sp>
      <p:sp>
        <p:nvSpPr>
          <p:cNvPr id="5" name="Shape 3"/>
          <p:cNvSpPr/>
          <p:nvPr/>
        </p:nvSpPr>
        <p:spPr>
          <a:xfrm>
            <a:off x="640080" y="2240280"/>
            <a:ext cx="5257800" cy="2286000"/>
          </a:xfrm>
          <a:prstGeom prst="roundRect">
            <a:avLst>
              <a:gd name="adj" fmla="val 2400"/>
            </a:avLst>
          </a:prstGeom>
          <a:solidFill>
            <a:srgbClr val="213040"/>
          </a:solidFill>
          <a:ln w="12700">
            <a:solidFill>
              <a:srgbClr val="2E3F4E"/>
            </a:solidFill>
            <a:prstDash val="solid"/>
          </a:ln>
        </p:spPr>
      </p:sp>
      <p:sp>
        <p:nvSpPr>
          <p:cNvPr id="6" name="Text 4"/>
          <p:cNvSpPr txBox="1"/>
          <p:nvPr/>
        </p:nvSpPr>
        <p:spPr>
          <a:xfrm>
            <a:off x="960120" y="2450592"/>
            <a:ext cx="4572000" cy="320040"/>
          </a:xfrm>
          <a:prstGeom prst="rect">
            <a:avLst/>
          </a:prstGeom>
          <a:noFill/>
          <a:ln/>
        </p:spPr>
        <p:txBody>
          <a:bodyPr wrap="square" lIns="0" tIns="0" rIns="0" bIns="0" rtlCol="0" anchor="ctr"/>
          <a:lstStyle/>
          <a:p>
            <a:pPr indent="0" marL="0">
              <a:buNone/>
            </a:pPr>
            <a:r>
              <a:rPr lang="en-US" sz="1700" b="1" dirty="0">
                <a:solidFill>
                  <a:srgbClr val="F0B23F"/>
                </a:solidFill>
                <a:latin typeface="Arial" pitchFamily="34" charset="0"/>
                <a:ea typeface="Arial" pitchFamily="34" charset="-122"/>
                <a:cs typeface="Arial" pitchFamily="34" charset="-120"/>
              </a:rPr>
              <a:t>Ours is SQLite</a:t>
            </a:r>
            <a:endParaRPr lang="en-US" sz="1700" dirty="0"/>
          </a:p>
        </p:txBody>
      </p:sp>
      <p:sp>
        <p:nvSpPr>
          <p:cNvPr id="7" name="Text 5"/>
          <p:cNvSpPr txBox="1"/>
          <p:nvPr/>
        </p:nvSpPr>
        <p:spPr>
          <a:xfrm>
            <a:off x="960120" y="2816352"/>
            <a:ext cx="4572000" cy="320040"/>
          </a:xfrm>
          <a:prstGeom prst="rect">
            <a:avLst/>
          </a:prstGeom>
          <a:noFill/>
          <a:ln/>
        </p:spPr>
        <p:txBody>
          <a:bodyPr wrap="square" lIns="0" tIns="0" rIns="0" bIns="0" rtlCol="0" anchor="ctr"/>
          <a:lstStyle/>
          <a:p>
            <a:pPr indent="0" marL="0">
              <a:buNone/>
            </a:pPr>
            <a:r>
              <a:rPr lang="en-US" sz="1500" dirty="0">
                <a:solidFill>
                  <a:srgbClr val="58BFD6"/>
                </a:solidFill>
                <a:latin typeface="Courier New" pitchFamily="34" charset="0"/>
                <a:ea typeface="Courier New" pitchFamily="34" charset="-122"/>
                <a:cs typeface="Courier New" pitchFamily="34" charset="-120"/>
              </a:rPr>
              <a:t>data/netra.db</a:t>
            </a:r>
            <a:endParaRPr lang="en-US" sz="1500" dirty="0"/>
          </a:p>
        </p:txBody>
      </p:sp>
      <p:sp>
        <p:nvSpPr>
          <p:cNvPr id="8" name="Text 6"/>
          <p:cNvSpPr txBox="1"/>
          <p:nvPr/>
        </p:nvSpPr>
        <p:spPr>
          <a:xfrm>
            <a:off x="960120" y="3200400"/>
            <a:ext cx="4617720" cy="118872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One single file. No server to install, no username, no password. Copy that one file and you have copied everything the system has ever seen.</a:t>
            </a:r>
            <a:endParaRPr lang="en-US" sz="1350" dirty="0"/>
          </a:p>
        </p:txBody>
      </p:sp>
      <p:sp>
        <p:nvSpPr>
          <p:cNvPr id="9" name="Shape 7"/>
          <p:cNvSpPr/>
          <p:nvPr/>
        </p:nvSpPr>
        <p:spPr>
          <a:xfrm>
            <a:off x="6291072" y="2240280"/>
            <a:ext cx="5257800" cy="2286000"/>
          </a:xfrm>
          <a:prstGeom prst="roundRect">
            <a:avLst>
              <a:gd name="adj" fmla="val 2400"/>
            </a:avLst>
          </a:prstGeom>
          <a:solidFill>
            <a:srgbClr val="18242F"/>
          </a:solidFill>
          <a:ln w="12700">
            <a:solidFill>
              <a:srgbClr val="2E3F4E"/>
            </a:solidFill>
            <a:prstDash val="solid"/>
          </a:ln>
        </p:spPr>
      </p:sp>
      <p:sp>
        <p:nvSpPr>
          <p:cNvPr id="10" name="Text 8"/>
          <p:cNvSpPr txBox="1"/>
          <p:nvPr/>
        </p:nvSpPr>
        <p:spPr>
          <a:xfrm>
            <a:off x="6611112" y="2450592"/>
            <a:ext cx="4572000" cy="320040"/>
          </a:xfrm>
          <a:prstGeom prst="rect">
            <a:avLst/>
          </a:prstGeom>
          <a:noFill/>
          <a:ln/>
        </p:spPr>
        <p:txBody>
          <a:bodyPr wrap="square" lIns="0" tIns="0" rIns="0" bIns="0" rtlCol="0" anchor="ctr"/>
          <a:lstStyle/>
          <a:p>
            <a:pPr indent="0" marL="0">
              <a:buNone/>
            </a:pPr>
            <a:r>
              <a:rPr lang="en-US" sz="1700" b="1" dirty="0">
                <a:solidFill>
                  <a:srgbClr val="46C888"/>
                </a:solidFill>
                <a:latin typeface="Arial" pitchFamily="34" charset="0"/>
                <a:ea typeface="Arial" pitchFamily="34" charset="-122"/>
                <a:cs typeface="Arial" pitchFamily="34" charset="-120"/>
              </a:rPr>
              <a:t>Why this matters here</a:t>
            </a:r>
            <a:endParaRPr lang="en-US" sz="1700" dirty="0"/>
          </a:p>
        </p:txBody>
      </p:sp>
      <p:sp>
        <p:nvSpPr>
          <p:cNvPr id="11" name="Text 9"/>
          <p:cNvSpPr txBox="1"/>
          <p:nvPr/>
        </p:nvSpPr>
        <p:spPr>
          <a:xfrm>
            <a:off x="6611112" y="2816352"/>
            <a:ext cx="4617720" cy="160020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Everything in our system meets in this one file. The cameras only write to it. The analysis only reads and writes. The API only reads.</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So any one part can be restarted without breaking the others — which matters a lot during a live demo.</a:t>
            </a:r>
            <a:endParaRPr lang="en-US" sz="1350" dirty="0"/>
          </a:p>
        </p:txBody>
      </p:sp>
      <p:sp>
        <p:nvSpPr>
          <p:cNvPr id="12" name="Shape 10"/>
          <p:cNvSpPr/>
          <p:nvPr/>
        </p:nvSpPr>
        <p:spPr>
          <a:xfrm>
            <a:off x="640080" y="4754880"/>
            <a:ext cx="10911535" cy="1572768"/>
          </a:xfrm>
          <a:prstGeom prst="roundRect">
            <a:avLst>
              <a:gd name="adj" fmla="val 3488"/>
            </a:avLst>
          </a:prstGeom>
          <a:solidFill>
            <a:srgbClr val="18242F"/>
          </a:solidFill>
          <a:ln w="12700">
            <a:solidFill>
              <a:srgbClr val="2E3F4E"/>
            </a:solidFill>
            <a:prstDash val="solid"/>
          </a:ln>
        </p:spPr>
      </p:sp>
      <p:sp>
        <p:nvSpPr>
          <p:cNvPr id="13" name="Text 11"/>
          <p:cNvSpPr txBox="1"/>
          <p:nvPr/>
        </p:nvSpPr>
        <p:spPr>
          <a:xfrm>
            <a:off x="1005840" y="4919472"/>
            <a:ext cx="10180015" cy="292608"/>
          </a:xfrm>
          <a:prstGeom prst="rect">
            <a:avLst/>
          </a:prstGeom>
          <a:noFill/>
          <a:ln/>
        </p:spPr>
        <p:txBody>
          <a:bodyPr wrap="square" lIns="0" tIns="0" rIns="0" bIns="0" rtlCol="0" anchor="ctr"/>
          <a:lstStyle/>
          <a:p>
            <a:pPr indent="0" marL="0">
              <a:buNone/>
            </a:pPr>
            <a:r>
              <a:rPr lang="en-US" sz="1400" dirty="0">
                <a:solidFill>
                  <a:srgbClr val="BCC9D5"/>
                </a:solidFill>
                <a:latin typeface="Calibri" pitchFamily="34" charset="0"/>
                <a:ea typeface="Calibri" pitchFamily="34" charset="-122"/>
                <a:cs typeface="Calibri" pitchFamily="34" charset="-120"/>
              </a:rPr>
              <a:t>It holds 8 tables. A "table" is one kind of thing, one row per item:</a:t>
            </a:r>
            <a:endParaRPr lang="en-US" sz="1400" dirty="0"/>
          </a:p>
        </p:txBody>
      </p:sp>
      <p:sp>
        <p:nvSpPr>
          <p:cNvPr id="14" name="Shape 12"/>
          <p:cNvSpPr/>
          <p:nvPr/>
        </p:nvSpPr>
        <p:spPr>
          <a:xfrm>
            <a:off x="1005840" y="5303520"/>
            <a:ext cx="2377440" cy="384048"/>
          </a:xfrm>
          <a:prstGeom prst="roundRect">
            <a:avLst>
              <a:gd name="adj" fmla="val 47619"/>
            </a:avLst>
          </a:prstGeom>
          <a:solidFill>
            <a:srgbClr val="213040"/>
          </a:solidFill>
          <a:ln w="12700">
            <a:solidFill>
              <a:srgbClr val="58BFD6"/>
            </a:solidFill>
            <a:prstDash val="solid"/>
          </a:ln>
        </p:spPr>
      </p:sp>
      <p:sp>
        <p:nvSpPr>
          <p:cNvPr id="15" name="Text 13"/>
          <p:cNvSpPr txBox="1"/>
          <p:nvPr/>
        </p:nvSpPr>
        <p:spPr>
          <a:xfrm>
            <a:off x="1005840" y="5303520"/>
            <a:ext cx="2377440" cy="384048"/>
          </a:xfrm>
          <a:prstGeom prst="rect">
            <a:avLst/>
          </a:prstGeom>
          <a:noFill/>
          <a:ln/>
        </p:spPr>
        <p:txBody>
          <a:bodyPr wrap="square" lIns="0" tIns="0" rIns="0" bIns="0" rtlCol="0" anchor="ctr"/>
          <a:lstStyle/>
          <a:p>
            <a:pPr algn="ctr" indent="0" marL="0">
              <a:buNone/>
            </a:pPr>
            <a:r>
              <a:rPr lang="en-US" sz="1150" b="1" dirty="0">
                <a:solidFill>
                  <a:srgbClr val="58BFD6"/>
                </a:solidFill>
                <a:latin typeface="Courier New" pitchFamily="34" charset="0"/>
                <a:ea typeface="Courier New" pitchFamily="34" charset="-122"/>
                <a:cs typeface="Courier New" pitchFamily="34" charset="-120"/>
              </a:rPr>
              <a:t>cameras</a:t>
            </a:r>
            <a:endParaRPr lang="en-US" sz="1150" dirty="0"/>
          </a:p>
        </p:txBody>
      </p:sp>
      <p:sp>
        <p:nvSpPr>
          <p:cNvPr id="16" name="Shape 14"/>
          <p:cNvSpPr/>
          <p:nvPr/>
        </p:nvSpPr>
        <p:spPr>
          <a:xfrm>
            <a:off x="3611880" y="5303520"/>
            <a:ext cx="2377440" cy="384048"/>
          </a:xfrm>
          <a:prstGeom prst="roundRect">
            <a:avLst>
              <a:gd name="adj" fmla="val 47619"/>
            </a:avLst>
          </a:prstGeom>
          <a:solidFill>
            <a:srgbClr val="213040"/>
          </a:solidFill>
          <a:ln w="12700">
            <a:solidFill>
              <a:srgbClr val="58BFD6"/>
            </a:solidFill>
            <a:prstDash val="solid"/>
          </a:ln>
        </p:spPr>
      </p:sp>
      <p:sp>
        <p:nvSpPr>
          <p:cNvPr id="17" name="Text 15"/>
          <p:cNvSpPr txBox="1"/>
          <p:nvPr/>
        </p:nvSpPr>
        <p:spPr>
          <a:xfrm>
            <a:off x="3611880" y="5303520"/>
            <a:ext cx="2377440" cy="384048"/>
          </a:xfrm>
          <a:prstGeom prst="rect">
            <a:avLst/>
          </a:prstGeom>
          <a:noFill/>
          <a:ln/>
        </p:spPr>
        <p:txBody>
          <a:bodyPr wrap="square" lIns="0" tIns="0" rIns="0" bIns="0" rtlCol="0" anchor="ctr"/>
          <a:lstStyle/>
          <a:p>
            <a:pPr algn="ctr" indent="0" marL="0">
              <a:buNone/>
            </a:pPr>
            <a:r>
              <a:rPr lang="en-US" sz="1150" b="1" dirty="0">
                <a:solidFill>
                  <a:srgbClr val="58BFD6"/>
                </a:solidFill>
                <a:latin typeface="Courier New" pitchFamily="34" charset="0"/>
                <a:ea typeface="Courier New" pitchFamily="34" charset="-122"/>
                <a:cs typeface="Courier New" pitchFamily="34" charset="-120"/>
              </a:rPr>
              <a:t>sightings</a:t>
            </a:r>
            <a:endParaRPr lang="en-US" sz="1150" dirty="0"/>
          </a:p>
        </p:txBody>
      </p:sp>
      <p:sp>
        <p:nvSpPr>
          <p:cNvPr id="18" name="Shape 16"/>
          <p:cNvSpPr/>
          <p:nvPr/>
        </p:nvSpPr>
        <p:spPr>
          <a:xfrm>
            <a:off x="6217920" y="5303520"/>
            <a:ext cx="2377440" cy="384048"/>
          </a:xfrm>
          <a:prstGeom prst="roundRect">
            <a:avLst>
              <a:gd name="adj" fmla="val 47619"/>
            </a:avLst>
          </a:prstGeom>
          <a:solidFill>
            <a:srgbClr val="213040"/>
          </a:solidFill>
          <a:ln w="12700">
            <a:solidFill>
              <a:srgbClr val="58BFD6"/>
            </a:solidFill>
            <a:prstDash val="solid"/>
          </a:ln>
        </p:spPr>
      </p:sp>
      <p:sp>
        <p:nvSpPr>
          <p:cNvPr id="19" name="Text 17"/>
          <p:cNvSpPr txBox="1"/>
          <p:nvPr/>
        </p:nvSpPr>
        <p:spPr>
          <a:xfrm>
            <a:off x="6217920" y="5303520"/>
            <a:ext cx="2377440" cy="384048"/>
          </a:xfrm>
          <a:prstGeom prst="rect">
            <a:avLst/>
          </a:prstGeom>
          <a:noFill/>
          <a:ln/>
        </p:spPr>
        <p:txBody>
          <a:bodyPr wrap="square" lIns="0" tIns="0" rIns="0" bIns="0" rtlCol="0" anchor="ctr"/>
          <a:lstStyle/>
          <a:p>
            <a:pPr algn="ctr" indent="0" marL="0">
              <a:buNone/>
            </a:pPr>
            <a:r>
              <a:rPr lang="en-US" sz="1150" b="1" dirty="0">
                <a:solidFill>
                  <a:srgbClr val="58BFD6"/>
                </a:solidFill>
                <a:latin typeface="Courier New" pitchFamily="34" charset="0"/>
                <a:ea typeface="Courier New" pitchFamily="34" charset="-122"/>
                <a:cs typeface="Courier New" pitchFamily="34" charset="-120"/>
              </a:rPr>
              <a:t>plate_reads</a:t>
            </a:r>
            <a:endParaRPr lang="en-US" sz="1150" dirty="0"/>
          </a:p>
        </p:txBody>
      </p:sp>
      <p:sp>
        <p:nvSpPr>
          <p:cNvPr id="20" name="Shape 18"/>
          <p:cNvSpPr/>
          <p:nvPr/>
        </p:nvSpPr>
        <p:spPr>
          <a:xfrm>
            <a:off x="8823960" y="5303520"/>
            <a:ext cx="2377440" cy="384048"/>
          </a:xfrm>
          <a:prstGeom prst="roundRect">
            <a:avLst>
              <a:gd name="adj" fmla="val 47619"/>
            </a:avLst>
          </a:prstGeom>
          <a:solidFill>
            <a:srgbClr val="213040"/>
          </a:solidFill>
          <a:ln w="12700">
            <a:solidFill>
              <a:srgbClr val="F0B23F"/>
            </a:solidFill>
            <a:prstDash val="solid"/>
          </a:ln>
        </p:spPr>
      </p:sp>
      <p:sp>
        <p:nvSpPr>
          <p:cNvPr id="21" name="Text 19"/>
          <p:cNvSpPr txBox="1"/>
          <p:nvPr/>
        </p:nvSpPr>
        <p:spPr>
          <a:xfrm>
            <a:off x="8823960" y="5303520"/>
            <a:ext cx="2377440"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vehicle_identities</a:t>
            </a:r>
            <a:endParaRPr lang="en-US" sz="1150" dirty="0"/>
          </a:p>
        </p:txBody>
      </p:sp>
      <p:sp>
        <p:nvSpPr>
          <p:cNvPr id="22" name="Shape 20"/>
          <p:cNvSpPr/>
          <p:nvPr/>
        </p:nvSpPr>
        <p:spPr>
          <a:xfrm>
            <a:off x="1005840" y="5760720"/>
            <a:ext cx="2377440" cy="384048"/>
          </a:xfrm>
          <a:prstGeom prst="roundRect">
            <a:avLst>
              <a:gd name="adj" fmla="val 47619"/>
            </a:avLst>
          </a:prstGeom>
          <a:solidFill>
            <a:srgbClr val="213040"/>
          </a:solidFill>
          <a:ln w="12700">
            <a:solidFill>
              <a:srgbClr val="F0B23F"/>
            </a:solidFill>
            <a:prstDash val="solid"/>
          </a:ln>
        </p:spPr>
      </p:sp>
      <p:sp>
        <p:nvSpPr>
          <p:cNvPr id="23" name="Text 21"/>
          <p:cNvSpPr txBox="1"/>
          <p:nvPr/>
        </p:nvSpPr>
        <p:spPr>
          <a:xfrm>
            <a:off x="1005840" y="5760720"/>
            <a:ext cx="2377440"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identity_links</a:t>
            </a:r>
            <a:endParaRPr lang="en-US" sz="1150" dirty="0"/>
          </a:p>
        </p:txBody>
      </p:sp>
      <p:sp>
        <p:nvSpPr>
          <p:cNvPr id="24" name="Shape 22"/>
          <p:cNvSpPr/>
          <p:nvPr/>
        </p:nvSpPr>
        <p:spPr>
          <a:xfrm>
            <a:off x="3611880" y="5760720"/>
            <a:ext cx="2377440" cy="384048"/>
          </a:xfrm>
          <a:prstGeom prst="roundRect">
            <a:avLst>
              <a:gd name="adj" fmla="val 47619"/>
            </a:avLst>
          </a:prstGeom>
          <a:solidFill>
            <a:srgbClr val="213040"/>
          </a:solidFill>
          <a:ln w="12700">
            <a:solidFill>
              <a:srgbClr val="F0B23F"/>
            </a:solidFill>
            <a:prstDash val="solid"/>
          </a:ln>
        </p:spPr>
      </p:sp>
      <p:sp>
        <p:nvSpPr>
          <p:cNvPr id="25" name="Text 23"/>
          <p:cNvSpPr txBox="1"/>
          <p:nvPr/>
        </p:nvSpPr>
        <p:spPr>
          <a:xfrm>
            <a:off x="3611880" y="5760720"/>
            <a:ext cx="2377440"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journeys</a:t>
            </a:r>
            <a:endParaRPr lang="en-US" sz="1150" dirty="0"/>
          </a:p>
        </p:txBody>
      </p:sp>
      <p:sp>
        <p:nvSpPr>
          <p:cNvPr id="26" name="Shape 24"/>
          <p:cNvSpPr/>
          <p:nvPr/>
        </p:nvSpPr>
        <p:spPr>
          <a:xfrm>
            <a:off x="6217920" y="5760720"/>
            <a:ext cx="2377440" cy="384048"/>
          </a:xfrm>
          <a:prstGeom prst="roundRect">
            <a:avLst>
              <a:gd name="adj" fmla="val 47619"/>
            </a:avLst>
          </a:prstGeom>
          <a:solidFill>
            <a:srgbClr val="213040"/>
          </a:solidFill>
          <a:ln w="12700">
            <a:solidFill>
              <a:srgbClr val="F0B23F"/>
            </a:solidFill>
            <a:prstDash val="solid"/>
          </a:ln>
        </p:spPr>
      </p:sp>
      <p:sp>
        <p:nvSpPr>
          <p:cNvPr id="27" name="Text 25"/>
          <p:cNvSpPr txBox="1"/>
          <p:nvPr/>
        </p:nvSpPr>
        <p:spPr>
          <a:xfrm>
            <a:off x="6217920" y="5760720"/>
            <a:ext cx="2377440"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journey_hops</a:t>
            </a:r>
            <a:endParaRPr lang="en-US" sz="1150" dirty="0"/>
          </a:p>
        </p:txBody>
      </p:sp>
      <p:sp>
        <p:nvSpPr>
          <p:cNvPr id="28" name="Shape 26"/>
          <p:cNvSpPr/>
          <p:nvPr/>
        </p:nvSpPr>
        <p:spPr>
          <a:xfrm>
            <a:off x="8823960" y="5760720"/>
            <a:ext cx="2377440" cy="384048"/>
          </a:xfrm>
          <a:prstGeom prst="roundRect">
            <a:avLst>
              <a:gd name="adj" fmla="val 47619"/>
            </a:avLst>
          </a:prstGeom>
          <a:solidFill>
            <a:srgbClr val="213040"/>
          </a:solidFill>
          <a:ln w="12700">
            <a:solidFill>
              <a:srgbClr val="F0B23F"/>
            </a:solidFill>
            <a:prstDash val="solid"/>
          </a:ln>
        </p:spPr>
      </p:sp>
      <p:sp>
        <p:nvSpPr>
          <p:cNvPr id="29" name="Text 27"/>
          <p:cNvSpPr txBox="1"/>
          <p:nvPr/>
        </p:nvSpPr>
        <p:spPr>
          <a:xfrm>
            <a:off x="8823960" y="5760720"/>
            <a:ext cx="2377440"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alerts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A0E"/>
        </a:solidFill>
      </p:bgPr>
    </p:bg>
    <p:spTree>
      <p:nvGrpSpPr>
        <p:cNvPr id="1" name=""/>
        <p:cNvGrpSpPr/>
        <p:nvPr/>
      </p:nvGrpSpPr>
      <p:grpSpPr>
        <a:xfrm>
          <a:off x="0" y="0"/>
          <a:ext cx="0" cy="0"/>
          <a:chOff x="0" y="0"/>
          <a:chExt cx="0" cy="0"/>
        </a:xfrm>
      </p:grpSpPr>
      <p:sp>
        <p:nvSpPr>
          <p:cNvPr id="2" name="Text 0"/>
          <p:cNvSpPr txBox="1"/>
          <p:nvPr/>
        </p:nvSpPr>
        <p:spPr>
          <a:xfrm>
            <a:off x="640080" y="2011680"/>
            <a:ext cx="5852160" cy="2011680"/>
          </a:xfrm>
          <a:prstGeom prst="rect">
            <a:avLst/>
          </a:prstGeom>
          <a:noFill/>
          <a:ln/>
        </p:spPr>
        <p:txBody>
          <a:bodyPr wrap="square" lIns="0" tIns="0" rIns="0" bIns="0" rtlCol="0" anchor="ctr"/>
          <a:lstStyle/>
          <a:p>
            <a:pPr indent="0" marL="0">
              <a:lnSpc>
                <a:spcPct val="95000"/>
              </a:lnSpc>
              <a:buNone/>
            </a:pPr>
            <a:r>
              <a:rPr lang="en-US" sz="5400" b="1" dirty="0">
                <a:solidFill>
                  <a:srgbClr val="FFFFFF"/>
                </a:solidFill>
                <a:latin typeface="Arial" pitchFamily="34" charset="0"/>
                <a:ea typeface="Arial" pitchFamily="34" charset="-122"/>
                <a:cs typeface="Arial" pitchFamily="34" charset="-120"/>
              </a:rPr>
              <a:t>The big</a:t>
            </a:r>
            <a:endParaRPr lang="en-US" sz="5400" dirty="0"/>
          </a:p>
          <a:p>
            <a:pPr indent="0" marL="0">
              <a:lnSpc>
                <a:spcPct val="95000"/>
              </a:lnSpc>
              <a:buNone/>
            </a:pPr>
            <a:r>
              <a:rPr lang="en-US" sz="5400" b="1" dirty="0">
                <a:solidFill>
                  <a:srgbClr val="FFFFFF"/>
                </a:solidFill>
                <a:latin typeface="Arial" pitchFamily="34" charset="0"/>
                <a:ea typeface="Arial" pitchFamily="34" charset="-122"/>
                <a:cs typeface="Arial" pitchFamily="34" charset="-120"/>
              </a:rPr>
              <a:t>picture</a:t>
            </a:r>
            <a:endParaRPr lang="en-US" sz="5400" dirty="0"/>
          </a:p>
        </p:txBody>
      </p:sp>
      <p:sp>
        <p:nvSpPr>
          <p:cNvPr id="3" name="Text 1"/>
          <p:cNvSpPr txBox="1"/>
          <p:nvPr/>
        </p:nvSpPr>
        <p:spPr>
          <a:xfrm>
            <a:off x="640080" y="4206240"/>
            <a:ext cx="5394960" cy="457200"/>
          </a:xfrm>
          <a:prstGeom prst="rect">
            <a:avLst/>
          </a:prstGeom>
          <a:noFill/>
          <a:ln/>
        </p:spPr>
        <p:txBody>
          <a:bodyPr wrap="square" lIns="0" tIns="0" rIns="0" bIns="0" rtlCol="0" anchor="ctr"/>
          <a:lstStyle/>
          <a:p>
            <a:pPr indent="0" marL="0">
              <a:buNone/>
            </a:pPr>
            <a:r>
              <a:rPr lang="en-US" sz="1600" dirty="0">
                <a:solidFill>
                  <a:srgbClr val="BCC9D5"/>
                </a:solidFill>
                <a:latin typeface="Calibri" pitchFamily="34" charset="0"/>
                <a:ea typeface="Calibri" pitchFamily="34" charset="-122"/>
                <a:cs typeface="Calibri" pitchFamily="34" charset="-120"/>
              </a:rPr>
              <a:t>What actually runs, and in what order.</a:t>
            </a:r>
            <a:endParaRPr lang="en-US" sz="1600" dirty="0"/>
          </a:p>
        </p:txBody>
      </p:sp>
      <p:sp>
        <p:nvSpPr>
          <p:cNvPr id="4" name="Text 2"/>
          <p:cNvSpPr txBox="1"/>
          <p:nvPr/>
        </p:nvSpPr>
        <p:spPr>
          <a:xfrm>
            <a:off x="640080" y="1463040"/>
            <a:ext cx="5394960" cy="365760"/>
          </a:xfrm>
          <a:prstGeom prst="rect">
            <a:avLst/>
          </a:prstGeom>
          <a:noFill/>
          <a:ln/>
        </p:spPr>
        <p:txBody>
          <a:bodyPr wrap="square" lIns="0" tIns="0" rIns="0" bIns="0" rtlCol="0" anchor="ctr"/>
          <a:lstStyle/>
          <a:p>
            <a:pPr indent="0" marL="0">
              <a:buNone/>
            </a:pPr>
            <a:r>
              <a:rPr lang="en-US" sz="1200" b="1" spc="250" kern="0" dirty="0">
                <a:solidFill>
                  <a:srgbClr val="F0B23F"/>
                </a:solidFill>
                <a:latin typeface="Arial" pitchFamily="34" charset="0"/>
                <a:ea typeface="Arial" pitchFamily="34" charset="-122"/>
                <a:cs typeface="Arial" pitchFamily="34" charset="-120"/>
              </a:rPr>
              <a:t>Part 2</a:t>
            </a:r>
            <a:endParaRPr lang="en-US" sz="1200" dirty="0"/>
          </a:p>
        </p:txBody>
      </p:sp>
      <p:sp>
        <p:nvSpPr>
          <p:cNvPr id="5" name="Text 3"/>
          <p:cNvSpPr txBox="1"/>
          <p:nvPr/>
        </p:nvSpPr>
        <p:spPr>
          <a:xfrm>
            <a:off x="6949440" y="1371600"/>
            <a:ext cx="1463040" cy="731520"/>
          </a:xfrm>
          <a:prstGeom prst="rect">
            <a:avLst/>
          </a:prstGeom>
          <a:noFill/>
          <a:ln/>
        </p:spPr>
        <p:txBody>
          <a:bodyPr wrap="square" lIns="0" tIns="0" rIns="0" bIns="0" rtlCol="0" anchor="ctr"/>
          <a:lstStyle/>
          <a:p>
            <a:pPr algn="r" indent="0" marL="0">
              <a:buNone/>
            </a:pPr>
            <a:r>
              <a:rPr lang="en-US" sz="4400" b="1" dirty="0">
                <a:solidFill>
                  <a:srgbClr val="F0B23F"/>
                </a:solidFill>
                <a:latin typeface="Arial" pitchFamily="34" charset="0"/>
                <a:ea typeface="Arial" pitchFamily="34" charset="-122"/>
                <a:cs typeface="Arial" pitchFamily="34" charset="-120"/>
              </a:rPr>
              <a:t>15</a:t>
            </a:r>
            <a:endParaRPr lang="en-US" sz="4400" dirty="0"/>
          </a:p>
        </p:txBody>
      </p:sp>
      <p:sp>
        <p:nvSpPr>
          <p:cNvPr id="6" name="Text 4"/>
          <p:cNvSpPr txBox="1"/>
          <p:nvPr/>
        </p:nvSpPr>
        <p:spPr>
          <a:xfrm>
            <a:off x="8595360" y="1591056"/>
            <a:ext cx="3108960" cy="457200"/>
          </a:xfrm>
          <a:prstGeom prst="rect">
            <a:avLst/>
          </a:prstGeom>
          <a:noFill/>
          <a:ln/>
        </p:spPr>
        <p:txBody>
          <a:bodyPr wrap="square" lIns="0" tIns="0" rIns="0" bIns="0" rtlCol="0" anchor="ctr"/>
          <a:lstStyle/>
          <a:p>
            <a:pPr indent="0" marL="0">
              <a:buNone/>
            </a:pPr>
            <a:r>
              <a:rPr lang="en-US" sz="1500" dirty="0">
                <a:solidFill>
                  <a:srgbClr val="BCC9D5"/>
                </a:solidFill>
                <a:latin typeface="Calibri" pitchFamily="34" charset="0"/>
                <a:ea typeface="Calibri" pitchFamily="34" charset="-122"/>
                <a:cs typeface="Calibri" pitchFamily="34" charset="-120"/>
              </a:rPr>
              <a:t>API doors</a:t>
            </a:r>
            <a:endParaRPr lang="en-US" sz="1500" dirty="0"/>
          </a:p>
        </p:txBody>
      </p:sp>
      <p:sp>
        <p:nvSpPr>
          <p:cNvPr id="7" name="Text 5"/>
          <p:cNvSpPr txBox="1"/>
          <p:nvPr/>
        </p:nvSpPr>
        <p:spPr>
          <a:xfrm>
            <a:off x="6949440" y="2468880"/>
            <a:ext cx="1463040" cy="731520"/>
          </a:xfrm>
          <a:prstGeom prst="rect">
            <a:avLst/>
          </a:prstGeom>
          <a:noFill/>
          <a:ln/>
        </p:spPr>
        <p:txBody>
          <a:bodyPr wrap="square" lIns="0" tIns="0" rIns="0" bIns="0" rtlCol="0" anchor="ctr"/>
          <a:lstStyle/>
          <a:p>
            <a:pPr algn="r" indent="0" marL="0">
              <a:buNone/>
            </a:pPr>
            <a:r>
              <a:rPr lang="en-US" sz="4400" b="1" dirty="0">
                <a:solidFill>
                  <a:srgbClr val="F0B23F"/>
                </a:solidFill>
                <a:latin typeface="Arial" pitchFamily="34" charset="0"/>
                <a:ea typeface="Arial" pitchFamily="34" charset="-122"/>
                <a:cs typeface="Arial" pitchFamily="34" charset="-120"/>
              </a:rPr>
              <a:t>8</a:t>
            </a:r>
            <a:endParaRPr lang="en-US" sz="4400" dirty="0"/>
          </a:p>
        </p:txBody>
      </p:sp>
      <p:sp>
        <p:nvSpPr>
          <p:cNvPr id="8" name="Text 6"/>
          <p:cNvSpPr txBox="1"/>
          <p:nvPr/>
        </p:nvSpPr>
        <p:spPr>
          <a:xfrm>
            <a:off x="8595360" y="2688336"/>
            <a:ext cx="3108960" cy="457200"/>
          </a:xfrm>
          <a:prstGeom prst="rect">
            <a:avLst/>
          </a:prstGeom>
          <a:noFill/>
          <a:ln/>
        </p:spPr>
        <p:txBody>
          <a:bodyPr wrap="square" lIns="0" tIns="0" rIns="0" bIns="0" rtlCol="0" anchor="ctr"/>
          <a:lstStyle/>
          <a:p>
            <a:pPr indent="0" marL="0">
              <a:buNone/>
            </a:pPr>
            <a:r>
              <a:rPr lang="en-US" sz="1500" dirty="0">
                <a:solidFill>
                  <a:srgbClr val="BCC9D5"/>
                </a:solidFill>
                <a:latin typeface="Calibri" pitchFamily="34" charset="0"/>
                <a:ea typeface="Calibri" pitchFamily="34" charset="-122"/>
                <a:cs typeface="Calibri" pitchFamily="34" charset="-120"/>
              </a:rPr>
              <a:t>database tables</a:t>
            </a:r>
            <a:endParaRPr lang="en-US" sz="1500" dirty="0"/>
          </a:p>
        </p:txBody>
      </p:sp>
      <p:sp>
        <p:nvSpPr>
          <p:cNvPr id="9" name="Text 7"/>
          <p:cNvSpPr txBox="1"/>
          <p:nvPr/>
        </p:nvSpPr>
        <p:spPr>
          <a:xfrm>
            <a:off x="6949440" y="3566160"/>
            <a:ext cx="1463040" cy="731520"/>
          </a:xfrm>
          <a:prstGeom prst="rect">
            <a:avLst/>
          </a:prstGeom>
          <a:noFill/>
          <a:ln/>
        </p:spPr>
        <p:txBody>
          <a:bodyPr wrap="square" lIns="0" tIns="0" rIns="0" bIns="0" rtlCol="0" anchor="ctr"/>
          <a:lstStyle/>
          <a:p>
            <a:pPr algn="r" indent="0" marL="0">
              <a:buNone/>
            </a:pPr>
            <a:r>
              <a:rPr lang="en-US" sz="4400" b="1" dirty="0">
                <a:solidFill>
                  <a:srgbClr val="F0B23F"/>
                </a:solidFill>
                <a:latin typeface="Arial" pitchFamily="34" charset="0"/>
                <a:ea typeface="Arial" pitchFamily="34" charset="-122"/>
                <a:cs typeface="Arial" pitchFamily="34" charset="-120"/>
              </a:rPr>
              <a:t>29</a:t>
            </a:r>
            <a:endParaRPr lang="en-US" sz="4400" dirty="0"/>
          </a:p>
        </p:txBody>
      </p:sp>
      <p:sp>
        <p:nvSpPr>
          <p:cNvPr id="10" name="Text 8"/>
          <p:cNvSpPr txBox="1"/>
          <p:nvPr/>
        </p:nvSpPr>
        <p:spPr>
          <a:xfrm>
            <a:off x="8595360" y="3785616"/>
            <a:ext cx="3108960" cy="457200"/>
          </a:xfrm>
          <a:prstGeom prst="rect">
            <a:avLst/>
          </a:prstGeom>
          <a:noFill/>
          <a:ln/>
        </p:spPr>
        <p:txBody>
          <a:bodyPr wrap="square" lIns="0" tIns="0" rIns="0" bIns="0" rtlCol="0" anchor="ctr"/>
          <a:lstStyle/>
          <a:p>
            <a:pPr indent="0" marL="0">
              <a:buNone/>
            </a:pPr>
            <a:r>
              <a:rPr lang="en-US" sz="1500" dirty="0">
                <a:solidFill>
                  <a:srgbClr val="BCC9D5"/>
                </a:solidFill>
                <a:latin typeface="Calibri" pitchFamily="34" charset="0"/>
                <a:ea typeface="Calibri" pitchFamily="34" charset="-122"/>
                <a:cs typeface="Calibri" pitchFamily="34" charset="-120"/>
              </a:rPr>
              <a:t>Python files</a:t>
            </a:r>
            <a:endParaRPr lang="en-US" sz="1500" dirty="0"/>
          </a:p>
        </p:txBody>
      </p:sp>
      <p:sp>
        <p:nvSpPr>
          <p:cNvPr id="11" name="Text 9"/>
          <p:cNvSpPr txBox="1"/>
          <p:nvPr/>
        </p:nvSpPr>
        <p:spPr>
          <a:xfrm>
            <a:off x="6949440" y="4663440"/>
            <a:ext cx="1463040" cy="731520"/>
          </a:xfrm>
          <a:prstGeom prst="rect">
            <a:avLst/>
          </a:prstGeom>
          <a:noFill/>
          <a:ln/>
        </p:spPr>
        <p:txBody>
          <a:bodyPr wrap="square" lIns="0" tIns="0" rIns="0" bIns="0" rtlCol="0" anchor="ctr"/>
          <a:lstStyle/>
          <a:p>
            <a:pPr algn="r" indent="0" marL="0">
              <a:buNone/>
            </a:pPr>
            <a:r>
              <a:rPr lang="en-US" sz="4400" b="1" dirty="0">
                <a:solidFill>
                  <a:srgbClr val="F0B23F"/>
                </a:solidFill>
                <a:latin typeface="Arial" pitchFamily="34" charset="0"/>
                <a:ea typeface="Arial" pitchFamily="34" charset="-122"/>
                <a:cs typeface="Arial" pitchFamily="34" charset="-120"/>
              </a:rPr>
              <a:t>3</a:t>
            </a:r>
            <a:endParaRPr lang="en-US" sz="4400" dirty="0"/>
          </a:p>
        </p:txBody>
      </p:sp>
      <p:sp>
        <p:nvSpPr>
          <p:cNvPr id="12" name="Text 10"/>
          <p:cNvSpPr txBox="1"/>
          <p:nvPr/>
        </p:nvSpPr>
        <p:spPr>
          <a:xfrm>
            <a:off x="8595360" y="4882896"/>
            <a:ext cx="3108960" cy="457200"/>
          </a:xfrm>
          <a:prstGeom prst="rect">
            <a:avLst/>
          </a:prstGeom>
          <a:noFill/>
          <a:ln/>
        </p:spPr>
        <p:txBody>
          <a:bodyPr wrap="square" lIns="0" tIns="0" rIns="0" bIns="0" rtlCol="0" anchor="ctr"/>
          <a:lstStyle/>
          <a:p>
            <a:pPr indent="0" marL="0">
              <a:buNone/>
            </a:pPr>
            <a:r>
              <a:rPr lang="en-US" sz="1500" dirty="0">
                <a:solidFill>
                  <a:srgbClr val="BCC9D5"/>
                </a:solidFill>
                <a:latin typeface="Calibri" pitchFamily="34" charset="0"/>
                <a:ea typeface="Calibri" pitchFamily="34" charset="-122"/>
                <a:cs typeface="Calibri" pitchFamily="34" charset="-120"/>
              </a:rPr>
              <a:t>dashboard screens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2 — THE FLOW</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One picture of the whole system</a:t>
            </a:r>
            <a:endParaRPr lang="en-US" sz="3200" dirty="0"/>
          </a:p>
        </p:txBody>
      </p:sp>
      <p:sp>
        <p:nvSpPr>
          <p:cNvPr id="4" name="Shape 2"/>
          <p:cNvSpPr/>
          <p:nvPr/>
        </p:nvSpPr>
        <p:spPr>
          <a:xfrm>
            <a:off x="640080" y="1783080"/>
            <a:ext cx="1681429" cy="1234440"/>
          </a:xfrm>
          <a:prstGeom prst="roundRect">
            <a:avLst>
              <a:gd name="adj" fmla="val 4444"/>
            </a:avLst>
          </a:prstGeom>
          <a:solidFill>
            <a:srgbClr val="18242F"/>
          </a:solidFill>
          <a:ln w="12700">
            <a:solidFill>
              <a:srgbClr val="2E3F4E"/>
            </a:solidFill>
            <a:prstDash val="solid"/>
          </a:ln>
        </p:spPr>
      </p:sp>
      <p:sp>
        <p:nvSpPr>
          <p:cNvPr id="5" name="Text 3"/>
          <p:cNvSpPr txBox="1"/>
          <p:nvPr/>
        </p:nvSpPr>
        <p:spPr>
          <a:xfrm>
            <a:off x="768096" y="1929384"/>
            <a:ext cx="1425397" cy="502920"/>
          </a:xfrm>
          <a:prstGeom prst="rect">
            <a:avLst/>
          </a:prstGeom>
          <a:noFill/>
          <a:ln/>
        </p:spPr>
        <p:txBody>
          <a:bodyPr wrap="square" lIns="0" tIns="0" rIns="0" bIns="0" rtlCol="0" anchor="ctr"/>
          <a:lstStyle/>
          <a:p>
            <a:pPr indent="0" marL="0">
              <a:buNone/>
            </a:pPr>
            <a:r>
              <a:rPr lang="en-US" sz="1250" b="1" dirty="0">
                <a:solidFill>
                  <a:srgbClr val="58BFD6"/>
                </a:solidFill>
                <a:latin typeface="Arial" pitchFamily="34" charset="0"/>
                <a:ea typeface="Arial" pitchFamily="34" charset="-122"/>
                <a:cs typeface="Arial" pitchFamily="34" charset="-120"/>
              </a:rPr>
              <a:t>Video</a:t>
            </a:r>
            <a:endParaRPr lang="en-US" sz="1250" dirty="0"/>
          </a:p>
        </p:txBody>
      </p:sp>
      <p:sp>
        <p:nvSpPr>
          <p:cNvPr id="6" name="Text 4"/>
          <p:cNvSpPr txBox="1"/>
          <p:nvPr/>
        </p:nvSpPr>
        <p:spPr>
          <a:xfrm>
            <a:off x="768096" y="2423160"/>
            <a:ext cx="1425397" cy="548640"/>
          </a:xfrm>
          <a:prstGeom prst="rect">
            <a:avLst/>
          </a:prstGeom>
          <a:noFill/>
          <a:ln/>
        </p:spPr>
        <p:txBody>
          <a:bodyPr wrap="square" lIns="0" tIns="0" rIns="0" bIns="0" rtlCol="0" anchor="ctr"/>
          <a:lstStyle/>
          <a:p>
            <a:pPr indent="0" marL="0">
              <a:lnSpc>
                <a:spcPct val="105000"/>
              </a:lnSpc>
              <a:buNone/>
            </a:pPr>
            <a:r>
              <a:rPr lang="en-US" sz="1100" dirty="0">
                <a:solidFill>
                  <a:srgbClr val="8496A6"/>
                </a:solidFill>
                <a:latin typeface="Calibri" pitchFamily="34" charset="0"/>
                <a:ea typeface="Calibri" pitchFamily="34" charset="-122"/>
                <a:cs typeface="Calibri" pitchFamily="34" charset="-120"/>
              </a:rPr>
              <a:t>a camera or an mp4 file</a:t>
            </a:r>
            <a:endParaRPr lang="en-US" sz="1100" dirty="0"/>
          </a:p>
        </p:txBody>
      </p:sp>
      <p:sp>
        <p:nvSpPr>
          <p:cNvPr id="7" name="Shape 5"/>
          <p:cNvSpPr/>
          <p:nvPr/>
        </p:nvSpPr>
        <p:spPr>
          <a:xfrm>
            <a:off x="2486101" y="1783080"/>
            <a:ext cx="1681429" cy="1234440"/>
          </a:xfrm>
          <a:prstGeom prst="roundRect">
            <a:avLst>
              <a:gd name="adj" fmla="val 4444"/>
            </a:avLst>
          </a:prstGeom>
          <a:solidFill>
            <a:srgbClr val="18242F"/>
          </a:solidFill>
          <a:ln w="12700">
            <a:solidFill>
              <a:srgbClr val="2E3F4E"/>
            </a:solidFill>
            <a:prstDash val="solid"/>
          </a:ln>
        </p:spPr>
      </p:sp>
      <p:sp>
        <p:nvSpPr>
          <p:cNvPr id="8" name="Text 6"/>
          <p:cNvSpPr txBox="1"/>
          <p:nvPr/>
        </p:nvSpPr>
        <p:spPr>
          <a:xfrm>
            <a:off x="2614117" y="1929384"/>
            <a:ext cx="1425397" cy="502920"/>
          </a:xfrm>
          <a:prstGeom prst="rect">
            <a:avLst/>
          </a:prstGeom>
          <a:noFill/>
          <a:ln/>
        </p:spPr>
        <p:txBody>
          <a:bodyPr wrap="square" lIns="0" tIns="0" rIns="0" bIns="0" rtlCol="0" anchor="ctr"/>
          <a:lstStyle/>
          <a:p>
            <a:pPr indent="0" marL="0">
              <a:buNone/>
            </a:pPr>
            <a:r>
              <a:rPr lang="en-US" sz="1250" b="1" dirty="0">
                <a:solidFill>
                  <a:srgbClr val="58BFD6"/>
                </a:solidFill>
                <a:latin typeface="Arial" pitchFamily="34" charset="0"/>
                <a:ea typeface="Arial" pitchFamily="34" charset="-122"/>
                <a:cs typeface="Arial" pitchFamily="34" charset="-120"/>
              </a:rPr>
              <a:t>Find vehicles</a:t>
            </a:r>
            <a:endParaRPr lang="en-US" sz="1250" dirty="0"/>
          </a:p>
        </p:txBody>
      </p:sp>
      <p:sp>
        <p:nvSpPr>
          <p:cNvPr id="9" name="Text 7"/>
          <p:cNvSpPr txBox="1"/>
          <p:nvPr/>
        </p:nvSpPr>
        <p:spPr>
          <a:xfrm>
            <a:off x="2614117" y="2423160"/>
            <a:ext cx="1425397" cy="548640"/>
          </a:xfrm>
          <a:prstGeom prst="rect">
            <a:avLst/>
          </a:prstGeom>
          <a:noFill/>
          <a:ln/>
        </p:spPr>
        <p:txBody>
          <a:bodyPr wrap="square" lIns="0" tIns="0" rIns="0" bIns="0" rtlCol="0" anchor="ctr"/>
          <a:lstStyle/>
          <a:p>
            <a:pPr indent="0" marL="0">
              <a:lnSpc>
                <a:spcPct val="105000"/>
              </a:lnSpc>
              <a:buNone/>
            </a:pPr>
            <a:r>
              <a:rPr lang="en-US" sz="1100" dirty="0">
                <a:solidFill>
                  <a:srgbClr val="8496A6"/>
                </a:solidFill>
                <a:latin typeface="Calibri" pitchFamily="34" charset="0"/>
                <a:ea typeface="Calibri" pitchFamily="34" charset="-122"/>
                <a:cs typeface="Calibri" pitchFamily="34" charset="-120"/>
              </a:rPr>
              <a:t>YOLO draws a box round each one</a:t>
            </a:r>
            <a:endParaRPr lang="en-US" sz="1100" dirty="0"/>
          </a:p>
        </p:txBody>
      </p:sp>
      <p:sp>
        <p:nvSpPr>
          <p:cNvPr id="10" name="Shape 8"/>
          <p:cNvSpPr/>
          <p:nvPr/>
        </p:nvSpPr>
        <p:spPr>
          <a:xfrm>
            <a:off x="4332122" y="1783080"/>
            <a:ext cx="1681429" cy="1234440"/>
          </a:xfrm>
          <a:prstGeom prst="roundRect">
            <a:avLst>
              <a:gd name="adj" fmla="val 4444"/>
            </a:avLst>
          </a:prstGeom>
          <a:solidFill>
            <a:srgbClr val="18242F"/>
          </a:solidFill>
          <a:ln w="12700">
            <a:solidFill>
              <a:srgbClr val="2E3F4E"/>
            </a:solidFill>
            <a:prstDash val="solid"/>
          </a:ln>
        </p:spPr>
      </p:sp>
      <p:sp>
        <p:nvSpPr>
          <p:cNvPr id="11" name="Text 9"/>
          <p:cNvSpPr txBox="1"/>
          <p:nvPr/>
        </p:nvSpPr>
        <p:spPr>
          <a:xfrm>
            <a:off x="4460138" y="1929384"/>
            <a:ext cx="1425397" cy="502920"/>
          </a:xfrm>
          <a:prstGeom prst="rect">
            <a:avLst/>
          </a:prstGeom>
          <a:noFill/>
          <a:ln/>
        </p:spPr>
        <p:txBody>
          <a:bodyPr wrap="square" lIns="0" tIns="0" rIns="0" bIns="0" rtlCol="0" anchor="ctr"/>
          <a:lstStyle/>
          <a:p>
            <a:pPr indent="0" marL="0">
              <a:buNone/>
            </a:pPr>
            <a:r>
              <a:rPr lang="en-US" sz="1250" b="1" dirty="0">
                <a:solidFill>
                  <a:srgbClr val="58BFD6"/>
                </a:solidFill>
                <a:latin typeface="Arial" pitchFamily="34" charset="0"/>
                <a:ea typeface="Arial" pitchFamily="34" charset="-122"/>
                <a:cs typeface="Arial" pitchFamily="34" charset="-120"/>
              </a:rPr>
              <a:t>Follow them</a:t>
            </a:r>
            <a:endParaRPr lang="en-US" sz="1250" dirty="0"/>
          </a:p>
        </p:txBody>
      </p:sp>
      <p:sp>
        <p:nvSpPr>
          <p:cNvPr id="12" name="Text 10"/>
          <p:cNvSpPr txBox="1"/>
          <p:nvPr/>
        </p:nvSpPr>
        <p:spPr>
          <a:xfrm>
            <a:off x="4460138" y="2423160"/>
            <a:ext cx="1425397" cy="548640"/>
          </a:xfrm>
          <a:prstGeom prst="rect">
            <a:avLst/>
          </a:prstGeom>
          <a:noFill/>
          <a:ln/>
        </p:spPr>
        <p:txBody>
          <a:bodyPr wrap="square" lIns="0" tIns="0" rIns="0" bIns="0" rtlCol="0" anchor="ctr"/>
          <a:lstStyle/>
          <a:p>
            <a:pPr indent="0" marL="0">
              <a:lnSpc>
                <a:spcPct val="105000"/>
              </a:lnSpc>
              <a:buNone/>
            </a:pPr>
            <a:r>
              <a:rPr lang="en-US" sz="1100" dirty="0">
                <a:solidFill>
                  <a:srgbClr val="8496A6"/>
                </a:solidFill>
                <a:latin typeface="Calibri" pitchFamily="34" charset="0"/>
                <a:ea typeface="Calibri" pitchFamily="34" charset="-122"/>
                <a:cs typeface="Calibri" pitchFamily="34" charset="-120"/>
              </a:rPr>
              <a:t>ByteTrack keeps an ID on each</a:t>
            </a:r>
            <a:endParaRPr lang="en-US" sz="1100" dirty="0"/>
          </a:p>
        </p:txBody>
      </p:sp>
      <p:sp>
        <p:nvSpPr>
          <p:cNvPr id="13" name="Shape 11"/>
          <p:cNvSpPr/>
          <p:nvPr/>
        </p:nvSpPr>
        <p:spPr>
          <a:xfrm>
            <a:off x="6178144" y="1783080"/>
            <a:ext cx="1681429" cy="1234440"/>
          </a:xfrm>
          <a:prstGeom prst="roundRect">
            <a:avLst>
              <a:gd name="adj" fmla="val 4444"/>
            </a:avLst>
          </a:prstGeom>
          <a:solidFill>
            <a:srgbClr val="18242F"/>
          </a:solidFill>
          <a:ln w="12700">
            <a:solidFill>
              <a:srgbClr val="2E3F4E"/>
            </a:solidFill>
            <a:prstDash val="solid"/>
          </a:ln>
        </p:spPr>
      </p:sp>
      <p:sp>
        <p:nvSpPr>
          <p:cNvPr id="14" name="Text 12"/>
          <p:cNvSpPr txBox="1"/>
          <p:nvPr/>
        </p:nvSpPr>
        <p:spPr>
          <a:xfrm>
            <a:off x="6306160" y="1929384"/>
            <a:ext cx="1425397" cy="502920"/>
          </a:xfrm>
          <a:prstGeom prst="rect">
            <a:avLst/>
          </a:prstGeom>
          <a:noFill/>
          <a:ln/>
        </p:spPr>
        <p:txBody>
          <a:bodyPr wrap="square" lIns="0" tIns="0" rIns="0" bIns="0" rtlCol="0" anchor="ctr"/>
          <a:lstStyle/>
          <a:p>
            <a:pPr indent="0" marL="0">
              <a:buNone/>
            </a:pPr>
            <a:r>
              <a:rPr lang="en-US" sz="1250" b="1" dirty="0">
                <a:solidFill>
                  <a:srgbClr val="58BFD6"/>
                </a:solidFill>
                <a:latin typeface="Arial" pitchFamily="34" charset="0"/>
                <a:ea typeface="Arial" pitchFamily="34" charset="-122"/>
                <a:cs typeface="Arial" pitchFamily="34" charset="-120"/>
              </a:rPr>
              <a:t>Read plates</a:t>
            </a:r>
            <a:endParaRPr lang="en-US" sz="1250" dirty="0"/>
          </a:p>
        </p:txBody>
      </p:sp>
      <p:sp>
        <p:nvSpPr>
          <p:cNvPr id="15" name="Text 13"/>
          <p:cNvSpPr txBox="1"/>
          <p:nvPr/>
        </p:nvSpPr>
        <p:spPr>
          <a:xfrm>
            <a:off x="6306160" y="2423160"/>
            <a:ext cx="1425397" cy="548640"/>
          </a:xfrm>
          <a:prstGeom prst="rect">
            <a:avLst/>
          </a:prstGeom>
          <a:noFill/>
          <a:ln/>
        </p:spPr>
        <p:txBody>
          <a:bodyPr wrap="square" lIns="0" tIns="0" rIns="0" bIns="0" rtlCol="0" anchor="ctr"/>
          <a:lstStyle/>
          <a:p>
            <a:pPr indent="0" marL="0">
              <a:lnSpc>
                <a:spcPct val="105000"/>
              </a:lnSpc>
              <a:buNone/>
            </a:pPr>
            <a:r>
              <a:rPr lang="en-US" sz="1100" dirty="0">
                <a:solidFill>
                  <a:srgbClr val="8496A6"/>
                </a:solidFill>
                <a:latin typeface="Calibri" pitchFamily="34" charset="0"/>
                <a:ea typeface="Calibri" pitchFamily="34" charset="-122"/>
                <a:cs typeface="Calibri" pitchFamily="34" charset="-120"/>
              </a:rPr>
              <a:t>many times, not once</a:t>
            </a:r>
            <a:endParaRPr lang="en-US" sz="1100" dirty="0"/>
          </a:p>
        </p:txBody>
      </p:sp>
      <p:sp>
        <p:nvSpPr>
          <p:cNvPr id="16" name="Shape 14"/>
          <p:cNvSpPr/>
          <p:nvPr/>
        </p:nvSpPr>
        <p:spPr>
          <a:xfrm>
            <a:off x="8024165" y="1783080"/>
            <a:ext cx="1681429" cy="1234440"/>
          </a:xfrm>
          <a:prstGeom prst="roundRect">
            <a:avLst>
              <a:gd name="adj" fmla="val 4444"/>
            </a:avLst>
          </a:prstGeom>
          <a:solidFill>
            <a:srgbClr val="18242F"/>
          </a:solidFill>
          <a:ln w="12700">
            <a:solidFill>
              <a:srgbClr val="2E3F4E"/>
            </a:solidFill>
            <a:prstDash val="solid"/>
          </a:ln>
        </p:spPr>
      </p:sp>
      <p:sp>
        <p:nvSpPr>
          <p:cNvPr id="17" name="Text 15"/>
          <p:cNvSpPr txBox="1"/>
          <p:nvPr/>
        </p:nvSpPr>
        <p:spPr>
          <a:xfrm>
            <a:off x="8152181" y="1929384"/>
            <a:ext cx="1425397" cy="502920"/>
          </a:xfrm>
          <a:prstGeom prst="rect">
            <a:avLst/>
          </a:prstGeom>
          <a:noFill/>
          <a:ln/>
        </p:spPr>
        <p:txBody>
          <a:bodyPr wrap="square" lIns="0" tIns="0" rIns="0" bIns="0" rtlCol="0" anchor="ctr"/>
          <a:lstStyle/>
          <a:p>
            <a:pPr indent="0" marL="0">
              <a:buNone/>
            </a:pPr>
            <a:r>
              <a:rPr lang="en-US" sz="1250" b="1" dirty="0">
                <a:solidFill>
                  <a:srgbClr val="F0B23F"/>
                </a:solidFill>
                <a:latin typeface="Arial" pitchFamily="34" charset="0"/>
                <a:ea typeface="Arial" pitchFamily="34" charset="-122"/>
                <a:cs typeface="Arial" pitchFamily="34" charset="-120"/>
              </a:rPr>
              <a:t>Vote</a:t>
            </a:r>
            <a:endParaRPr lang="en-US" sz="1250" dirty="0"/>
          </a:p>
        </p:txBody>
      </p:sp>
      <p:sp>
        <p:nvSpPr>
          <p:cNvPr id="18" name="Text 16"/>
          <p:cNvSpPr txBox="1"/>
          <p:nvPr/>
        </p:nvSpPr>
        <p:spPr>
          <a:xfrm>
            <a:off x="8152181" y="2423160"/>
            <a:ext cx="1425397" cy="548640"/>
          </a:xfrm>
          <a:prstGeom prst="rect">
            <a:avLst/>
          </a:prstGeom>
          <a:noFill/>
          <a:ln/>
        </p:spPr>
        <p:txBody>
          <a:bodyPr wrap="square" lIns="0" tIns="0" rIns="0" bIns="0" rtlCol="0" anchor="ctr"/>
          <a:lstStyle/>
          <a:p>
            <a:pPr indent="0" marL="0">
              <a:lnSpc>
                <a:spcPct val="105000"/>
              </a:lnSpc>
              <a:buNone/>
            </a:pPr>
            <a:r>
              <a:rPr lang="en-US" sz="1100" dirty="0">
                <a:solidFill>
                  <a:srgbClr val="8496A6"/>
                </a:solidFill>
                <a:latin typeface="Calibri" pitchFamily="34" charset="0"/>
                <a:ea typeface="Calibri" pitchFamily="34" charset="-122"/>
                <a:cs typeface="Calibri" pitchFamily="34" charset="-120"/>
              </a:rPr>
              <a:t>all the readings agree on one plate</a:t>
            </a:r>
            <a:endParaRPr lang="en-US" sz="1100" dirty="0"/>
          </a:p>
        </p:txBody>
      </p:sp>
      <p:sp>
        <p:nvSpPr>
          <p:cNvPr id="19" name="Shape 17"/>
          <p:cNvSpPr/>
          <p:nvPr/>
        </p:nvSpPr>
        <p:spPr>
          <a:xfrm>
            <a:off x="9870186" y="1783080"/>
            <a:ext cx="1681429" cy="1234440"/>
          </a:xfrm>
          <a:prstGeom prst="roundRect">
            <a:avLst>
              <a:gd name="adj" fmla="val 4444"/>
            </a:avLst>
          </a:prstGeom>
          <a:solidFill>
            <a:srgbClr val="18242F"/>
          </a:solidFill>
          <a:ln w="12700">
            <a:solidFill>
              <a:srgbClr val="2E3F4E"/>
            </a:solidFill>
            <a:prstDash val="solid"/>
          </a:ln>
        </p:spPr>
      </p:sp>
      <p:sp>
        <p:nvSpPr>
          <p:cNvPr id="20" name="Text 18"/>
          <p:cNvSpPr txBox="1"/>
          <p:nvPr/>
        </p:nvSpPr>
        <p:spPr>
          <a:xfrm>
            <a:off x="9998202" y="1929384"/>
            <a:ext cx="1425397" cy="502920"/>
          </a:xfrm>
          <a:prstGeom prst="rect">
            <a:avLst/>
          </a:prstGeom>
          <a:noFill/>
          <a:ln/>
        </p:spPr>
        <p:txBody>
          <a:bodyPr wrap="square" lIns="0" tIns="0" rIns="0" bIns="0" rtlCol="0" anchor="ctr"/>
          <a:lstStyle/>
          <a:p>
            <a:pPr indent="0" marL="0">
              <a:buNone/>
            </a:pPr>
            <a:r>
              <a:rPr lang="en-US" sz="1250" b="1" dirty="0">
                <a:solidFill>
                  <a:srgbClr val="F0B23F"/>
                </a:solidFill>
                <a:latin typeface="Arial" pitchFamily="34" charset="0"/>
                <a:ea typeface="Arial" pitchFamily="34" charset="-122"/>
                <a:cs typeface="Arial" pitchFamily="34" charset="-120"/>
              </a:rPr>
              <a:t>Save</a:t>
            </a:r>
            <a:endParaRPr lang="en-US" sz="1250" dirty="0"/>
          </a:p>
        </p:txBody>
      </p:sp>
      <p:sp>
        <p:nvSpPr>
          <p:cNvPr id="21" name="Text 19"/>
          <p:cNvSpPr txBox="1"/>
          <p:nvPr/>
        </p:nvSpPr>
        <p:spPr>
          <a:xfrm>
            <a:off x="9998202" y="2423160"/>
            <a:ext cx="1425397" cy="548640"/>
          </a:xfrm>
          <a:prstGeom prst="rect">
            <a:avLst/>
          </a:prstGeom>
          <a:noFill/>
          <a:ln/>
        </p:spPr>
        <p:txBody>
          <a:bodyPr wrap="square" lIns="0" tIns="0" rIns="0" bIns="0" rtlCol="0" anchor="ctr"/>
          <a:lstStyle/>
          <a:p>
            <a:pPr indent="0" marL="0">
              <a:lnSpc>
                <a:spcPct val="105000"/>
              </a:lnSpc>
              <a:buNone/>
            </a:pPr>
            <a:r>
              <a:rPr lang="en-US" sz="1100" dirty="0">
                <a:solidFill>
                  <a:srgbClr val="8496A6"/>
                </a:solidFill>
                <a:latin typeface="Calibri" pitchFamily="34" charset="0"/>
                <a:ea typeface="Calibri" pitchFamily="34" charset="-122"/>
                <a:cs typeface="Calibri" pitchFamily="34" charset="-120"/>
              </a:rPr>
              <a:t>one row in the database</a:t>
            </a:r>
            <a:endParaRPr lang="en-US" sz="1100" dirty="0"/>
          </a:p>
        </p:txBody>
      </p:sp>
      <p:sp>
        <p:nvSpPr>
          <p:cNvPr id="22" name="Shape 20"/>
          <p:cNvSpPr/>
          <p:nvPr/>
        </p:nvSpPr>
        <p:spPr>
          <a:xfrm>
            <a:off x="640080" y="3584448"/>
            <a:ext cx="2050633" cy="1234440"/>
          </a:xfrm>
          <a:prstGeom prst="roundRect">
            <a:avLst>
              <a:gd name="adj" fmla="val 4444"/>
            </a:avLst>
          </a:prstGeom>
          <a:solidFill>
            <a:srgbClr val="18242F"/>
          </a:solidFill>
          <a:ln w="12700">
            <a:solidFill>
              <a:srgbClr val="2E3F4E"/>
            </a:solidFill>
            <a:prstDash val="solid"/>
          </a:ln>
        </p:spPr>
      </p:sp>
      <p:sp>
        <p:nvSpPr>
          <p:cNvPr id="23" name="Text 21"/>
          <p:cNvSpPr txBox="1"/>
          <p:nvPr/>
        </p:nvSpPr>
        <p:spPr>
          <a:xfrm>
            <a:off x="768096" y="3730752"/>
            <a:ext cx="1794601" cy="502920"/>
          </a:xfrm>
          <a:prstGeom prst="rect">
            <a:avLst/>
          </a:prstGeom>
          <a:noFill/>
          <a:ln/>
        </p:spPr>
        <p:txBody>
          <a:bodyPr wrap="square" lIns="0" tIns="0" rIns="0" bIns="0" rtlCol="0" anchor="ctr"/>
          <a:lstStyle/>
          <a:p>
            <a:pPr indent="0" marL="0">
              <a:buNone/>
            </a:pPr>
            <a:r>
              <a:rPr lang="en-US" sz="1250" b="1" dirty="0">
                <a:solidFill>
                  <a:srgbClr val="F0B23F"/>
                </a:solidFill>
                <a:latin typeface="Arial" pitchFamily="34" charset="0"/>
                <a:ea typeface="Arial" pitchFamily="34" charset="-122"/>
                <a:cs typeface="Arial" pitchFamily="34" charset="-120"/>
              </a:rPr>
              <a:t>Match across cameras</a:t>
            </a:r>
            <a:endParaRPr lang="en-US" sz="1250" dirty="0"/>
          </a:p>
        </p:txBody>
      </p:sp>
      <p:sp>
        <p:nvSpPr>
          <p:cNvPr id="24" name="Text 22"/>
          <p:cNvSpPr txBox="1"/>
          <p:nvPr/>
        </p:nvSpPr>
        <p:spPr>
          <a:xfrm>
            <a:off x="768096" y="4224528"/>
            <a:ext cx="1794601" cy="548640"/>
          </a:xfrm>
          <a:prstGeom prst="rect">
            <a:avLst/>
          </a:prstGeom>
          <a:noFill/>
          <a:ln/>
        </p:spPr>
        <p:txBody>
          <a:bodyPr wrap="square" lIns="0" tIns="0" rIns="0" bIns="0" rtlCol="0" anchor="ctr"/>
          <a:lstStyle/>
          <a:p>
            <a:pPr indent="0" marL="0">
              <a:lnSpc>
                <a:spcPct val="105000"/>
              </a:lnSpc>
              <a:buNone/>
            </a:pPr>
            <a:r>
              <a:rPr lang="en-US" sz="1100" dirty="0">
                <a:solidFill>
                  <a:srgbClr val="8496A6"/>
                </a:solidFill>
                <a:latin typeface="Calibri" pitchFamily="34" charset="0"/>
                <a:ea typeface="Calibri" pitchFamily="34" charset="-122"/>
                <a:cs typeface="Calibri" pitchFamily="34" charset="-120"/>
              </a:rPr>
              <a:t>plate + look + physics</a:t>
            </a:r>
            <a:endParaRPr lang="en-US" sz="1100" dirty="0"/>
          </a:p>
        </p:txBody>
      </p:sp>
      <p:sp>
        <p:nvSpPr>
          <p:cNvPr id="25" name="Shape 23"/>
          <p:cNvSpPr/>
          <p:nvPr/>
        </p:nvSpPr>
        <p:spPr>
          <a:xfrm>
            <a:off x="2855305" y="3584448"/>
            <a:ext cx="2050633" cy="1234440"/>
          </a:xfrm>
          <a:prstGeom prst="roundRect">
            <a:avLst>
              <a:gd name="adj" fmla="val 4444"/>
            </a:avLst>
          </a:prstGeom>
          <a:solidFill>
            <a:srgbClr val="18242F"/>
          </a:solidFill>
          <a:ln w="12700">
            <a:solidFill>
              <a:srgbClr val="2E3F4E"/>
            </a:solidFill>
            <a:prstDash val="solid"/>
          </a:ln>
        </p:spPr>
      </p:sp>
      <p:sp>
        <p:nvSpPr>
          <p:cNvPr id="26" name="Text 24"/>
          <p:cNvSpPr txBox="1"/>
          <p:nvPr/>
        </p:nvSpPr>
        <p:spPr>
          <a:xfrm>
            <a:off x="2983321" y="3730752"/>
            <a:ext cx="1794601" cy="502920"/>
          </a:xfrm>
          <a:prstGeom prst="rect">
            <a:avLst/>
          </a:prstGeom>
          <a:noFill/>
          <a:ln/>
        </p:spPr>
        <p:txBody>
          <a:bodyPr wrap="square" lIns="0" tIns="0" rIns="0" bIns="0" rtlCol="0" anchor="ctr"/>
          <a:lstStyle/>
          <a:p>
            <a:pPr indent="0" marL="0">
              <a:buNone/>
            </a:pPr>
            <a:r>
              <a:rPr lang="en-US" sz="1250" b="1" dirty="0">
                <a:solidFill>
                  <a:srgbClr val="F0B23F"/>
                </a:solidFill>
                <a:latin typeface="Arial" pitchFamily="34" charset="0"/>
                <a:ea typeface="Arial" pitchFamily="34" charset="-122"/>
                <a:cs typeface="Arial" pitchFamily="34" charset="-120"/>
              </a:rPr>
              <a:t>Build journeys</a:t>
            </a:r>
            <a:endParaRPr lang="en-US" sz="1250" dirty="0"/>
          </a:p>
        </p:txBody>
      </p:sp>
      <p:sp>
        <p:nvSpPr>
          <p:cNvPr id="27" name="Text 25"/>
          <p:cNvSpPr txBox="1"/>
          <p:nvPr/>
        </p:nvSpPr>
        <p:spPr>
          <a:xfrm>
            <a:off x="2983321" y="4224528"/>
            <a:ext cx="1794601" cy="548640"/>
          </a:xfrm>
          <a:prstGeom prst="rect">
            <a:avLst/>
          </a:prstGeom>
          <a:noFill/>
          <a:ln/>
        </p:spPr>
        <p:txBody>
          <a:bodyPr wrap="square" lIns="0" tIns="0" rIns="0" bIns="0" rtlCol="0" anchor="ctr"/>
          <a:lstStyle/>
          <a:p>
            <a:pPr indent="0" marL="0">
              <a:lnSpc>
                <a:spcPct val="105000"/>
              </a:lnSpc>
              <a:buNone/>
            </a:pPr>
            <a:r>
              <a:rPr lang="en-US" sz="1100" dirty="0">
                <a:solidFill>
                  <a:srgbClr val="8496A6"/>
                </a:solidFill>
                <a:latin typeface="Calibri" pitchFamily="34" charset="0"/>
                <a:ea typeface="Calibri" pitchFamily="34" charset="-122"/>
                <a:cs typeface="Calibri" pitchFamily="34" charset="-120"/>
              </a:rPr>
              <a:t>route, legs, speeds</a:t>
            </a:r>
            <a:endParaRPr lang="en-US" sz="1100" dirty="0"/>
          </a:p>
        </p:txBody>
      </p:sp>
      <p:sp>
        <p:nvSpPr>
          <p:cNvPr id="28" name="Shape 26"/>
          <p:cNvSpPr/>
          <p:nvPr/>
        </p:nvSpPr>
        <p:spPr>
          <a:xfrm>
            <a:off x="5070531" y="3584448"/>
            <a:ext cx="2050633" cy="1234440"/>
          </a:xfrm>
          <a:prstGeom prst="roundRect">
            <a:avLst>
              <a:gd name="adj" fmla="val 4444"/>
            </a:avLst>
          </a:prstGeom>
          <a:solidFill>
            <a:srgbClr val="18242F"/>
          </a:solidFill>
          <a:ln w="12700">
            <a:solidFill>
              <a:srgbClr val="2E3F4E"/>
            </a:solidFill>
            <a:prstDash val="solid"/>
          </a:ln>
        </p:spPr>
      </p:sp>
      <p:sp>
        <p:nvSpPr>
          <p:cNvPr id="29" name="Text 27"/>
          <p:cNvSpPr txBox="1"/>
          <p:nvPr/>
        </p:nvSpPr>
        <p:spPr>
          <a:xfrm>
            <a:off x="5198547" y="3730752"/>
            <a:ext cx="1794601" cy="502920"/>
          </a:xfrm>
          <a:prstGeom prst="rect">
            <a:avLst/>
          </a:prstGeom>
          <a:noFill/>
          <a:ln/>
        </p:spPr>
        <p:txBody>
          <a:bodyPr wrap="square" lIns="0" tIns="0" rIns="0" bIns="0" rtlCol="0" anchor="ctr"/>
          <a:lstStyle/>
          <a:p>
            <a:pPr indent="0" marL="0">
              <a:buNone/>
            </a:pPr>
            <a:r>
              <a:rPr lang="en-US" sz="1250" b="1" dirty="0">
                <a:solidFill>
                  <a:srgbClr val="46C888"/>
                </a:solidFill>
                <a:latin typeface="Arial" pitchFamily="34" charset="0"/>
                <a:ea typeface="Arial" pitchFamily="34" charset="-122"/>
                <a:cs typeface="Arial" pitchFamily="34" charset="-120"/>
              </a:rPr>
              <a:t>Work out traffic</a:t>
            </a:r>
            <a:endParaRPr lang="en-US" sz="1250" dirty="0"/>
          </a:p>
        </p:txBody>
      </p:sp>
      <p:sp>
        <p:nvSpPr>
          <p:cNvPr id="30" name="Text 28"/>
          <p:cNvSpPr txBox="1"/>
          <p:nvPr/>
        </p:nvSpPr>
        <p:spPr>
          <a:xfrm>
            <a:off x="5198547" y="4224528"/>
            <a:ext cx="1794601" cy="548640"/>
          </a:xfrm>
          <a:prstGeom prst="rect">
            <a:avLst/>
          </a:prstGeom>
          <a:noFill/>
          <a:ln/>
        </p:spPr>
        <p:txBody>
          <a:bodyPr wrap="square" lIns="0" tIns="0" rIns="0" bIns="0" rtlCol="0" anchor="ctr"/>
          <a:lstStyle/>
          <a:p>
            <a:pPr indent="0" marL="0">
              <a:lnSpc>
                <a:spcPct val="105000"/>
              </a:lnSpc>
              <a:buNone/>
            </a:pPr>
            <a:r>
              <a:rPr lang="en-US" sz="1100" dirty="0">
                <a:solidFill>
                  <a:srgbClr val="8496A6"/>
                </a:solidFill>
                <a:latin typeface="Calibri" pitchFamily="34" charset="0"/>
                <a:ea typeface="Calibri" pitchFamily="34" charset="-122"/>
                <a:cs typeface="Calibri" pitchFamily="34" charset="-120"/>
              </a:rPr>
              <a:t>congestion, origin to destination</a:t>
            </a:r>
            <a:endParaRPr lang="en-US" sz="1100" dirty="0"/>
          </a:p>
        </p:txBody>
      </p:sp>
      <p:sp>
        <p:nvSpPr>
          <p:cNvPr id="31" name="Shape 29"/>
          <p:cNvSpPr/>
          <p:nvPr/>
        </p:nvSpPr>
        <p:spPr>
          <a:xfrm>
            <a:off x="7285756" y="3584448"/>
            <a:ext cx="2050633" cy="1234440"/>
          </a:xfrm>
          <a:prstGeom prst="roundRect">
            <a:avLst>
              <a:gd name="adj" fmla="val 4444"/>
            </a:avLst>
          </a:prstGeom>
          <a:solidFill>
            <a:srgbClr val="18242F"/>
          </a:solidFill>
          <a:ln w="12700">
            <a:solidFill>
              <a:srgbClr val="2E3F4E"/>
            </a:solidFill>
            <a:prstDash val="solid"/>
          </a:ln>
        </p:spPr>
      </p:sp>
      <p:sp>
        <p:nvSpPr>
          <p:cNvPr id="32" name="Text 30"/>
          <p:cNvSpPr txBox="1"/>
          <p:nvPr/>
        </p:nvSpPr>
        <p:spPr>
          <a:xfrm>
            <a:off x="7413772" y="3730752"/>
            <a:ext cx="1794601" cy="502920"/>
          </a:xfrm>
          <a:prstGeom prst="rect">
            <a:avLst/>
          </a:prstGeom>
          <a:noFill/>
          <a:ln/>
        </p:spPr>
        <p:txBody>
          <a:bodyPr wrap="square" lIns="0" tIns="0" rIns="0" bIns="0" rtlCol="0" anchor="ctr"/>
          <a:lstStyle/>
          <a:p>
            <a:pPr indent="0" marL="0">
              <a:buNone/>
            </a:pPr>
            <a:r>
              <a:rPr lang="en-US" sz="1250" b="1" dirty="0">
                <a:solidFill>
                  <a:srgbClr val="46C888"/>
                </a:solidFill>
                <a:latin typeface="Arial" pitchFamily="34" charset="0"/>
                <a:ea typeface="Arial" pitchFamily="34" charset="-122"/>
                <a:cs typeface="Arial" pitchFamily="34" charset="-120"/>
              </a:rPr>
              <a:t>Serve it</a:t>
            </a:r>
            <a:endParaRPr lang="en-US" sz="1250" dirty="0"/>
          </a:p>
        </p:txBody>
      </p:sp>
      <p:sp>
        <p:nvSpPr>
          <p:cNvPr id="33" name="Text 31"/>
          <p:cNvSpPr txBox="1"/>
          <p:nvPr/>
        </p:nvSpPr>
        <p:spPr>
          <a:xfrm>
            <a:off x="7413772" y="4224528"/>
            <a:ext cx="1794601" cy="548640"/>
          </a:xfrm>
          <a:prstGeom prst="rect">
            <a:avLst/>
          </a:prstGeom>
          <a:noFill/>
          <a:ln/>
        </p:spPr>
        <p:txBody>
          <a:bodyPr wrap="square" lIns="0" tIns="0" rIns="0" bIns="0" rtlCol="0" anchor="ctr"/>
          <a:lstStyle/>
          <a:p>
            <a:pPr indent="0" marL="0">
              <a:lnSpc>
                <a:spcPct val="105000"/>
              </a:lnSpc>
              <a:buNone/>
            </a:pPr>
            <a:r>
              <a:rPr lang="en-US" sz="1100" dirty="0">
                <a:solidFill>
                  <a:srgbClr val="8496A6"/>
                </a:solidFill>
                <a:latin typeface="Calibri" pitchFamily="34" charset="0"/>
                <a:ea typeface="Calibri" pitchFamily="34" charset="-122"/>
                <a:cs typeface="Calibri" pitchFamily="34" charset="-120"/>
              </a:rPr>
              <a:t>the 15 API doors</a:t>
            </a:r>
            <a:endParaRPr lang="en-US" sz="1100" dirty="0"/>
          </a:p>
        </p:txBody>
      </p:sp>
      <p:sp>
        <p:nvSpPr>
          <p:cNvPr id="34" name="Shape 32"/>
          <p:cNvSpPr/>
          <p:nvPr/>
        </p:nvSpPr>
        <p:spPr>
          <a:xfrm>
            <a:off x="9500982" y="3584448"/>
            <a:ext cx="2050633" cy="1234440"/>
          </a:xfrm>
          <a:prstGeom prst="roundRect">
            <a:avLst>
              <a:gd name="adj" fmla="val 4444"/>
            </a:avLst>
          </a:prstGeom>
          <a:solidFill>
            <a:srgbClr val="18242F"/>
          </a:solidFill>
          <a:ln w="12700">
            <a:solidFill>
              <a:srgbClr val="2E3F4E"/>
            </a:solidFill>
            <a:prstDash val="solid"/>
          </a:ln>
        </p:spPr>
      </p:sp>
      <p:sp>
        <p:nvSpPr>
          <p:cNvPr id="35" name="Text 33"/>
          <p:cNvSpPr txBox="1"/>
          <p:nvPr/>
        </p:nvSpPr>
        <p:spPr>
          <a:xfrm>
            <a:off x="9628998" y="3730752"/>
            <a:ext cx="1794601" cy="502920"/>
          </a:xfrm>
          <a:prstGeom prst="rect">
            <a:avLst/>
          </a:prstGeom>
          <a:noFill/>
          <a:ln/>
        </p:spPr>
        <p:txBody>
          <a:bodyPr wrap="square" lIns="0" tIns="0" rIns="0" bIns="0" rtlCol="0" anchor="ctr"/>
          <a:lstStyle/>
          <a:p>
            <a:pPr indent="0" marL="0">
              <a:buNone/>
            </a:pPr>
            <a:r>
              <a:rPr lang="en-US" sz="1250" b="1" dirty="0">
                <a:solidFill>
                  <a:srgbClr val="46C888"/>
                </a:solidFill>
                <a:latin typeface="Arial" pitchFamily="34" charset="0"/>
                <a:ea typeface="Arial" pitchFamily="34" charset="-122"/>
                <a:cs typeface="Arial" pitchFamily="34" charset="-120"/>
              </a:rPr>
              <a:t>Draw it</a:t>
            </a:r>
            <a:endParaRPr lang="en-US" sz="1250" dirty="0"/>
          </a:p>
        </p:txBody>
      </p:sp>
      <p:sp>
        <p:nvSpPr>
          <p:cNvPr id="36" name="Text 34"/>
          <p:cNvSpPr txBox="1"/>
          <p:nvPr/>
        </p:nvSpPr>
        <p:spPr>
          <a:xfrm>
            <a:off x="9628998" y="4224528"/>
            <a:ext cx="1794601" cy="548640"/>
          </a:xfrm>
          <a:prstGeom prst="rect">
            <a:avLst/>
          </a:prstGeom>
          <a:noFill/>
          <a:ln/>
        </p:spPr>
        <p:txBody>
          <a:bodyPr wrap="square" lIns="0" tIns="0" rIns="0" bIns="0" rtlCol="0" anchor="ctr"/>
          <a:lstStyle/>
          <a:p>
            <a:pPr indent="0" marL="0">
              <a:lnSpc>
                <a:spcPct val="105000"/>
              </a:lnSpc>
              <a:buNone/>
            </a:pPr>
            <a:r>
              <a:rPr lang="en-US" sz="1100" dirty="0">
                <a:solidFill>
                  <a:srgbClr val="8496A6"/>
                </a:solidFill>
                <a:latin typeface="Calibri" pitchFamily="34" charset="0"/>
                <a:ea typeface="Calibri" pitchFamily="34" charset="-122"/>
                <a:cs typeface="Calibri" pitchFamily="34" charset="-120"/>
              </a:rPr>
              <a:t>the dashboard in your browser</a:t>
            </a:r>
            <a:endParaRPr lang="en-US" sz="1100" dirty="0"/>
          </a:p>
        </p:txBody>
      </p:sp>
      <p:sp>
        <p:nvSpPr>
          <p:cNvPr id="37" name="Text 35"/>
          <p:cNvSpPr txBox="1"/>
          <p:nvPr/>
        </p:nvSpPr>
        <p:spPr>
          <a:xfrm>
            <a:off x="640080" y="3090672"/>
            <a:ext cx="5486400" cy="274320"/>
          </a:xfrm>
          <a:prstGeom prst="rect">
            <a:avLst/>
          </a:prstGeom>
          <a:noFill/>
          <a:ln/>
        </p:spPr>
        <p:txBody>
          <a:bodyPr wrap="square" lIns="0" tIns="0" rIns="0" bIns="0" rtlCol="0" anchor="ctr"/>
          <a:lstStyle/>
          <a:p>
            <a:pPr indent="0" marL="0">
              <a:buNone/>
            </a:pPr>
            <a:r>
              <a:rPr lang="en-US" sz="1150" b="1" spc="160" kern="0" dirty="0">
                <a:solidFill>
                  <a:srgbClr val="58BFD6"/>
                </a:solidFill>
                <a:latin typeface="Arial" pitchFamily="34" charset="0"/>
                <a:ea typeface="Arial" pitchFamily="34" charset="-122"/>
                <a:cs typeface="Arial" pitchFamily="34" charset="-120"/>
              </a:rPr>
              <a:t>LIVE PASS — runs while the video plays</a:t>
            </a:r>
            <a:endParaRPr lang="en-US" sz="1150" dirty="0"/>
          </a:p>
        </p:txBody>
      </p:sp>
      <p:sp>
        <p:nvSpPr>
          <p:cNvPr id="38" name="Text 36"/>
          <p:cNvSpPr txBox="1"/>
          <p:nvPr/>
        </p:nvSpPr>
        <p:spPr>
          <a:xfrm>
            <a:off x="640080" y="4892040"/>
            <a:ext cx="6400800" cy="274320"/>
          </a:xfrm>
          <a:prstGeom prst="rect">
            <a:avLst/>
          </a:prstGeom>
          <a:noFill/>
          <a:ln/>
        </p:spPr>
        <p:txBody>
          <a:bodyPr wrap="square" lIns="0" tIns="0" rIns="0" bIns="0" rtlCol="0" anchor="ctr"/>
          <a:lstStyle/>
          <a:p>
            <a:pPr indent="0" marL="0">
              <a:buNone/>
            </a:pPr>
            <a:r>
              <a:rPr lang="en-US" sz="1150" b="1" spc="160" kern="0" dirty="0">
                <a:solidFill>
                  <a:srgbClr val="46C888"/>
                </a:solidFill>
                <a:latin typeface="Arial" pitchFamily="34" charset="0"/>
                <a:ea typeface="Arial" pitchFamily="34" charset="-122"/>
                <a:cs typeface="Arial" pitchFamily="34" charset="-120"/>
              </a:rPr>
              <a:t>THINKING PASS — runs afterwards, on command</a:t>
            </a:r>
            <a:endParaRPr lang="en-US" sz="1150" dirty="0"/>
          </a:p>
        </p:txBody>
      </p:sp>
      <p:sp>
        <p:nvSpPr>
          <p:cNvPr id="39" name="Shape 37"/>
          <p:cNvSpPr/>
          <p:nvPr/>
        </p:nvSpPr>
        <p:spPr>
          <a:xfrm>
            <a:off x="640080" y="5376672"/>
            <a:ext cx="10911535" cy="731520"/>
          </a:xfrm>
          <a:prstGeom prst="roundRect">
            <a:avLst>
              <a:gd name="adj" fmla="val 7500"/>
            </a:avLst>
          </a:prstGeom>
          <a:solidFill>
            <a:srgbClr val="213040"/>
          </a:solidFill>
          <a:ln w="12700">
            <a:solidFill>
              <a:srgbClr val="2E3F4E"/>
            </a:solidFill>
            <a:prstDash val="solid"/>
          </a:ln>
        </p:spPr>
      </p:sp>
      <p:sp>
        <p:nvSpPr>
          <p:cNvPr id="40" name="Text 38"/>
          <p:cNvSpPr txBox="1"/>
          <p:nvPr/>
        </p:nvSpPr>
        <p:spPr>
          <a:xfrm>
            <a:off x="1005840" y="5376672"/>
            <a:ext cx="10180015" cy="73152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This split into two passes is the single most important thing to understand about our system.</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2 — WHAT RUNS</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Four programs, not one</a:t>
            </a:r>
            <a:endParaRPr lang="en-US" sz="3200" dirty="0"/>
          </a:p>
        </p:txBody>
      </p:sp>
      <p:sp>
        <p:nvSpPr>
          <p:cNvPr id="4" name="Text 2"/>
          <p:cNvSpPr txBox="1"/>
          <p:nvPr/>
        </p:nvSpPr>
        <p:spPr>
          <a:xfrm>
            <a:off x="640080" y="1481328"/>
            <a:ext cx="10911535" cy="45720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People assume a project is one thing that starts. Ours is four. Knowing which is which saves you on stage.</a:t>
            </a:r>
            <a:endParaRPr lang="en-US" sz="1600" dirty="0"/>
          </a:p>
        </p:txBody>
      </p:sp>
      <p:sp>
        <p:nvSpPr>
          <p:cNvPr id="5" name="Shape 3"/>
          <p:cNvSpPr/>
          <p:nvPr/>
        </p:nvSpPr>
        <p:spPr>
          <a:xfrm>
            <a:off x="640080" y="2011680"/>
            <a:ext cx="10911535" cy="932688"/>
          </a:xfrm>
          <a:prstGeom prst="roundRect">
            <a:avLst>
              <a:gd name="adj" fmla="val 5882"/>
            </a:avLst>
          </a:prstGeom>
          <a:solidFill>
            <a:srgbClr val="18242F"/>
          </a:solidFill>
          <a:ln w="12700">
            <a:solidFill>
              <a:srgbClr val="2E3F4E"/>
            </a:solidFill>
            <a:prstDash val="solid"/>
          </a:ln>
        </p:spPr>
      </p:sp>
      <p:sp>
        <p:nvSpPr>
          <p:cNvPr id="6" name="Shape 4"/>
          <p:cNvSpPr/>
          <p:nvPr/>
        </p:nvSpPr>
        <p:spPr>
          <a:xfrm>
            <a:off x="896112" y="2249424"/>
            <a:ext cx="457200" cy="457200"/>
          </a:xfrm>
          <a:prstGeom prst="ellipse">
            <a:avLst/>
          </a:prstGeom>
          <a:solidFill>
            <a:srgbClr val="F0B23F"/>
          </a:solidFill>
          <a:ln w="12700">
            <a:solidFill>
              <a:srgbClr val="F0B23F"/>
            </a:solidFill>
            <a:prstDash val="solid"/>
          </a:ln>
        </p:spPr>
      </p:sp>
      <p:sp>
        <p:nvSpPr>
          <p:cNvPr id="7" name="Text 5"/>
          <p:cNvSpPr txBox="1"/>
          <p:nvPr/>
        </p:nvSpPr>
        <p:spPr>
          <a:xfrm>
            <a:off x="896112" y="2249424"/>
            <a:ext cx="457200" cy="45720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1</a:t>
            </a:r>
            <a:endParaRPr lang="en-US" sz="1500" dirty="0"/>
          </a:p>
        </p:txBody>
      </p:sp>
      <p:sp>
        <p:nvSpPr>
          <p:cNvPr id="8" name="Text 6"/>
          <p:cNvSpPr txBox="1"/>
          <p:nvPr/>
        </p:nvSpPr>
        <p:spPr>
          <a:xfrm>
            <a:off x="1508760" y="2121408"/>
            <a:ext cx="3108960" cy="320040"/>
          </a:xfrm>
          <a:prstGeom prst="rect">
            <a:avLst/>
          </a:prstGeom>
          <a:noFill/>
          <a:ln/>
        </p:spPr>
        <p:txBody>
          <a:bodyPr wrap="square" lIns="0" tIns="0" rIns="0" bIns="0" rtlCol="0" anchor="ctr"/>
          <a:lstStyle/>
          <a:p>
            <a:pPr indent="0" marL="0">
              <a:buNone/>
            </a:pPr>
            <a:r>
              <a:rPr lang="en-US" sz="1500" b="1" dirty="0">
                <a:solidFill>
                  <a:srgbClr val="58BFD6"/>
                </a:solidFill>
                <a:latin typeface="Arial" pitchFamily="34" charset="0"/>
                <a:ea typeface="Arial" pitchFamily="34" charset="-122"/>
                <a:cs typeface="Arial" pitchFamily="34" charset="-120"/>
              </a:rPr>
              <a:t>The camera workers</a:t>
            </a:r>
            <a:endParaRPr lang="en-US" sz="1500" dirty="0"/>
          </a:p>
        </p:txBody>
      </p:sp>
      <p:sp>
        <p:nvSpPr>
          <p:cNvPr id="9" name="Text 7"/>
          <p:cNvSpPr txBox="1"/>
          <p:nvPr/>
        </p:nvSpPr>
        <p:spPr>
          <a:xfrm>
            <a:off x="1508760" y="2468880"/>
            <a:ext cx="2194560" cy="411480"/>
          </a:xfrm>
          <a:prstGeom prst="rect">
            <a:avLst/>
          </a:prstGeom>
          <a:noFill/>
          <a:ln/>
        </p:spPr>
        <p:txBody>
          <a:bodyPr wrap="square" lIns="0" tIns="0" rIns="0" bIns="0" rtlCol="0" anchor="ctr"/>
          <a:lstStyle/>
          <a:p>
            <a:pPr indent="0" marL="0">
              <a:buNone/>
            </a:pPr>
            <a:r>
              <a:rPr lang="en-US" sz="1100" dirty="0">
                <a:solidFill>
                  <a:srgbClr val="8496A6"/>
                </a:solidFill>
                <a:latin typeface="Courier New" pitchFamily="34" charset="0"/>
                <a:ea typeface="Courier New" pitchFamily="34" charset="-122"/>
                <a:cs typeface="Courier New" pitchFamily="34" charset="-120"/>
              </a:rPr>
              <a:t>make run</a:t>
            </a:r>
            <a:endParaRPr lang="en-US" sz="1100" dirty="0"/>
          </a:p>
        </p:txBody>
      </p:sp>
      <p:sp>
        <p:nvSpPr>
          <p:cNvPr id="10" name="Text 8"/>
          <p:cNvSpPr txBox="1"/>
          <p:nvPr/>
        </p:nvSpPr>
        <p:spPr>
          <a:xfrm>
            <a:off x="4754880" y="2011680"/>
            <a:ext cx="6430975" cy="932688"/>
          </a:xfrm>
          <a:prstGeom prst="rect">
            <a:avLst/>
          </a:prstGeom>
          <a:noFill/>
          <a:ln/>
        </p:spPr>
        <p:txBody>
          <a:bodyPr wrap="square" lIns="0" tIns="0" rIns="0" bIns="0" rtlCol="0" anchor="ctr"/>
          <a:lstStyle/>
          <a:p>
            <a:pPr indent="0" marL="0">
              <a:lnSpc>
                <a:spcPct val="110000"/>
              </a:lnSpc>
              <a:buNone/>
            </a:pPr>
            <a:r>
              <a:rPr lang="en-US" sz="1300" dirty="0">
                <a:solidFill>
                  <a:srgbClr val="BCC9D5"/>
                </a:solidFill>
                <a:latin typeface="Calibri" pitchFamily="34" charset="0"/>
                <a:ea typeface="Calibri" pitchFamily="34" charset="-122"/>
                <a:cs typeface="Calibri" pitchFamily="34" charset="-120"/>
              </a:rPr>
              <a:t>Watches the videos. One separate program per camera, so if one camera breaks the others carry on. Writes what it sees to the database.</a:t>
            </a:r>
            <a:endParaRPr lang="en-US" sz="1300" dirty="0"/>
          </a:p>
        </p:txBody>
      </p:sp>
      <p:sp>
        <p:nvSpPr>
          <p:cNvPr id="11" name="Shape 9"/>
          <p:cNvSpPr/>
          <p:nvPr/>
        </p:nvSpPr>
        <p:spPr>
          <a:xfrm>
            <a:off x="640080" y="3044952"/>
            <a:ext cx="10911535" cy="932688"/>
          </a:xfrm>
          <a:prstGeom prst="roundRect">
            <a:avLst>
              <a:gd name="adj" fmla="val 5882"/>
            </a:avLst>
          </a:prstGeom>
          <a:solidFill>
            <a:srgbClr val="18242F"/>
          </a:solidFill>
          <a:ln w="12700">
            <a:solidFill>
              <a:srgbClr val="2E3F4E"/>
            </a:solidFill>
            <a:prstDash val="solid"/>
          </a:ln>
        </p:spPr>
      </p:sp>
      <p:sp>
        <p:nvSpPr>
          <p:cNvPr id="12" name="Shape 10"/>
          <p:cNvSpPr/>
          <p:nvPr/>
        </p:nvSpPr>
        <p:spPr>
          <a:xfrm>
            <a:off x="896112" y="3282696"/>
            <a:ext cx="457200" cy="457200"/>
          </a:xfrm>
          <a:prstGeom prst="ellipse">
            <a:avLst/>
          </a:prstGeom>
          <a:solidFill>
            <a:srgbClr val="F0B23F"/>
          </a:solidFill>
          <a:ln w="12700">
            <a:solidFill>
              <a:srgbClr val="F0B23F"/>
            </a:solidFill>
            <a:prstDash val="solid"/>
          </a:ln>
        </p:spPr>
      </p:sp>
      <p:sp>
        <p:nvSpPr>
          <p:cNvPr id="13" name="Text 11"/>
          <p:cNvSpPr txBox="1"/>
          <p:nvPr/>
        </p:nvSpPr>
        <p:spPr>
          <a:xfrm>
            <a:off x="896112" y="3282696"/>
            <a:ext cx="457200" cy="45720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2</a:t>
            </a:r>
            <a:endParaRPr lang="en-US" sz="1500" dirty="0"/>
          </a:p>
        </p:txBody>
      </p:sp>
      <p:sp>
        <p:nvSpPr>
          <p:cNvPr id="14" name="Text 12"/>
          <p:cNvSpPr txBox="1"/>
          <p:nvPr/>
        </p:nvSpPr>
        <p:spPr>
          <a:xfrm>
            <a:off x="1508760" y="3154680"/>
            <a:ext cx="3108960" cy="320040"/>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The thinking pass</a:t>
            </a:r>
            <a:endParaRPr lang="en-US" sz="1500" dirty="0"/>
          </a:p>
        </p:txBody>
      </p:sp>
      <p:sp>
        <p:nvSpPr>
          <p:cNvPr id="15" name="Text 13"/>
          <p:cNvSpPr txBox="1"/>
          <p:nvPr/>
        </p:nvSpPr>
        <p:spPr>
          <a:xfrm>
            <a:off x="1508760" y="3502152"/>
            <a:ext cx="2194560" cy="411480"/>
          </a:xfrm>
          <a:prstGeom prst="rect">
            <a:avLst/>
          </a:prstGeom>
          <a:noFill/>
          <a:ln/>
        </p:spPr>
        <p:txBody>
          <a:bodyPr wrap="square" lIns="0" tIns="0" rIns="0" bIns="0" rtlCol="0" anchor="ctr"/>
          <a:lstStyle/>
          <a:p>
            <a:pPr indent="0" marL="0">
              <a:buNone/>
            </a:pPr>
            <a:r>
              <a:rPr lang="en-US" sz="1100" dirty="0">
                <a:solidFill>
                  <a:srgbClr val="8496A6"/>
                </a:solidFill>
                <a:latin typeface="Courier New" pitchFamily="34" charset="0"/>
                <a:ea typeface="Courier New" pitchFamily="34" charset="-122"/>
                <a:cs typeface="Courier New" pitchFamily="34" charset="-120"/>
              </a:rPr>
              <a:t>make resolve</a:t>
            </a:r>
            <a:endParaRPr lang="en-US" sz="1100" dirty="0"/>
          </a:p>
          <a:p>
            <a:pPr indent="0" marL="0">
              <a:buNone/>
            </a:pPr>
            <a:r>
              <a:rPr lang="en-US" sz="1100" dirty="0">
                <a:solidFill>
                  <a:srgbClr val="8496A6"/>
                </a:solidFill>
                <a:latin typeface="Courier New" pitchFamily="34" charset="0"/>
                <a:ea typeface="Courier New" pitchFamily="34" charset="-122"/>
                <a:cs typeface="Courier New" pitchFamily="34" charset="-120"/>
              </a:rPr>
              <a:t>make analytics</a:t>
            </a:r>
            <a:endParaRPr lang="en-US" sz="1100" dirty="0"/>
          </a:p>
        </p:txBody>
      </p:sp>
      <p:sp>
        <p:nvSpPr>
          <p:cNvPr id="16" name="Text 14"/>
          <p:cNvSpPr txBox="1"/>
          <p:nvPr/>
        </p:nvSpPr>
        <p:spPr>
          <a:xfrm>
            <a:off x="4754880" y="3044952"/>
            <a:ext cx="6430975" cy="932688"/>
          </a:xfrm>
          <a:prstGeom prst="rect">
            <a:avLst/>
          </a:prstGeom>
          <a:noFill/>
          <a:ln/>
        </p:spPr>
        <p:txBody>
          <a:bodyPr wrap="square" lIns="0" tIns="0" rIns="0" bIns="0" rtlCol="0" anchor="ctr"/>
          <a:lstStyle/>
          <a:p>
            <a:pPr indent="0" marL="0">
              <a:lnSpc>
                <a:spcPct val="110000"/>
              </a:lnSpc>
              <a:buNone/>
            </a:pPr>
            <a:r>
              <a:rPr lang="en-US" sz="1300" dirty="0">
                <a:solidFill>
                  <a:srgbClr val="BCC9D5"/>
                </a:solidFill>
                <a:latin typeface="Calibri" pitchFamily="34" charset="0"/>
                <a:ea typeface="Calibri" pitchFamily="34" charset="-122"/>
                <a:cs typeface="Calibri" pitchFamily="34" charset="-120"/>
              </a:rPr>
              <a:t>Reads all the sightings, decides which ones are the same vehicle, builds journeys, works out the traffic numbers. Writes the answers back.</a:t>
            </a:r>
            <a:endParaRPr lang="en-US" sz="1300" dirty="0"/>
          </a:p>
        </p:txBody>
      </p:sp>
      <p:sp>
        <p:nvSpPr>
          <p:cNvPr id="17" name="Shape 15"/>
          <p:cNvSpPr/>
          <p:nvPr/>
        </p:nvSpPr>
        <p:spPr>
          <a:xfrm>
            <a:off x="640080" y="4078224"/>
            <a:ext cx="10911535" cy="932688"/>
          </a:xfrm>
          <a:prstGeom prst="roundRect">
            <a:avLst>
              <a:gd name="adj" fmla="val 5882"/>
            </a:avLst>
          </a:prstGeom>
          <a:solidFill>
            <a:srgbClr val="18242F"/>
          </a:solidFill>
          <a:ln w="12700">
            <a:solidFill>
              <a:srgbClr val="2E3F4E"/>
            </a:solidFill>
            <a:prstDash val="solid"/>
          </a:ln>
        </p:spPr>
      </p:sp>
      <p:sp>
        <p:nvSpPr>
          <p:cNvPr id="18" name="Shape 16"/>
          <p:cNvSpPr/>
          <p:nvPr/>
        </p:nvSpPr>
        <p:spPr>
          <a:xfrm>
            <a:off x="896112" y="4315968"/>
            <a:ext cx="457200" cy="457200"/>
          </a:xfrm>
          <a:prstGeom prst="ellipse">
            <a:avLst/>
          </a:prstGeom>
          <a:solidFill>
            <a:srgbClr val="F0B23F"/>
          </a:solidFill>
          <a:ln w="12700">
            <a:solidFill>
              <a:srgbClr val="F0B23F"/>
            </a:solidFill>
            <a:prstDash val="solid"/>
          </a:ln>
        </p:spPr>
      </p:sp>
      <p:sp>
        <p:nvSpPr>
          <p:cNvPr id="19" name="Text 17"/>
          <p:cNvSpPr txBox="1"/>
          <p:nvPr/>
        </p:nvSpPr>
        <p:spPr>
          <a:xfrm>
            <a:off x="896112" y="4315968"/>
            <a:ext cx="457200" cy="45720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3</a:t>
            </a:r>
            <a:endParaRPr lang="en-US" sz="1500" dirty="0"/>
          </a:p>
        </p:txBody>
      </p:sp>
      <p:sp>
        <p:nvSpPr>
          <p:cNvPr id="20" name="Text 18"/>
          <p:cNvSpPr txBox="1"/>
          <p:nvPr/>
        </p:nvSpPr>
        <p:spPr>
          <a:xfrm>
            <a:off x="1508760" y="4187952"/>
            <a:ext cx="3108960" cy="320040"/>
          </a:xfrm>
          <a:prstGeom prst="rect">
            <a:avLst/>
          </a:prstGeom>
          <a:noFill/>
          <a:ln/>
        </p:spPr>
        <p:txBody>
          <a:bodyPr wrap="square" lIns="0" tIns="0" rIns="0" bIns="0" rtlCol="0" anchor="ctr"/>
          <a:lstStyle/>
          <a:p>
            <a:pPr indent="0" marL="0">
              <a:buNone/>
            </a:pPr>
            <a:r>
              <a:rPr lang="en-US" sz="1500" b="1" dirty="0">
                <a:solidFill>
                  <a:srgbClr val="46C888"/>
                </a:solidFill>
                <a:latin typeface="Arial" pitchFamily="34" charset="0"/>
                <a:ea typeface="Arial" pitchFamily="34" charset="-122"/>
                <a:cs typeface="Arial" pitchFamily="34" charset="-120"/>
              </a:rPr>
              <a:t>The API server</a:t>
            </a:r>
            <a:endParaRPr lang="en-US" sz="1500" dirty="0"/>
          </a:p>
        </p:txBody>
      </p:sp>
      <p:sp>
        <p:nvSpPr>
          <p:cNvPr id="21" name="Text 19"/>
          <p:cNvSpPr txBox="1"/>
          <p:nvPr/>
        </p:nvSpPr>
        <p:spPr>
          <a:xfrm>
            <a:off x="1508760" y="4535424"/>
            <a:ext cx="2194560" cy="411480"/>
          </a:xfrm>
          <a:prstGeom prst="rect">
            <a:avLst/>
          </a:prstGeom>
          <a:noFill/>
          <a:ln/>
        </p:spPr>
        <p:txBody>
          <a:bodyPr wrap="square" lIns="0" tIns="0" rIns="0" bIns="0" rtlCol="0" anchor="ctr"/>
          <a:lstStyle/>
          <a:p>
            <a:pPr indent="0" marL="0">
              <a:buNone/>
            </a:pPr>
            <a:r>
              <a:rPr lang="en-US" sz="1100" dirty="0">
                <a:solidFill>
                  <a:srgbClr val="8496A6"/>
                </a:solidFill>
                <a:latin typeface="Courier New" pitchFamily="34" charset="0"/>
                <a:ea typeface="Courier New" pitchFamily="34" charset="-122"/>
                <a:cs typeface="Courier New" pitchFamily="34" charset="-120"/>
              </a:rPr>
              <a:t>make api</a:t>
            </a:r>
            <a:endParaRPr lang="en-US" sz="1100" dirty="0"/>
          </a:p>
        </p:txBody>
      </p:sp>
      <p:sp>
        <p:nvSpPr>
          <p:cNvPr id="22" name="Text 20"/>
          <p:cNvSpPr txBox="1"/>
          <p:nvPr/>
        </p:nvSpPr>
        <p:spPr>
          <a:xfrm>
            <a:off x="4754880" y="4078224"/>
            <a:ext cx="6430975" cy="932688"/>
          </a:xfrm>
          <a:prstGeom prst="rect">
            <a:avLst/>
          </a:prstGeom>
          <a:noFill/>
          <a:ln/>
        </p:spPr>
        <p:txBody>
          <a:bodyPr wrap="square" lIns="0" tIns="0" rIns="0" bIns="0" rtlCol="0" anchor="ctr"/>
          <a:lstStyle/>
          <a:p>
            <a:pPr indent="0" marL="0">
              <a:lnSpc>
                <a:spcPct val="110000"/>
              </a:lnSpc>
              <a:buNone/>
            </a:pPr>
            <a:r>
              <a:rPr lang="en-US" sz="1300" dirty="0">
                <a:solidFill>
                  <a:srgbClr val="BCC9D5"/>
                </a:solidFill>
                <a:latin typeface="Calibri" pitchFamily="34" charset="0"/>
                <a:ea typeface="Calibri" pitchFamily="34" charset="-122"/>
                <a:cs typeface="Calibri" pitchFamily="34" charset="-120"/>
              </a:rPr>
              <a:t>Sits waiting on port 8000. Answers questions from the dashboard by reading the database.</a:t>
            </a:r>
            <a:endParaRPr lang="en-US" sz="1300" dirty="0"/>
          </a:p>
        </p:txBody>
      </p:sp>
      <p:sp>
        <p:nvSpPr>
          <p:cNvPr id="23" name="Shape 21"/>
          <p:cNvSpPr/>
          <p:nvPr/>
        </p:nvSpPr>
        <p:spPr>
          <a:xfrm>
            <a:off x="640080" y="5111496"/>
            <a:ext cx="10911535" cy="932688"/>
          </a:xfrm>
          <a:prstGeom prst="roundRect">
            <a:avLst>
              <a:gd name="adj" fmla="val 5882"/>
            </a:avLst>
          </a:prstGeom>
          <a:solidFill>
            <a:srgbClr val="18242F"/>
          </a:solidFill>
          <a:ln w="12700">
            <a:solidFill>
              <a:srgbClr val="2E3F4E"/>
            </a:solidFill>
            <a:prstDash val="solid"/>
          </a:ln>
        </p:spPr>
      </p:sp>
      <p:sp>
        <p:nvSpPr>
          <p:cNvPr id="24" name="Shape 22"/>
          <p:cNvSpPr/>
          <p:nvPr/>
        </p:nvSpPr>
        <p:spPr>
          <a:xfrm>
            <a:off x="896112" y="5349240"/>
            <a:ext cx="457200" cy="457200"/>
          </a:xfrm>
          <a:prstGeom prst="ellipse">
            <a:avLst/>
          </a:prstGeom>
          <a:solidFill>
            <a:srgbClr val="F0B23F"/>
          </a:solidFill>
          <a:ln w="12700">
            <a:solidFill>
              <a:srgbClr val="F0B23F"/>
            </a:solidFill>
            <a:prstDash val="solid"/>
          </a:ln>
        </p:spPr>
      </p:sp>
      <p:sp>
        <p:nvSpPr>
          <p:cNvPr id="25" name="Text 23"/>
          <p:cNvSpPr txBox="1"/>
          <p:nvPr/>
        </p:nvSpPr>
        <p:spPr>
          <a:xfrm>
            <a:off x="896112" y="5349240"/>
            <a:ext cx="457200" cy="45720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4</a:t>
            </a:r>
            <a:endParaRPr lang="en-US" sz="1500" dirty="0"/>
          </a:p>
        </p:txBody>
      </p:sp>
      <p:sp>
        <p:nvSpPr>
          <p:cNvPr id="26" name="Text 24"/>
          <p:cNvSpPr txBox="1"/>
          <p:nvPr/>
        </p:nvSpPr>
        <p:spPr>
          <a:xfrm>
            <a:off x="1508760" y="5221224"/>
            <a:ext cx="3108960" cy="320040"/>
          </a:xfrm>
          <a:prstGeom prst="rect">
            <a:avLst/>
          </a:prstGeom>
          <a:noFill/>
          <a:ln/>
        </p:spPr>
        <p:txBody>
          <a:bodyPr wrap="square" lIns="0" tIns="0" rIns="0" bIns="0" rtlCol="0" anchor="ctr"/>
          <a:lstStyle/>
          <a:p>
            <a:pPr indent="0" marL="0">
              <a:buNone/>
            </a:pPr>
            <a:r>
              <a:rPr lang="en-US" sz="1500" b="1" dirty="0">
                <a:solidFill>
                  <a:srgbClr val="46C888"/>
                </a:solidFill>
                <a:latin typeface="Arial" pitchFamily="34" charset="0"/>
                <a:ea typeface="Arial" pitchFamily="34" charset="-122"/>
                <a:cs typeface="Arial" pitchFamily="34" charset="-120"/>
              </a:rPr>
              <a:t>The dashboard</a:t>
            </a:r>
            <a:endParaRPr lang="en-US" sz="1500" dirty="0"/>
          </a:p>
        </p:txBody>
      </p:sp>
      <p:sp>
        <p:nvSpPr>
          <p:cNvPr id="27" name="Text 25"/>
          <p:cNvSpPr txBox="1"/>
          <p:nvPr/>
        </p:nvSpPr>
        <p:spPr>
          <a:xfrm>
            <a:off x="1508760" y="5568696"/>
            <a:ext cx="2194560" cy="411480"/>
          </a:xfrm>
          <a:prstGeom prst="rect">
            <a:avLst/>
          </a:prstGeom>
          <a:noFill/>
          <a:ln/>
        </p:spPr>
        <p:txBody>
          <a:bodyPr wrap="square" lIns="0" tIns="0" rIns="0" bIns="0" rtlCol="0" anchor="ctr"/>
          <a:lstStyle/>
          <a:p>
            <a:pPr indent="0" marL="0">
              <a:buNone/>
            </a:pPr>
            <a:r>
              <a:rPr lang="en-US" sz="1100" dirty="0">
                <a:solidFill>
                  <a:srgbClr val="8496A6"/>
                </a:solidFill>
                <a:latin typeface="Courier New" pitchFamily="34" charset="0"/>
                <a:ea typeface="Courier New" pitchFamily="34" charset="-122"/>
                <a:cs typeface="Courier New" pitchFamily="34" charset="-120"/>
              </a:rPr>
              <a:t>make dash</a:t>
            </a:r>
            <a:endParaRPr lang="en-US" sz="1100" dirty="0"/>
          </a:p>
        </p:txBody>
      </p:sp>
      <p:sp>
        <p:nvSpPr>
          <p:cNvPr id="28" name="Text 26"/>
          <p:cNvSpPr txBox="1"/>
          <p:nvPr/>
        </p:nvSpPr>
        <p:spPr>
          <a:xfrm>
            <a:off x="4754880" y="5111496"/>
            <a:ext cx="6430975" cy="932688"/>
          </a:xfrm>
          <a:prstGeom prst="rect">
            <a:avLst/>
          </a:prstGeom>
          <a:noFill/>
          <a:ln/>
        </p:spPr>
        <p:txBody>
          <a:bodyPr wrap="square" lIns="0" tIns="0" rIns="0" bIns="0" rtlCol="0" anchor="ctr"/>
          <a:lstStyle/>
          <a:p>
            <a:pPr indent="0" marL="0">
              <a:lnSpc>
                <a:spcPct val="110000"/>
              </a:lnSpc>
              <a:buNone/>
            </a:pPr>
            <a:r>
              <a:rPr lang="en-US" sz="1300" dirty="0">
                <a:solidFill>
                  <a:srgbClr val="BCC9D5"/>
                </a:solidFill>
                <a:latin typeface="Calibri" pitchFamily="34" charset="0"/>
                <a:ea typeface="Calibri" pitchFamily="34" charset="-122"/>
                <a:cs typeface="Calibri" pitchFamily="34" charset="-120"/>
              </a:rPr>
              <a:t>Serves the web page on port 5173. This is what you open in your browser.</a:t>
            </a:r>
            <a:endParaRPr lang="en-US" sz="1300" dirty="0"/>
          </a:p>
        </p:txBody>
      </p:sp>
      <p:sp>
        <p:nvSpPr>
          <p:cNvPr id="29" name="Text 27"/>
          <p:cNvSpPr txBox="1"/>
          <p:nvPr/>
        </p:nvSpPr>
        <p:spPr>
          <a:xfrm>
            <a:off x="640080" y="6199632"/>
            <a:ext cx="10911535" cy="457200"/>
          </a:xfrm>
          <a:prstGeom prst="rect">
            <a:avLst/>
          </a:prstGeom>
          <a:noFill/>
          <a:ln/>
        </p:spPr>
        <p:txBody>
          <a:bodyPr wrap="square" lIns="0" tIns="0" rIns="0" bIns="0" rtlCol="0" anchor="ctr"/>
          <a:lstStyle/>
          <a:p>
            <a:pPr indent="0" marL="0">
              <a:lnSpc>
                <a:spcPct val="115000"/>
              </a:lnSpc>
              <a:buNone/>
            </a:pPr>
            <a:r>
              <a:rPr lang="en-US" sz="1350" dirty="0">
                <a:solidFill>
                  <a:srgbClr val="8496A6"/>
                </a:solidFill>
                <a:latin typeface="Calibri" pitchFamily="34" charset="0"/>
                <a:ea typeface="Calibri" pitchFamily="34" charset="-122"/>
                <a:cs typeface="Calibri" pitchFamily="34" charset="-120"/>
              </a:rPr>
              <a:t>Programs 3 and 4 each need their own terminal window and stay running. That surprises people the first time.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2 — A DESIGN DECISION</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Why each camera gets its own program</a:t>
            </a:r>
            <a:endParaRPr lang="en-US" sz="3200" dirty="0"/>
          </a:p>
        </p:txBody>
      </p:sp>
      <p:sp>
        <p:nvSpPr>
          <p:cNvPr id="4" name="Text 2"/>
          <p:cNvSpPr txBox="1"/>
          <p:nvPr/>
        </p:nvSpPr>
        <p:spPr>
          <a:xfrm>
            <a:off x="640080" y="1481328"/>
            <a:ext cx="10911535" cy="45720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A judge will ask this. Here is the answer in two halves.</a:t>
            </a:r>
            <a:endParaRPr lang="en-US" sz="1600" dirty="0"/>
          </a:p>
        </p:txBody>
      </p:sp>
      <p:sp>
        <p:nvSpPr>
          <p:cNvPr id="5" name="Shape 3"/>
          <p:cNvSpPr/>
          <p:nvPr/>
        </p:nvSpPr>
        <p:spPr>
          <a:xfrm>
            <a:off x="640080" y="2057400"/>
            <a:ext cx="5257800" cy="2240280"/>
          </a:xfrm>
          <a:prstGeom prst="roundRect">
            <a:avLst>
              <a:gd name="adj" fmla="val 2449"/>
            </a:avLst>
          </a:prstGeom>
          <a:solidFill>
            <a:srgbClr val="18242F"/>
          </a:solidFill>
          <a:ln w="12700">
            <a:solidFill>
              <a:srgbClr val="2E3F4E"/>
            </a:solidFill>
            <a:prstDash val="solid"/>
          </a:ln>
        </p:spPr>
      </p:sp>
      <p:sp>
        <p:nvSpPr>
          <p:cNvPr id="6" name="Text 4"/>
          <p:cNvSpPr txBox="1"/>
          <p:nvPr/>
        </p:nvSpPr>
        <p:spPr>
          <a:xfrm>
            <a:off x="960120" y="2267712"/>
            <a:ext cx="4572000" cy="320040"/>
          </a:xfrm>
          <a:prstGeom prst="rect">
            <a:avLst/>
          </a:prstGeom>
          <a:noFill/>
          <a:ln/>
        </p:spPr>
        <p:txBody>
          <a:bodyPr wrap="square" lIns="0" tIns="0" rIns="0" bIns="0" rtlCol="0" anchor="ctr"/>
          <a:lstStyle/>
          <a:p>
            <a:pPr indent="0" marL="0">
              <a:buNone/>
            </a:pPr>
            <a:r>
              <a:rPr lang="en-US" sz="1600" b="1" dirty="0">
                <a:solidFill>
                  <a:srgbClr val="58BFD6"/>
                </a:solidFill>
                <a:latin typeface="Arial" pitchFamily="34" charset="0"/>
                <a:ea typeface="Arial" pitchFamily="34" charset="-122"/>
                <a:cs typeface="Arial" pitchFamily="34" charset="-120"/>
              </a:rPr>
              <a:t>The technical reason</a:t>
            </a:r>
            <a:endParaRPr lang="en-US" sz="1600" dirty="0"/>
          </a:p>
        </p:txBody>
      </p:sp>
      <p:sp>
        <p:nvSpPr>
          <p:cNvPr id="7" name="Text 5"/>
          <p:cNvSpPr txBox="1"/>
          <p:nvPr/>
        </p:nvSpPr>
        <p:spPr>
          <a:xfrm>
            <a:off x="960120" y="2651760"/>
            <a:ext cx="4617720" cy="155448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Python has a built-in limit that stops one Python program from truly using several CPU cores at the same time.</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Giving each camera its own program steps around that limit completely. Three cameras really do run on three cores.</a:t>
            </a:r>
            <a:endParaRPr lang="en-US" sz="1350" dirty="0"/>
          </a:p>
        </p:txBody>
      </p:sp>
      <p:sp>
        <p:nvSpPr>
          <p:cNvPr id="8" name="Shape 6"/>
          <p:cNvSpPr/>
          <p:nvPr/>
        </p:nvSpPr>
        <p:spPr>
          <a:xfrm>
            <a:off x="6291072" y="2057400"/>
            <a:ext cx="5257800" cy="2240280"/>
          </a:xfrm>
          <a:prstGeom prst="roundRect">
            <a:avLst>
              <a:gd name="adj" fmla="val 2449"/>
            </a:avLst>
          </a:prstGeom>
          <a:solidFill>
            <a:srgbClr val="213040"/>
          </a:solidFill>
          <a:ln w="12700">
            <a:solidFill>
              <a:srgbClr val="2E3F4E"/>
            </a:solidFill>
            <a:prstDash val="solid"/>
          </a:ln>
        </p:spPr>
      </p:sp>
      <p:sp>
        <p:nvSpPr>
          <p:cNvPr id="9" name="Text 7"/>
          <p:cNvSpPr txBox="1"/>
          <p:nvPr/>
        </p:nvSpPr>
        <p:spPr>
          <a:xfrm>
            <a:off x="6611112" y="2267712"/>
            <a:ext cx="4572000" cy="320040"/>
          </a:xfrm>
          <a:prstGeom prst="rect">
            <a:avLst/>
          </a:prstGeom>
          <a:noFill/>
          <a:ln/>
        </p:spPr>
        <p:txBody>
          <a:bodyPr wrap="square" lIns="0" tIns="0" rIns="0" bIns="0" rtlCol="0" anchor="ctr"/>
          <a:lstStyle/>
          <a:p>
            <a:pPr indent="0" marL="0">
              <a:buNone/>
            </a:pPr>
            <a:r>
              <a:rPr lang="en-US" sz="1600" b="1" dirty="0">
                <a:solidFill>
                  <a:srgbClr val="F0B23F"/>
                </a:solidFill>
                <a:latin typeface="Arial" pitchFamily="34" charset="0"/>
                <a:ea typeface="Arial" pitchFamily="34" charset="-122"/>
                <a:cs typeface="Arial" pitchFamily="34" charset="-120"/>
              </a:rPr>
              <a:t>The real-world reason</a:t>
            </a:r>
            <a:endParaRPr lang="en-US" sz="1600" dirty="0"/>
          </a:p>
        </p:txBody>
      </p:sp>
      <p:sp>
        <p:nvSpPr>
          <p:cNvPr id="10" name="Text 8"/>
          <p:cNvSpPr txBox="1"/>
          <p:nvPr/>
        </p:nvSpPr>
        <p:spPr>
          <a:xfrm>
            <a:off x="6611112" y="2651760"/>
            <a:ext cx="4617720" cy="155448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It matches how you would actually deploy this: one small cheap computer sitting at each junction, doing its own camera.</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And if one camera's video is corrupt and its program crashes, the other two never notice.</a:t>
            </a:r>
            <a:endParaRPr lang="en-US" sz="1350" dirty="0"/>
          </a:p>
        </p:txBody>
      </p:sp>
      <p:sp>
        <p:nvSpPr>
          <p:cNvPr id="11" name="Shape 9"/>
          <p:cNvSpPr/>
          <p:nvPr/>
        </p:nvSpPr>
        <p:spPr>
          <a:xfrm>
            <a:off x="640080" y="4526280"/>
            <a:ext cx="10911535" cy="1600200"/>
          </a:xfrm>
          <a:prstGeom prst="roundRect">
            <a:avLst>
              <a:gd name="adj" fmla="val 3429"/>
            </a:avLst>
          </a:prstGeom>
          <a:solidFill>
            <a:srgbClr val="18242F"/>
          </a:solidFill>
          <a:ln w="12700">
            <a:solidFill>
              <a:srgbClr val="2E3F4E"/>
            </a:solidFill>
            <a:prstDash val="solid"/>
          </a:ln>
        </p:spPr>
      </p:sp>
      <p:sp>
        <p:nvSpPr>
          <p:cNvPr id="12" name="Text 10"/>
          <p:cNvSpPr txBox="1"/>
          <p:nvPr/>
        </p:nvSpPr>
        <p:spPr>
          <a:xfrm>
            <a:off x="1005840" y="4709160"/>
            <a:ext cx="5486400" cy="320040"/>
          </a:xfrm>
          <a:prstGeom prst="rect">
            <a:avLst/>
          </a:prstGeom>
          <a:noFill/>
          <a:ln/>
        </p:spPr>
        <p:txBody>
          <a:bodyPr wrap="square" lIns="0" tIns="0" rIns="0" bIns="0" rtlCol="0" anchor="ctr"/>
          <a:lstStyle/>
          <a:p>
            <a:pPr indent="0" marL="0">
              <a:buNone/>
            </a:pPr>
            <a:r>
              <a:rPr lang="en-US" sz="1600" b="1" dirty="0">
                <a:solidFill>
                  <a:srgbClr val="46C888"/>
                </a:solidFill>
                <a:latin typeface="Arial" pitchFamily="34" charset="0"/>
                <a:ea typeface="Arial" pitchFamily="34" charset="-122"/>
                <a:cs typeface="Arial" pitchFamily="34" charset="-120"/>
              </a:rPr>
              <a:t>Adding a camera to the city</a:t>
            </a:r>
            <a:endParaRPr lang="en-US" sz="1600" dirty="0"/>
          </a:p>
        </p:txBody>
      </p:sp>
      <p:sp>
        <p:nvSpPr>
          <p:cNvPr id="13" name="Text 11"/>
          <p:cNvSpPr txBox="1"/>
          <p:nvPr/>
        </p:nvSpPr>
        <p:spPr>
          <a:xfrm>
            <a:off x="1005840" y="5074920"/>
            <a:ext cx="10180015" cy="914400"/>
          </a:xfrm>
          <a:prstGeom prst="rect">
            <a:avLst/>
          </a:prstGeom>
          <a:noFill/>
          <a:ln/>
        </p:spPr>
        <p:txBody>
          <a:bodyPr wrap="square" lIns="0" tIns="0" rIns="0" bIns="0" rtlCol="0" anchor="ctr"/>
          <a:lstStyle/>
          <a:p>
            <a:pPr indent="0" marL="0">
              <a:lnSpc>
                <a:spcPct val="115000"/>
              </a:lnSpc>
              <a:buNone/>
            </a:pPr>
            <a:r>
              <a:rPr lang="en-US" sz="1400" dirty="0">
                <a:solidFill>
                  <a:srgbClr val="BCC9D5"/>
                </a:solidFill>
                <a:latin typeface="Calibri" pitchFamily="34" charset="0"/>
                <a:ea typeface="Calibri" pitchFamily="34" charset="-122"/>
                <a:cs typeface="Calibri" pitchFamily="34" charset="-120"/>
              </a:rPr>
              <a:t>You add a block of text to configs/cameras.yaml — its name, where it is, which video to read. That is all. No code is written, ever. The supervisor reads that file and starts one program per camera listed in it.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3 — THE MAP OF THE CODE</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What is in each folder</a:t>
            </a:r>
            <a:endParaRPr lang="en-US" sz="3200" dirty="0"/>
          </a:p>
        </p:txBody>
      </p:sp>
      <p:sp>
        <p:nvSpPr>
          <p:cNvPr id="4" name="Shape 2"/>
          <p:cNvSpPr/>
          <p:nvPr/>
        </p:nvSpPr>
        <p:spPr>
          <a:xfrm>
            <a:off x="640080" y="1572768"/>
            <a:ext cx="10911535" cy="822960"/>
          </a:xfrm>
          <a:prstGeom prst="roundRect">
            <a:avLst>
              <a:gd name="adj" fmla="val 6667"/>
            </a:avLst>
          </a:prstGeom>
          <a:solidFill>
            <a:srgbClr val="18242F"/>
          </a:solidFill>
          <a:ln w="12700">
            <a:solidFill>
              <a:srgbClr val="2E3F4E"/>
            </a:solidFill>
            <a:prstDash val="solid"/>
          </a:ln>
        </p:spPr>
      </p:sp>
      <p:sp>
        <p:nvSpPr>
          <p:cNvPr id="5" name="Text 3"/>
          <p:cNvSpPr txBox="1"/>
          <p:nvPr/>
        </p:nvSpPr>
        <p:spPr>
          <a:xfrm>
            <a:off x="960120" y="1572768"/>
            <a:ext cx="1737360" cy="822960"/>
          </a:xfrm>
          <a:prstGeom prst="rect">
            <a:avLst/>
          </a:prstGeom>
          <a:noFill/>
          <a:ln/>
        </p:spPr>
        <p:txBody>
          <a:bodyPr wrap="square" lIns="0" tIns="0" rIns="0" bIns="0" rtlCol="0" anchor="ctr"/>
          <a:lstStyle/>
          <a:p>
            <a:pPr indent="0" marL="0">
              <a:buNone/>
            </a:pPr>
            <a:r>
              <a:rPr lang="en-US" sz="1500" b="1" dirty="0">
                <a:solidFill>
                  <a:srgbClr val="F0B23F"/>
                </a:solidFill>
                <a:latin typeface="Courier New" pitchFamily="34" charset="0"/>
                <a:ea typeface="Courier New" pitchFamily="34" charset="-122"/>
                <a:cs typeface="Courier New" pitchFamily="34" charset="-120"/>
              </a:rPr>
              <a:t>configs/</a:t>
            </a:r>
            <a:endParaRPr lang="en-US" sz="1500" dirty="0"/>
          </a:p>
        </p:txBody>
      </p:sp>
      <p:sp>
        <p:nvSpPr>
          <p:cNvPr id="6" name="Text 4"/>
          <p:cNvSpPr txBox="1"/>
          <p:nvPr/>
        </p:nvSpPr>
        <p:spPr>
          <a:xfrm>
            <a:off x="2788920" y="1691640"/>
            <a:ext cx="36576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Every setting. No code at all.</a:t>
            </a:r>
            <a:endParaRPr lang="en-US" sz="1300" dirty="0"/>
          </a:p>
        </p:txBody>
      </p:sp>
      <p:sp>
        <p:nvSpPr>
          <p:cNvPr id="7" name="Text 5"/>
          <p:cNvSpPr txBox="1"/>
          <p:nvPr/>
        </p:nvSpPr>
        <p:spPr>
          <a:xfrm>
            <a:off x="2788920" y="1975104"/>
            <a:ext cx="8396935" cy="384048"/>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Model names, thresholds, camera list, road map, watchlist. Settings live here so changing behaviour never means changing code.</a:t>
            </a:r>
            <a:endParaRPr lang="en-US" sz="1250" dirty="0"/>
          </a:p>
        </p:txBody>
      </p:sp>
      <p:sp>
        <p:nvSpPr>
          <p:cNvPr id="8" name="Shape 6"/>
          <p:cNvSpPr/>
          <p:nvPr/>
        </p:nvSpPr>
        <p:spPr>
          <a:xfrm>
            <a:off x="640080" y="2487168"/>
            <a:ext cx="10911535" cy="822960"/>
          </a:xfrm>
          <a:prstGeom prst="roundRect">
            <a:avLst>
              <a:gd name="adj" fmla="val 6667"/>
            </a:avLst>
          </a:prstGeom>
          <a:solidFill>
            <a:srgbClr val="18242F"/>
          </a:solidFill>
          <a:ln w="12700">
            <a:solidFill>
              <a:srgbClr val="2E3F4E"/>
            </a:solidFill>
            <a:prstDash val="solid"/>
          </a:ln>
        </p:spPr>
      </p:sp>
      <p:sp>
        <p:nvSpPr>
          <p:cNvPr id="9" name="Text 7"/>
          <p:cNvSpPr txBox="1"/>
          <p:nvPr/>
        </p:nvSpPr>
        <p:spPr>
          <a:xfrm>
            <a:off x="960120" y="2487168"/>
            <a:ext cx="1737360" cy="822960"/>
          </a:xfrm>
          <a:prstGeom prst="rect">
            <a:avLst/>
          </a:prstGeom>
          <a:noFill/>
          <a:ln/>
        </p:spPr>
        <p:txBody>
          <a:bodyPr wrap="square" lIns="0" tIns="0" rIns="0" bIns="0" rtlCol="0" anchor="ctr"/>
          <a:lstStyle/>
          <a:p>
            <a:pPr indent="0" marL="0">
              <a:buNone/>
            </a:pPr>
            <a:r>
              <a:rPr lang="en-US" sz="1500" b="1" dirty="0">
                <a:solidFill>
                  <a:srgbClr val="58BFD6"/>
                </a:solidFill>
                <a:latin typeface="Courier New" pitchFamily="34" charset="0"/>
                <a:ea typeface="Courier New" pitchFamily="34" charset="-122"/>
                <a:cs typeface="Courier New" pitchFamily="34" charset="-120"/>
              </a:rPr>
              <a:t>data/</a:t>
            </a:r>
            <a:endParaRPr lang="en-US" sz="1500" dirty="0"/>
          </a:p>
        </p:txBody>
      </p:sp>
      <p:sp>
        <p:nvSpPr>
          <p:cNvPr id="10" name="Text 8"/>
          <p:cNvSpPr txBox="1"/>
          <p:nvPr/>
        </p:nvSpPr>
        <p:spPr>
          <a:xfrm>
            <a:off x="2788920" y="2606040"/>
            <a:ext cx="36576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Everything downloaded or produced.</a:t>
            </a:r>
            <a:endParaRPr lang="en-US" sz="1300" dirty="0"/>
          </a:p>
        </p:txBody>
      </p:sp>
      <p:sp>
        <p:nvSpPr>
          <p:cNvPr id="11" name="Text 9"/>
          <p:cNvSpPr txBox="1"/>
          <p:nvPr/>
        </p:nvSpPr>
        <p:spPr>
          <a:xfrm>
            <a:off x="2788920" y="2889504"/>
            <a:ext cx="8396935" cy="384048"/>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The three videos, the AI model files, the live preview pictures, cached map images, and netra.db — the database.</a:t>
            </a:r>
            <a:endParaRPr lang="en-US" sz="1250" dirty="0"/>
          </a:p>
        </p:txBody>
      </p:sp>
      <p:sp>
        <p:nvSpPr>
          <p:cNvPr id="12" name="Shape 10"/>
          <p:cNvSpPr/>
          <p:nvPr/>
        </p:nvSpPr>
        <p:spPr>
          <a:xfrm>
            <a:off x="640080" y="3401568"/>
            <a:ext cx="10911535" cy="822960"/>
          </a:xfrm>
          <a:prstGeom prst="roundRect">
            <a:avLst>
              <a:gd name="adj" fmla="val 6667"/>
            </a:avLst>
          </a:prstGeom>
          <a:solidFill>
            <a:srgbClr val="18242F"/>
          </a:solidFill>
          <a:ln w="12700">
            <a:solidFill>
              <a:srgbClr val="2E3F4E"/>
            </a:solidFill>
            <a:prstDash val="solid"/>
          </a:ln>
        </p:spPr>
      </p:sp>
      <p:sp>
        <p:nvSpPr>
          <p:cNvPr id="13" name="Text 11"/>
          <p:cNvSpPr txBox="1"/>
          <p:nvPr/>
        </p:nvSpPr>
        <p:spPr>
          <a:xfrm>
            <a:off x="960120" y="3401568"/>
            <a:ext cx="1737360" cy="822960"/>
          </a:xfrm>
          <a:prstGeom prst="rect">
            <a:avLst/>
          </a:prstGeom>
          <a:noFill/>
          <a:ln/>
        </p:spPr>
        <p:txBody>
          <a:bodyPr wrap="square" lIns="0" tIns="0" rIns="0" bIns="0" rtlCol="0" anchor="ctr"/>
          <a:lstStyle/>
          <a:p>
            <a:pPr indent="0" marL="0">
              <a:buNone/>
            </a:pPr>
            <a:r>
              <a:rPr lang="en-US" sz="1500" b="1" dirty="0">
                <a:solidFill>
                  <a:srgbClr val="F0B23F"/>
                </a:solidFill>
                <a:latin typeface="Courier New" pitchFamily="34" charset="0"/>
                <a:ea typeface="Courier New" pitchFamily="34" charset="-122"/>
                <a:cs typeface="Courier New" pitchFamily="34" charset="-120"/>
              </a:rPr>
              <a:t>backend/</a:t>
            </a:r>
            <a:endParaRPr lang="en-US" sz="1500" dirty="0"/>
          </a:p>
        </p:txBody>
      </p:sp>
      <p:sp>
        <p:nvSpPr>
          <p:cNvPr id="14" name="Text 12"/>
          <p:cNvSpPr txBox="1"/>
          <p:nvPr/>
        </p:nvSpPr>
        <p:spPr>
          <a:xfrm>
            <a:off x="2788920" y="3520440"/>
            <a:ext cx="36576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All the Python. The thinking half.</a:t>
            </a:r>
            <a:endParaRPr lang="en-US" sz="1300" dirty="0"/>
          </a:p>
        </p:txBody>
      </p:sp>
      <p:sp>
        <p:nvSpPr>
          <p:cNvPr id="15" name="Text 13"/>
          <p:cNvSpPr txBox="1"/>
          <p:nvPr/>
        </p:nvSpPr>
        <p:spPr>
          <a:xfrm>
            <a:off x="2788920" y="3803904"/>
            <a:ext cx="8396935" cy="384048"/>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Split into core, vision, pipeline, store, identity, trajectory, analytics, api. 29 files, about 6,400 lines.</a:t>
            </a:r>
            <a:endParaRPr lang="en-US" sz="1250" dirty="0"/>
          </a:p>
        </p:txBody>
      </p:sp>
      <p:sp>
        <p:nvSpPr>
          <p:cNvPr id="16" name="Shape 14"/>
          <p:cNvSpPr/>
          <p:nvPr/>
        </p:nvSpPr>
        <p:spPr>
          <a:xfrm>
            <a:off x="640080" y="4315968"/>
            <a:ext cx="10911535" cy="822960"/>
          </a:xfrm>
          <a:prstGeom prst="roundRect">
            <a:avLst>
              <a:gd name="adj" fmla="val 6667"/>
            </a:avLst>
          </a:prstGeom>
          <a:solidFill>
            <a:srgbClr val="18242F"/>
          </a:solidFill>
          <a:ln w="12700">
            <a:solidFill>
              <a:srgbClr val="2E3F4E"/>
            </a:solidFill>
            <a:prstDash val="solid"/>
          </a:ln>
        </p:spPr>
      </p:sp>
      <p:sp>
        <p:nvSpPr>
          <p:cNvPr id="17" name="Text 15"/>
          <p:cNvSpPr txBox="1"/>
          <p:nvPr/>
        </p:nvSpPr>
        <p:spPr>
          <a:xfrm>
            <a:off x="960120" y="4315968"/>
            <a:ext cx="1737360" cy="822960"/>
          </a:xfrm>
          <a:prstGeom prst="rect">
            <a:avLst/>
          </a:prstGeom>
          <a:noFill/>
          <a:ln/>
        </p:spPr>
        <p:txBody>
          <a:bodyPr wrap="square" lIns="0" tIns="0" rIns="0" bIns="0" rtlCol="0" anchor="ctr"/>
          <a:lstStyle/>
          <a:p>
            <a:pPr indent="0" marL="0">
              <a:buNone/>
            </a:pPr>
            <a:r>
              <a:rPr lang="en-US" sz="1500" b="1" dirty="0">
                <a:solidFill>
                  <a:srgbClr val="58BFD6"/>
                </a:solidFill>
                <a:latin typeface="Courier New" pitchFamily="34" charset="0"/>
                <a:ea typeface="Courier New" pitchFamily="34" charset="-122"/>
                <a:cs typeface="Courier New" pitchFamily="34" charset="-120"/>
              </a:rPr>
              <a:t>frontend/</a:t>
            </a:r>
            <a:endParaRPr lang="en-US" sz="1500" dirty="0"/>
          </a:p>
        </p:txBody>
      </p:sp>
      <p:sp>
        <p:nvSpPr>
          <p:cNvPr id="18" name="Text 16"/>
          <p:cNvSpPr txBox="1"/>
          <p:nvPr/>
        </p:nvSpPr>
        <p:spPr>
          <a:xfrm>
            <a:off x="2788920" y="4434840"/>
            <a:ext cx="36576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All the dashboard. The looking half.</a:t>
            </a:r>
            <a:endParaRPr lang="en-US" sz="1300" dirty="0"/>
          </a:p>
        </p:txBody>
      </p:sp>
      <p:sp>
        <p:nvSpPr>
          <p:cNvPr id="19" name="Text 17"/>
          <p:cNvSpPr txBox="1"/>
          <p:nvPr/>
        </p:nvSpPr>
        <p:spPr>
          <a:xfrm>
            <a:off x="2788920" y="4718304"/>
            <a:ext cx="8396935" cy="384048"/>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One brain file (App.jsx), one file that talks to the backend (api.js), and nine components — one per box you see on screen.</a:t>
            </a:r>
            <a:endParaRPr lang="en-US" sz="1250" dirty="0"/>
          </a:p>
        </p:txBody>
      </p:sp>
      <p:sp>
        <p:nvSpPr>
          <p:cNvPr id="20" name="Shape 18"/>
          <p:cNvSpPr/>
          <p:nvPr/>
        </p:nvSpPr>
        <p:spPr>
          <a:xfrm>
            <a:off x="640080" y="5230368"/>
            <a:ext cx="10911535" cy="822960"/>
          </a:xfrm>
          <a:prstGeom prst="roundRect">
            <a:avLst>
              <a:gd name="adj" fmla="val 6667"/>
            </a:avLst>
          </a:prstGeom>
          <a:solidFill>
            <a:srgbClr val="18242F"/>
          </a:solidFill>
          <a:ln w="12700">
            <a:solidFill>
              <a:srgbClr val="2E3F4E"/>
            </a:solidFill>
            <a:prstDash val="solid"/>
          </a:ln>
        </p:spPr>
      </p:sp>
      <p:sp>
        <p:nvSpPr>
          <p:cNvPr id="21" name="Text 19"/>
          <p:cNvSpPr txBox="1"/>
          <p:nvPr/>
        </p:nvSpPr>
        <p:spPr>
          <a:xfrm>
            <a:off x="960120" y="5230368"/>
            <a:ext cx="1737360" cy="822960"/>
          </a:xfrm>
          <a:prstGeom prst="rect">
            <a:avLst/>
          </a:prstGeom>
          <a:noFill/>
          <a:ln/>
        </p:spPr>
        <p:txBody>
          <a:bodyPr wrap="square" lIns="0" tIns="0" rIns="0" bIns="0" rtlCol="0" anchor="ctr"/>
          <a:lstStyle/>
          <a:p>
            <a:pPr indent="0" marL="0">
              <a:buNone/>
            </a:pPr>
            <a:r>
              <a:rPr lang="en-US" sz="1500" b="1" dirty="0">
                <a:solidFill>
                  <a:srgbClr val="46C888"/>
                </a:solidFill>
                <a:latin typeface="Courier New" pitchFamily="34" charset="0"/>
                <a:ea typeface="Courier New" pitchFamily="34" charset="-122"/>
                <a:cs typeface="Courier New" pitchFamily="34" charset="-120"/>
              </a:rPr>
              <a:t>docs/</a:t>
            </a:r>
            <a:endParaRPr lang="en-US" sz="1500" dirty="0"/>
          </a:p>
        </p:txBody>
      </p:sp>
      <p:sp>
        <p:nvSpPr>
          <p:cNvPr id="22" name="Text 20"/>
          <p:cNvSpPr txBox="1"/>
          <p:nvPr/>
        </p:nvSpPr>
        <p:spPr>
          <a:xfrm>
            <a:off x="2788920" y="5349240"/>
            <a:ext cx="36576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Your presentation material.</a:t>
            </a:r>
            <a:endParaRPr lang="en-US" sz="1300" dirty="0"/>
          </a:p>
        </p:txBody>
      </p:sp>
      <p:sp>
        <p:nvSpPr>
          <p:cNvPr id="23" name="Text 21"/>
          <p:cNvSpPr txBox="1"/>
          <p:nvPr/>
        </p:nvSpPr>
        <p:spPr>
          <a:xfrm>
            <a:off x="2788920" y="5632704"/>
            <a:ext cx="8396935" cy="384048"/>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The deck, the PDFs, the architecture diagrams, screenshots of the running system.</a:t>
            </a:r>
            <a:endParaRPr lang="en-US" sz="1250" dirty="0"/>
          </a:p>
        </p:txBody>
      </p:sp>
      <p:sp>
        <p:nvSpPr>
          <p:cNvPr id="24" name="Text 22"/>
          <p:cNvSpPr txBox="1"/>
          <p:nvPr/>
        </p:nvSpPr>
        <p:spPr>
          <a:xfrm>
            <a:off x="640080" y="6263640"/>
            <a:ext cx="10911535" cy="457200"/>
          </a:xfrm>
          <a:prstGeom prst="rect">
            <a:avLst/>
          </a:prstGeom>
          <a:noFill/>
          <a:ln/>
        </p:spPr>
        <p:txBody>
          <a:bodyPr wrap="square" lIns="0" tIns="0" rIns="0" bIns="0" rtlCol="0" anchor="ctr"/>
          <a:lstStyle/>
          <a:p>
            <a:pPr indent="0" marL="0">
              <a:lnSpc>
                <a:spcPct val="115000"/>
              </a:lnSpc>
              <a:buNone/>
            </a:pPr>
            <a:r>
              <a:rPr lang="en-US" sz="1350" dirty="0">
                <a:solidFill>
                  <a:srgbClr val="8496A6"/>
                </a:solidFill>
                <a:latin typeface="Calibri" pitchFamily="34" charset="0"/>
                <a:ea typeface="Calibri" pitchFamily="34" charset="-122"/>
                <a:cs typeface="Calibri" pitchFamily="34" charset="-120"/>
              </a:rPr>
              <a:t>Rule we followed everywhere: settings in configs/, code in backend/, nothing important hidden anywhere else.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0A0E"/>
        </a:solidFill>
      </p:bgPr>
    </p:bg>
    <p:spTree>
      <p:nvGrpSpPr>
        <p:cNvPr id="1" name=""/>
        <p:cNvGrpSpPr/>
        <p:nvPr/>
      </p:nvGrpSpPr>
      <p:grpSpPr>
        <a:xfrm>
          <a:off x="0" y="0"/>
          <a:ext cx="0" cy="0"/>
          <a:chOff x="0" y="0"/>
          <a:chExt cx="0" cy="0"/>
        </a:xfrm>
      </p:grpSpPr>
      <p:sp>
        <p:nvSpPr>
          <p:cNvPr id="2" name="Text 0"/>
          <p:cNvSpPr txBox="1"/>
          <p:nvPr/>
        </p:nvSpPr>
        <p:spPr>
          <a:xfrm>
            <a:off x="640080" y="1645920"/>
            <a:ext cx="6583680" cy="2743200"/>
          </a:xfrm>
          <a:prstGeom prst="rect">
            <a:avLst/>
          </a:prstGeom>
          <a:noFill/>
          <a:ln/>
        </p:spPr>
        <p:txBody>
          <a:bodyPr wrap="square" lIns="0" tIns="0" rIns="0" bIns="0" rtlCol="0" anchor="ctr"/>
          <a:lstStyle/>
          <a:p>
            <a:pPr indent="0" marL="0">
              <a:lnSpc>
                <a:spcPct val="95000"/>
              </a:lnSpc>
              <a:buNone/>
            </a:pPr>
            <a:r>
              <a:rPr lang="en-US" sz="5000" b="1" dirty="0">
                <a:solidFill>
                  <a:srgbClr val="FFFFFF"/>
                </a:solidFill>
                <a:latin typeface="Arial" pitchFamily="34" charset="0"/>
                <a:ea typeface="Arial" pitchFamily="34" charset="-122"/>
                <a:cs typeface="Arial" pitchFamily="34" charset="-120"/>
              </a:rPr>
              <a:t>Step by step,</a:t>
            </a:r>
            <a:endParaRPr lang="en-US" sz="5000" dirty="0"/>
          </a:p>
          <a:p>
            <a:pPr indent="0" marL="0">
              <a:lnSpc>
                <a:spcPct val="95000"/>
              </a:lnSpc>
              <a:buNone/>
            </a:pPr>
            <a:r>
              <a:rPr lang="en-US" sz="5000" b="1" dirty="0">
                <a:solidFill>
                  <a:srgbClr val="FFFFFF"/>
                </a:solidFill>
                <a:latin typeface="Arial" pitchFamily="34" charset="0"/>
                <a:ea typeface="Arial" pitchFamily="34" charset="-122"/>
                <a:cs typeface="Arial" pitchFamily="34" charset="-120"/>
              </a:rPr>
              <a:t>from pixels</a:t>
            </a:r>
            <a:endParaRPr lang="en-US" sz="5000" dirty="0"/>
          </a:p>
          <a:p>
            <a:pPr indent="0" marL="0">
              <a:lnSpc>
                <a:spcPct val="95000"/>
              </a:lnSpc>
              <a:buNone/>
            </a:pPr>
            <a:r>
              <a:rPr lang="en-US" sz="5000" b="1" dirty="0">
                <a:solidFill>
                  <a:srgbClr val="FFFFFF"/>
                </a:solidFill>
                <a:latin typeface="Arial" pitchFamily="34" charset="0"/>
                <a:ea typeface="Arial" pitchFamily="34" charset="-122"/>
                <a:cs typeface="Arial" pitchFamily="34" charset="-120"/>
              </a:rPr>
              <a:t>to plates</a:t>
            </a:r>
            <a:endParaRPr lang="en-US" sz="5000" dirty="0"/>
          </a:p>
        </p:txBody>
      </p:sp>
      <p:sp>
        <p:nvSpPr>
          <p:cNvPr id="3" name="Text 1"/>
          <p:cNvSpPr txBox="1"/>
          <p:nvPr/>
        </p:nvSpPr>
        <p:spPr>
          <a:xfrm>
            <a:off x="640080" y="1143000"/>
            <a:ext cx="5394960" cy="365760"/>
          </a:xfrm>
          <a:prstGeom prst="rect">
            <a:avLst/>
          </a:prstGeom>
          <a:noFill/>
          <a:ln/>
        </p:spPr>
        <p:txBody>
          <a:bodyPr wrap="square" lIns="0" tIns="0" rIns="0" bIns="0" rtlCol="0" anchor="ctr"/>
          <a:lstStyle/>
          <a:p>
            <a:pPr indent="0" marL="0">
              <a:buNone/>
            </a:pPr>
            <a:r>
              <a:rPr lang="en-US" sz="1200" b="1" spc="250" kern="0" dirty="0">
                <a:solidFill>
                  <a:srgbClr val="F0B23F"/>
                </a:solidFill>
                <a:latin typeface="Arial" pitchFamily="34" charset="0"/>
                <a:ea typeface="Arial" pitchFamily="34" charset="-122"/>
                <a:cs typeface="Arial" pitchFamily="34" charset="-120"/>
              </a:rPr>
              <a:t>Part 4 — the live pass</a:t>
            </a:r>
            <a:endParaRPr lang="en-US" sz="1200" dirty="0"/>
          </a:p>
        </p:txBody>
      </p:sp>
      <p:sp>
        <p:nvSpPr>
          <p:cNvPr id="4" name="Text 2"/>
          <p:cNvSpPr txBox="1"/>
          <p:nvPr/>
        </p:nvSpPr>
        <p:spPr>
          <a:xfrm>
            <a:off x="640080" y="4572000"/>
            <a:ext cx="5852160" cy="822960"/>
          </a:xfrm>
          <a:prstGeom prst="rect">
            <a:avLst/>
          </a:prstGeom>
          <a:noFill/>
          <a:ln/>
        </p:spPr>
        <p:txBody>
          <a:bodyPr wrap="square" lIns="0" tIns="0" rIns="0" bIns="0" rtlCol="0" anchor="ctr"/>
          <a:lstStyle/>
          <a:p>
            <a:pPr indent="0" marL="0">
              <a:lnSpc>
                <a:spcPct val="120000"/>
              </a:lnSpc>
              <a:buNone/>
            </a:pPr>
            <a:r>
              <a:rPr lang="en-US" sz="1600" dirty="0">
                <a:solidFill>
                  <a:srgbClr val="BCC9D5"/>
                </a:solidFill>
                <a:latin typeface="Calibri" pitchFamily="34" charset="0"/>
                <a:ea typeface="Calibri" pitchFamily="34" charset="-122"/>
                <a:cs typeface="Calibri" pitchFamily="34" charset="-120"/>
              </a:rPr>
              <a:t>Nine steps happen to every single vehicle, in this order, inside one camera.</a:t>
            </a:r>
            <a:endParaRPr lang="en-US" sz="1600" dirty="0"/>
          </a:p>
        </p:txBody>
      </p:sp>
      <p:sp>
        <p:nvSpPr>
          <p:cNvPr id="5" name="Text 3"/>
          <p:cNvSpPr txBox="1"/>
          <p:nvPr/>
        </p:nvSpPr>
        <p:spPr>
          <a:xfrm>
            <a:off x="7680960" y="1051560"/>
            <a:ext cx="3931920" cy="457200"/>
          </a:xfrm>
          <a:prstGeom prst="rect">
            <a:avLst/>
          </a:prstGeom>
          <a:noFill/>
          <a:ln/>
        </p:spPr>
        <p:txBody>
          <a:bodyPr wrap="square" lIns="0" tIns="0" rIns="0" bIns="0" rtlCol="0" anchor="ctr"/>
          <a:lstStyle/>
          <a:p>
            <a:pPr indent="0" marL="0">
              <a:buNone/>
            </a:pPr>
            <a:r>
              <a:rPr lang="en-US" sz="1400" dirty="0">
                <a:solidFill>
                  <a:srgbClr val="BCC9D5"/>
                </a:solidFill>
                <a:latin typeface="Courier New" pitchFamily="34" charset="0"/>
                <a:ea typeface="Courier New" pitchFamily="34" charset="-122"/>
                <a:cs typeface="Courier New" pitchFamily="34" charset="-120"/>
              </a:rPr>
              <a:t>1 Read the video</a:t>
            </a:r>
            <a:endParaRPr lang="en-US" sz="1400" dirty="0"/>
          </a:p>
        </p:txBody>
      </p:sp>
      <p:sp>
        <p:nvSpPr>
          <p:cNvPr id="6" name="Text 4"/>
          <p:cNvSpPr txBox="1"/>
          <p:nvPr/>
        </p:nvSpPr>
        <p:spPr>
          <a:xfrm>
            <a:off x="7680960" y="1627632"/>
            <a:ext cx="3931920" cy="457200"/>
          </a:xfrm>
          <a:prstGeom prst="rect">
            <a:avLst/>
          </a:prstGeom>
          <a:noFill/>
          <a:ln/>
        </p:spPr>
        <p:txBody>
          <a:bodyPr wrap="square" lIns="0" tIns="0" rIns="0" bIns="0" rtlCol="0" anchor="ctr"/>
          <a:lstStyle/>
          <a:p>
            <a:pPr indent="0" marL="0">
              <a:buNone/>
            </a:pPr>
            <a:r>
              <a:rPr lang="en-US" sz="1400" dirty="0">
                <a:solidFill>
                  <a:srgbClr val="BCC9D5"/>
                </a:solidFill>
                <a:latin typeface="Courier New" pitchFamily="34" charset="0"/>
                <a:ea typeface="Courier New" pitchFamily="34" charset="-122"/>
                <a:cs typeface="Courier New" pitchFamily="34" charset="-120"/>
              </a:rPr>
              <a:t>2 Find vehicles</a:t>
            </a:r>
            <a:endParaRPr lang="en-US" sz="1400" dirty="0"/>
          </a:p>
        </p:txBody>
      </p:sp>
      <p:sp>
        <p:nvSpPr>
          <p:cNvPr id="7" name="Text 5"/>
          <p:cNvSpPr txBox="1"/>
          <p:nvPr/>
        </p:nvSpPr>
        <p:spPr>
          <a:xfrm>
            <a:off x="7680960" y="2203704"/>
            <a:ext cx="3931920" cy="457200"/>
          </a:xfrm>
          <a:prstGeom prst="rect">
            <a:avLst/>
          </a:prstGeom>
          <a:noFill/>
          <a:ln/>
        </p:spPr>
        <p:txBody>
          <a:bodyPr wrap="square" lIns="0" tIns="0" rIns="0" bIns="0" rtlCol="0" anchor="ctr"/>
          <a:lstStyle/>
          <a:p>
            <a:pPr indent="0" marL="0">
              <a:buNone/>
            </a:pPr>
            <a:r>
              <a:rPr lang="en-US" sz="1400" dirty="0">
                <a:solidFill>
                  <a:srgbClr val="BCC9D5"/>
                </a:solidFill>
                <a:latin typeface="Courier New" pitchFamily="34" charset="0"/>
                <a:ea typeface="Courier New" pitchFamily="34" charset="-122"/>
                <a:cs typeface="Courier New" pitchFamily="34" charset="-120"/>
              </a:rPr>
              <a:t>3 Follow them</a:t>
            </a:r>
            <a:endParaRPr lang="en-US" sz="1400" dirty="0"/>
          </a:p>
        </p:txBody>
      </p:sp>
      <p:sp>
        <p:nvSpPr>
          <p:cNvPr id="8" name="Text 6"/>
          <p:cNvSpPr txBox="1"/>
          <p:nvPr/>
        </p:nvSpPr>
        <p:spPr>
          <a:xfrm>
            <a:off x="7680960" y="2779776"/>
            <a:ext cx="3931920" cy="457200"/>
          </a:xfrm>
          <a:prstGeom prst="rect">
            <a:avLst/>
          </a:prstGeom>
          <a:noFill/>
          <a:ln/>
        </p:spPr>
        <p:txBody>
          <a:bodyPr wrap="square" lIns="0" tIns="0" rIns="0" bIns="0" rtlCol="0" anchor="ctr"/>
          <a:lstStyle/>
          <a:p>
            <a:pPr indent="0" marL="0">
              <a:buNone/>
            </a:pPr>
            <a:r>
              <a:rPr lang="en-US" sz="1400" dirty="0">
                <a:solidFill>
                  <a:srgbClr val="BCC9D5"/>
                </a:solidFill>
                <a:latin typeface="Courier New" pitchFamily="34" charset="0"/>
                <a:ea typeface="Courier New" pitchFamily="34" charset="-122"/>
                <a:cs typeface="Courier New" pitchFamily="34" charset="-120"/>
              </a:rPr>
              <a:t>4 Count crossings</a:t>
            </a:r>
            <a:endParaRPr lang="en-US" sz="1400" dirty="0"/>
          </a:p>
        </p:txBody>
      </p:sp>
      <p:sp>
        <p:nvSpPr>
          <p:cNvPr id="9" name="Text 7"/>
          <p:cNvSpPr txBox="1"/>
          <p:nvPr/>
        </p:nvSpPr>
        <p:spPr>
          <a:xfrm>
            <a:off x="7680960" y="3355848"/>
            <a:ext cx="3931920" cy="457200"/>
          </a:xfrm>
          <a:prstGeom prst="rect">
            <a:avLst/>
          </a:prstGeom>
          <a:noFill/>
          <a:ln/>
        </p:spPr>
        <p:txBody>
          <a:bodyPr wrap="square" lIns="0" tIns="0" rIns="0" bIns="0" rtlCol="0" anchor="ctr"/>
          <a:lstStyle/>
          <a:p>
            <a:pPr indent="0" marL="0">
              <a:buNone/>
            </a:pPr>
            <a:r>
              <a:rPr lang="en-US" sz="1400" dirty="0">
                <a:solidFill>
                  <a:srgbClr val="F0B23F"/>
                </a:solidFill>
                <a:latin typeface="Courier New" pitchFamily="34" charset="0"/>
                <a:ea typeface="Courier New" pitchFamily="34" charset="-122"/>
                <a:cs typeface="Courier New" pitchFamily="34" charset="-120"/>
              </a:rPr>
              <a:t>5 Read the plate</a:t>
            </a:r>
            <a:endParaRPr lang="en-US" sz="1400" dirty="0"/>
          </a:p>
        </p:txBody>
      </p:sp>
      <p:sp>
        <p:nvSpPr>
          <p:cNvPr id="10" name="Text 8"/>
          <p:cNvSpPr txBox="1"/>
          <p:nvPr/>
        </p:nvSpPr>
        <p:spPr>
          <a:xfrm>
            <a:off x="7680960" y="3931920"/>
            <a:ext cx="3931920" cy="457200"/>
          </a:xfrm>
          <a:prstGeom prst="rect">
            <a:avLst/>
          </a:prstGeom>
          <a:noFill/>
          <a:ln/>
        </p:spPr>
        <p:txBody>
          <a:bodyPr wrap="square" lIns="0" tIns="0" rIns="0" bIns="0" rtlCol="0" anchor="ctr"/>
          <a:lstStyle/>
          <a:p>
            <a:pPr indent="0" marL="0">
              <a:buNone/>
            </a:pPr>
            <a:r>
              <a:rPr lang="en-US" sz="1400" dirty="0">
                <a:solidFill>
                  <a:srgbClr val="F0B23F"/>
                </a:solidFill>
                <a:latin typeface="Courier New" pitchFamily="34" charset="0"/>
                <a:ea typeface="Courier New" pitchFamily="34" charset="-122"/>
                <a:cs typeface="Courier New" pitchFamily="34" charset="-120"/>
              </a:rPr>
              <a:t>6 Vote on it</a:t>
            </a:r>
            <a:endParaRPr lang="en-US" sz="1400" dirty="0"/>
          </a:p>
        </p:txBody>
      </p:sp>
      <p:sp>
        <p:nvSpPr>
          <p:cNvPr id="11" name="Text 9"/>
          <p:cNvSpPr txBox="1"/>
          <p:nvPr/>
        </p:nvSpPr>
        <p:spPr>
          <a:xfrm>
            <a:off x="7680960" y="4507992"/>
            <a:ext cx="3931920" cy="457200"/>
          </a:xfrm>
          <a:prstGeom prst="rect">
            <a:avLst/>
          </a:prstGeom>
          <a:noFill/>
          <a:ln/>
        </p:spPr>
        <p:txBody>
          <a:bodyPr wrap="square" lIns="0" tIns="0" rIns="0" bIns="0" rtlCol="0" anchor="ctr"/>
          <a:lstStyle/>
          <a:p>
            <a:pPr indent="0" marL="0">
              <a:buNone/>
            </a:pPr>
            <a:r>
              <a:rPr lang="en-US" sz="1400" dirty="0">
                <a:solidFill>
                  <a:srgbClr val="F0B23F"/>
                </a:solidFill>
                <a:latin typeface="Courier New" pitchFamily="34" charset="0"/>
                <a:ea typeface="Courier New" pitchFamily="34" charset="-122"/>
                <a:cs typeface="Courier New" pitchFamily="34" charset="-120"/>
              </a:rPr>
              <a:t>7 Fix the shape</a:t>
            </a:r>
            <a:endParaRPr lang="en-US" sz="1400" dirty="0"/>
          </a:p>
        </p:txBody>
      </p:sp>
      <p:sp>
        <p:nvSpPr>
          <p:cNvPr id="12" name="Text 10"/>
          <p:cNvSpPr txBox="1"/>
          <p:nvPr/>
        </p:nvSpPr>
        <p:spPr>
          <a:xfrm>
            <a:off x="7680960" y="5084064"/>
            <a:ext cx="3931920" cy="457200"/>
          </a:xfrm>
          <a:prstGeom prst="rect">
            <a:avLst/>
          </a:prstGeom>
          <a:noFill/>
          <a:ln/>
        </p:spPr>
        <p:txBody>
          <a:bodyPr wrap="square" lIns="0" tIns="0" rIns="0" bIns="0" rtlCol="0" anchor="ctr"/>
          <a:lstStyle/>
          <a:p>
            <a:pPr indent="0" marL="0">
              <a:buNone/>
            </a:pPr>
            <a:r>
              <a:rPr lang="en-US" sz="1400" dirty="0">
                <a:solidFill>
                  <a:srgbClr val="F0B23F"/>
                </a:solidFill>
                <a:latin typeface="Courier New" pitchFamily="34" charset="0"/>
                <a:ea typeface="Courier New" pitchFamily="34" charset="-122"/>
                <a:cs typeface="Courier New" pitchFamily="34" charset="-120"/>
              </a:rPr>
              <a:t>8 Announce it</a:t>
            </a:r>
            <a:endParaRPr lang="en-US" sz="1400" dirty="0"/>
          </a:p>
        </p:txBody>
      </p:sp>
      <p:sp>
        <p:nvSpPr>
          <p:cNvPr id="13" name="Text 11"/>
          <p:cNvSpPr txBox="1"/>
          <p:nvPr/>
        </p:nvSpPr>
        <p:spPr>
          <a:xfrm>
            <a:off x="7680960" y="5660136"/>
            <a:ext cx="3931920" cy="457200"/>
          </a:xfrm>
          <a:prstGeom prst="rect">
            <a:avLst/>
          </a:prstGeom>
          <a:noFill/>
          <a:ln/>
        </p:spPr>
        <p:txBody>
          <a:bodyPr wrap="square" lIns="0" tIns="0" rIns="0" bIns="0" rtlCol="0" anchor="ctr"/>
          <a:lstStyle/>
          <a:p>
            <a:pPr indent="0" marL="0">
              <a:buNone/>
            </a:pPr>
            <a:r>
              <a:rPr lang="en-US" sz="1400" dirty="0">
                <a:solidFill>
                  <a:srgbClr val="F0B23F"/>
                </a:solidFill>
                <a:latin typeface="Courier New" pitchFamily="34" charset="0"/>
                <a:ea typeface="Courier New" pitchFamily="34" charset="-122"/>
                <a:cs typeface="Courier New" pitchFamily="34" charset="-120"/>
              </a:rPr>
              <a:t>9 Save it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STEP 1 OF 9</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Read the video, one frame at a time</a:t>
            </a:r>
            <a:endParaRPr lang="en-US" sz="3200" dirty="0"/>
          </a:p>
        </p:txBody>
      </p:sp>
      <p:sp>
        <p:nvSpPr>
          <p:cNvPr id="4" name="Text 2"/>
          <p:cNvSpPr txBox="1"/>
          <p:nvPr/>
        </p:nvSpPr>
        <p:spPr>
          <a:xfrm>
            <a:off x="640080" y="1417320"/>
            <a:ext cx="5486400" cy="320040"/>
          </a:xfrm>
          <a:prstGeom prst="rect">
            <a:avLst/>
          </a:prstGeom>
          <a:noFill/>
          <a:ln/>
        </p:spPr>
        <p:txBody>
          <a:bodyPr wrap="square" lIns="0" tIns="0" rIns="0" bIns="0" rtlCol="0" anchor="ctr"/>
          <a:lstStyle/>
          <a:p>
            <a:pPr indent="0" marL="0">
              <a:buNone/>
            </a:pPr>
            <a:r>
              <a:rPr lang="en-US" sz="1500" dirty="0">
                <a:solidFill>
                  <a:srgbClr val="58BFD6"/>
                </a:solidFill>
                <a:latin typeface="Courier New" pitchFamily="34" charset="0"/>
                <a:ea typeface="Courier New" pitchFamily="34" charset="-122"/>
                <a:cs typeface="Courier New" pitchFamily="34" charset="-120"/>
              </a:rPr>
              <a:t>video_source.py</a:t>
            </a:r>
            <a:endParaRPr lang="en-US" sz="1500" dirty="0"/>
          </a:p>
        </p:txBody>
      </p:sp>
      <p:sp>
        <p:nvSpPr>
          <p:cNvPr id="5" name="Text 3"/>
          <p:cNvSpPr txBox="1"/>
          <p:nvPr/>
        </p:nvSpPr>
        <p:spPr>
          <a:xfrm>
            <a:off x="640080" y="1874520"/>
            <a:ext cx="10911535" cy="54864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A video is not really a video. It is a fast sequence of still pictures. Each still picture is called a frame. This file opens the source and hands out frames one by one.</a:t>
            </a:r>
            <a:endParaRPr lang="en-US" sz="1600" dirty="0"/>
          </a:p>
        </p:txBody>
      </p:sp>
      <p:sp>
        <p:nvSpPr>
          <p:cNvPr id="6" name="Shape 4"/>
          <p:cNvSpPr/>
          <p:nvPr/>
        </p:nvSpPr>
        <p:spPr>
          <a:xfrm>
            <a:off x="640080" y="2560320"/>
            <a:ext cx="5257800" cy="1755648"/>
          </a:xfrm>
          <a:prstGeom prst="roundRect">
            <a:avLst>
              <a:gd name="adj" fmla="val 3125"/>
            </a:avLst>
          </a:prstGeom>
          <a:solidFill>
            <a:srgbClr val="18242F"/>
          </a:solidFill>
          <a:ln w="12700">
            <a:solidFill>
              <a:srgbClr val="2E3F4E"/>
            </a:solidFill>
            <a:prstDash val="solid"/>
          </a:ln>
        </p:spPr>
      </p:sp>
      <p:sp>
        <p:nvSpPr>
          <p:cNvPr id="7" name="Text 5"/>
          <p:cNvSpPr txBox="1"/>
          <p:nvPr/>
        </p:nvSpPr>
        <p:spPr>
          <a:xfrm>
            <a:off x="960120" y="2724912"/>
            <a:ext cx="4572000" cy="320040"/>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It handles three sources identically</a:t>
            </a:r>
            <a:endParaRPr lang="en-US" sz="1500" dirty="0"/>
          </a:p>
        </p:txBody>
      </p:sp>
      <p:sp>
        <p:nvSpPr>
          <p:cNvPr id="8" name="Text 6"/>
          <p:cNvSpPr txBox="1"/>
          <p:nvPr/>
        </p:nvSpPr>
        <p:spPr>
          <a:xfrm>
            <a:off x="960120" y="3054096"/>
            <a:ext cx="4617720" cy="1170432"/>
          </a:xfrm>
          <a:prstGeom prst="rect">
            <a:avLst/>
          </a:prstGeom>
          <a:noFill/>
          <a:ln/>
        </p:spPr>
        <p:txBody>
          <a:bodyPr wrap="square" lIns="0" tIns="0" rIns="0" bIns="0" rtlCol="0" anchor="ctr"/>
          <a:lstStyle/>
          <a:p>
            <a:pPr indent="0" marL="0">
              <a:lnSpc>
                <a:spcPct val="112000"/>
              </a:lnSpc>
              <a:buNone/>
            </a:pPr>
            <a:r>
              <a:rPr lang="en-US" sz="1300" dirty="0">
                <a:solidFill>
                  <a:srgbClr val="BCC9D5"/>
                </a:solidFill>
                <a:latin typeface="Calibri" pitchFamily="34" charset="0"/>
                <a:ea typeface="Calibri" pitchFamily="34" charset="-122"/>
                <a:cs typeface="Calibri" pitchFamily="34" charset="-120"/>
              </a:rPr>
              <a:t>• an mp4 file on disk (our demo)</a:t>
            </a:r>
            <a:endParaRPr lang="en-US" sz="1300" dirty="0"/>
          </a:p>
          <a:p>
            <a:pPr indent="0" marL="0">
              <a:lnSpc>
                <a:spcPct val="112000"/>
              </a:lnSpc>
              <a:buNone/>
            </a:pPr>
            <a:r>
              <a:rPr lang="en-US" sz="1300" dirty="0">
                <a:solidFill>
                  <a:srgbClr val="BCC9D5"/>
                </a:solidFill>
                <a:latin typeface="Calibri" pitchFamily="34" charset="0"/>
                <a:ea typeface="Calibri" pitchFamily="34" charset="-122"/>
                <a:cs typeface="Calibri" pitchFamily="34" charset="-120"/>
              </a:rPr>
              <a:t>• a real CCTV camera over the network</a:t>
            </a:r>
            <a:endParaRPr lang="en-US" sz="1300" dirty="0"/>
          </a:p>
          <a:p>
            <a:pPr indent="0" marL="0">
              <a:lnSpc>
                <a:spcPct val="112000"/>
              </a:lnSpc>
              <a:buNone/>
            </a:pPr>
            <a:r>
              <a:rPr lang="en-US" sz="1300" dirty="0">
                <a:solidFill>
                  <a:srgbClr val="BCC9D5"/>
                </a:solidFill>
                <a:latin typeface="Calibri" pitchFamily="34" charset="0"/>
                <a:ea typeface="Calibri" pitchFamily="34" charset="-122"/>
                <a:cs typeface="Calibri" pitchFamily="34" charset="-120"/>
              </a:rPr>
              <a:t>• a webcam plugged into the laptop</a:t>
            </a:r>
            <a:endParaRPr lang="en-US" sz="1300" dirty="0"/>
          </a:p>
          <a:p>
            <a:pPr indent="0" marL="0">
              <a:lnSpc>
                <a:spcPct val="112000"/>
              </a:lnSpc>
              <a:buNone/>
            </a:pPr>
            <a:endParaRPr lang="en-US" sz="1300" dirty="0"/>
          </a:p>
          <a:p>
            <a:pPr indent="0" marL="0">
              <a:lnSpc>
                <a:spcPct val="112000"/>
              </a:lnSpc>
              <a:buNone/>
            </a:pPr>
            <a:r>
              <a:rPr lang="en-US" sz="1300" dirty="0">
                <a:solidFill>
                  <a:srgbClr val="BCC9D5"/>
                </a:solidFill>
                <a:latin typeface="Calibri" pitchFamily="34" charset="0"/>
                <a:ea typeface="Calibri" pitchFamily="34" charset="-122"/>
                <a:cs typeface="Calibri" pitchFamily="34" charset="-120"/>
              </a:rPr>
              <a:t>The rest of the code never knows which.</a:t>
            </a:r>
            <a:endParaRPr lang="en-US" sz="1300" dirty="0"/>
          </a:p>
        </p:txBody>
      </p:sp>
      <p:sp>
        <p:nvSpPr>
          <p:cNvPr id="9" name="Shape 7"/>
          <p:cNvSpPr/>
          <p:nvPr/>
        </p:nvSpPr>
        <p:spPr>
          <a:xfrm>
            <a:off x="6291072" y="2560320"/>
            <a:ext cx="5257800" cy="1755648"/>
          </a:xfrm>
          <a:prstGeom prst="roundRect">
            <a:avLst>
              <a:gd name="adj" fmla="val 3125"/>
            </a:avLst>
          </a:prstGeom>
          <a:solidFill>
            <a:srgbClr val="213040"/>
          </a:solidFill>
          <a:ln w="12700">
            <a:solidFill>
              <a:srgbClr val="2E3F4E"/>
            </a:solidFill>
            <a:prstDash val="solid"/>
          </a:ln>
        </p:spPr>
      </p:sp>
      <p:sp>
        <p:nvSpPr>
          <p:cNvPr id="10" name="Text 8"/>
          <p:cNvSpPr txBox="1"/>
          <p:nvPr/>
        </p:nvSpPr>
        <p:spPr>
          <a:xfrm>
            <a:off x="6611112" y="2724912"/>
            <a:ext cx="4572000" cy="320040"/>
          </a:xfrm>
          <a:prstGeom prst="rect">
            <a:avLst/>
          </a:prstGeom>
          <a:noFill/>
          <a:ln/>
        </p:spPr>
        <p:txBody>
          <a:bodyPr wrap="square" lIns="0" tIns="0" rIns="0" bIns="0" rtlCol="0" anchor="ctr"/>
          <a:lstStyle/>
          <a:p>
            <a:pPr indent="0" marL="0">
              <a:buNone/>
            </a:pPr>
            <a:r>
              <a:rPr lang="en-US" sz="1500" b="1" dirty="0">
                <a:solidFill>
                  <a:srgbClr val="46C888"/>
                </a:solidFill>
                <a:latin typeface="Arial" pitchFamily="34" charset="0"/>
                <a:ea typeface="Arial" pitchFamily="34" charset="-122"/>
                <a:cs typeface="Arial" pitchFamily="34" charset="-120"/>
              </a:rPr>
              <a:t>It also skips frames on purpose</a:t>
            </a:r>
            <a:endParaRPr lang="en-US" sz="1500" dirty="0"/>
          </a:p>
        </p:txBody>
      </p:sp>
      <p:sp>
        <p:nvSpPr>
          <p:cNvPr id="11" name="Text 9"/>
          <p:cNvSpPr txBox="1"/>
          <p:nvPr/>
        </p:nvSpPr>
        <p:spPr>
          <a:xfrm>
            <a:off x="6611112" y="3054096"/>
            <a:ext cx="4617720" cy="1170432"/>
          </a:xfrm>
          <a:prstGeom prst="rect">
            <a:avLst/>
          </a:prstGeom>
          <a:noFill/>
          <a:ln/>
        </p:spPr>
        <p:txBody>
          <a:bodyPr wrap="square" lIns="0" tIns="0" rIns="0" bIns="0" rtlCol="0" anchor="ctr"/>
          <a:lstStyle/>
          <a:p>
            <a:pPr indent="0" marL="0">
              <a:lnSpc>
                <a:spcPct val="112000"/>
              </a:lnSpc>
              <a:buNone/>
            </a:pPr>
            <a:r>
              <a:rPr lang="en-US" sz="1300" dirty="0">
                <a:solidFill>
                  <a:srgbClr val="BCC9D5"/>
                </a:solidFill>
                <a:latin typeface="Calibri" pitchFamily="34" charset="0"/>
                <a:ea typeface="Calibri" pitchFamily="34" charset="-122"/>
                <a:cs typeface="Calibri" pitchFamily="34" charset="-120"/>
              </a:rPr>
              <a:t>A camera gives 25-30 frames a second. We only process 12.</a:t>
            </a:r>
            <a:endParaRPr lang="en-US" sz="1300" dirty="0"/>
          </a:p>
          <a:p>
            <a:pPr indent="0" marL="0">
              <a:lnSpc>
                <a:spcPct val="112000"/>
              </a:lnSpc>
              <a:buNone/>
            </a:pPr>
            <a:endParaRPr lang="en-US" sz="1300" dirty="0"/>
          </a:p>
          <a:p>
            <a:pPr indent="0" marL="0">
              <a:lnSpc>
                <a:spcPct val="112000"/>
              </a:lnSpc>
              <a:buNone/>
            </a:pPr>
            <a:r>
              <a:rPr lang="en-US" sz="1300" dirty="0">
                <a:solidFill>
                  <a:srgbClr val="BCC9D5"/>
                </a:solidFill>
                <a:latin typeface="Calibri" pitchFamily="34" charset="0"/>
                <a:ea typeface="Calibri" pitchFamily="34" charset="-122"/>
                <a:cs typeface="Calibri" pitchFamily="34" charset="-120"/>
              </a:rPr>
              <a:t>A vehicle does not move much in a fortieth of a second, so the extra frames add nothing and cost twice the work.</a:t>
            </a:r>
            <a:endParaRPr lang="en-US" sz="1300" dirty="0"/>
          </a:p>
        </p:txBody>
      </p:sp>
      <p:sp>
        <p:nvSpPr>
          <p:cNvPr id="12" name="Shape 10"/>
          <p:cNvSpPr/>
          <p:nvPr/>
        </p:nvSpPr>
        <p:spPr>
          <a:xfrm>
            <a:off x="640080" y="4462272"/>
            <a:ext cx="10911535" cy="2011680"/>
          </a:xfrm>
          <a:prstGeom prst="roundRect">
            <a:avLst>
              <a:gd name="adj" fmla="val 2727"/>
            </a:avLst>
          </a:prstGeom>
          <a:solidFill>
            <a:srgbClr val="2A2318"/>
          </a:solidFill>
          <a:ln w="12700">
            <a:solidFill>
              <a:srgbClr val="2E3F4E"/>
            </a:solidFill>
            <a:prstDash val="solid"/>
          </a:ln>
        </p:spPr>
      </p:sp>
      <p:sp>
        <p:nvSpPr>
          <p:cNvPr id="13" name="Text 11"/>
          <p:cNvSpPr txBox="1"/>
          <p:nvPr/>
        </p:nvSpPr>
        <p:spPr>
          <a:xfrm>
            <a:off x="1005840" y="4617720"/>
            <a:ext cx="6400800" cy="320040"/>
          </a:xfrm>
          <a:prstGeom prst="rect">
            <a:avLst/>
          </a:prstGeom>
          <a:noFill/>
          <a:ln/>
        </p:spPr>
        <p:txBody>
          <a:bodyPr wrap="square" lIns="0" tIns="0" rIns="0" bIns="0" rtlCol="0" anchor="ctr"/>
          <a:lstStyle/>
          <a:p>
            <a:pPr indent="0" marL="0">
              <a:buNone/>
            </a:pPr>
            <a:r>
              <a:rPr lang="en-US" sz="1700" b="1" dirty="0">
                <a:solidFill>
                  <a:srgbClr val="F0B23F"/>
                </a:solidFill>
                <a:latin typeface="Arial" pitchFamily="34" charset="0"/>
                <a:ea typeface="Arial" pitchFamily="34" charset="-122"/>
                <a:cs typeface="Arial" pitchFamily="34" charset="-120"/>
              </a:rPr>
              <a:t>The clever bit: one shared clock</a:t>
            </a:r>
            <a:endParaRPr lang="en-US" sz="1700" dirty="0"/>
          </a:p>
        </p:txBody>
      </p:sp>
      <p:sp>
        <p:nvSpPr>
          <p:cNvPr id="14" name="Text 12"/>
          <p:cNvSpPr txBox="1"/>
          <p:nvPr/>
        </p:nvSpPr>
        <p:spPr>
          <a:xfrm>
            <a:off x="1005840" y="4983480"/>
            <a:ext cx="10180015" cy="1371600"/>
          </a:xfrm>
          <a:prstGeom prst="rect">
            <a:avLst/>
          </a:prstGeom>
          <a:noFill/>
          <a:ln/>
        </p:spPr>
        <p:txBody>
          <a:bodyPr wrap="square" lIns="0" tIns="0" rIns="0" bIns="0" rtlCol="0" anchor="ctr"/>
          <a:lstStyle/>
          <a:p>
            <a:pPr indent="0" marL="0">
              <a:lnSpc>
                <a:spcPct val="112000"/>
              </a:lnSpc>
              <a:buNone/>
            </a:pPr>
            <a:r>
              <a:rPr lang="en-US" sz="1300" dirty="0">
                <a:solidFill>
                  <a:srgbClr val="BCC9D5"/>
                </a:solidFill>
                <a:latin typeface="Calibri" pitchFamily="34" charset="0"/>
                <a:ea typeface="Calibri" pitchFamily="34" charset="-122"/>
                <a:cs typeface="Calibri" pitchFamily="34" charset="-120"/>
              </a:rPr>
              <a:t>Our three clips were filmed separately, so on their own they all start at "zero seconds". That is useless — we could never say a vehicle passed Camera 1 before Camera 2.</a:t>
            </a:r>
            <a:endParaRPr lang="en-US" sz="1300" dirty="0"/>
          </a:p>
          <a:p>
            <a:pPr indent="0" marL="0">
              <a:lnSpc>
                <a:spcPct val="112000"/>
              </a:lnSpc>
              <a:buNone/>
            </a:pPr>
            <a:endParaRPr lang="en-US" sz="1300" dirty="0"/>
          </a:p>
          <a:p>
            <a:pPr indent="0" marL="0">
              <a:lnSpc>
                <a:spcPct val="112000"/>
              </a:lnSpc>
              <a:buNone/>
            </a:pPr>
            <a:r>
              <a:rPr lang="en-US" sz="1300" dirty="0">
                <a:solidFill>
                  <a:srgbClr val="BCC9D5"/>
                </a:solidFill>
                <a:latin typeface="Calibri" pitchFamily="34" charset="0"/>
                <a:ea typeface="Calibri" pitchFamily="34" charset="-122"/>
                <a:cs typeface="Calibri" pitchFamily="34" charset="-120"/>
              </a:rPr>
              <a:t>So each camera has an offset in its settings: 0 seconds, 240 seconds, 640 seconds. Every frame gets stamped with the shared time. Now three separate recordings behave like three real cameras on one city clock.</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STEP 2 OF 9</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Find the vehicles — this is YOLO</a:t>
            </a:r>
            <a:endParaRPr lang="en-US" sz="3200" dirty="0"/>
          </a:p>
        </p:txBody>
      </p:sp>
      <p:sp>
        <p:nvSpPr>
          <p:cNvPr id="4" name="Text 2"/>
          <p:cNvSpPr txBox="1"/>
          <p:nvPr/>
        </p:nvSpPr>
        <p:spPr>
          <a:xfrm>
            <a:off x="640080" y="1417320"/>
            <a:ext cx="5486400" cy="320040"/>
          </a:xfrm>
          <a:prstGeom prst="rect">
            <a:avLst/>
          </a:prstGeom>
          <a:noFill/>
          <a:ln/>
        </p:spPr>
        <p:txBody>
          <a:bodyPr wrap="square" lIns="0" tIns="0" rIns="0" bIns="0" rtlCol="0" anchor="ctr"/>
          <a:lstStyle/>
          <a:p>
            <a:pPr indent="0" marL="0">
              <a:buNone/>
            </a:pPr>
            <a:r>
              <a:rPr lang="en-US" sz="1500" dirty="0">
                <a:solidFill>
                  <a:srgbClr val="58BFD6"/>
                </a:solidFill>
                <a:latin typeface="Courier New" pitchFamily="34" charset="0"/>
                <a:ea typeface="Courier New" pitchFamily="34" charset="-122"/>
                <a:cs typeface="Courier New" pitchFamily="34" charset="-120"/>
              </a:rPr>
              <a:t>detector.py</a:t>
            </a:r>
            <a:endParaRPr lang="en-US" sz="1500" dirty="0"/>
          </a:p>
        </p:txBody>
      </p:sp>
      <p:sp>
        <p:nvSpPr>
          <p:cNvPr id="5" name="Shape 3"/>
          <p:cNvSpPr/>
          <p:nvPr/>
        </p:nvSpPr>
        <p:spPr>
          <a:xfrm>
            <a:off x="640080" y="1874520"/>
            <a:ext cx="10911535" cy="1143000"/>
          </a:xfrm>
          <a:prstGeom prst="roundRect">
            <a:avLst>
              <a:gd name="adj" fmla="val 4800"/>
            </a:avLst>
          </a:prstGeom>
          <a:solidFill>
            <a:srgbClr val="213040"/>
          </a:solidFill>
          <a:ln w="12700">
            <a:solidFill>
              <a:srgbClr val="2E3F4E"/>
            </a:solidFill>
            <a:prstDash val="solid"/>
          </a:ln>
        </p:spPr>
      </p:sp>
      <p:sp>
        <p:nvSpPr>
          <p:cNvPr id="6" name="Text 4"/>
          <p:cNvSpPr txBox="1"/>
          <p:nvPr/>
        </p:nvSpPr>
        <p:spPr>
          <a:xfrm>
            <a:off x="1005840" y="2057400"/>
            <a:ext cx="5943600" cy="365760"/>
          </a:xfrm>
          <a:prstGeom prst="rect">
            <a:avLst/>
          </a:prstGeom>
          <a:noFill/>
          <a:ln/>
        </p:spPr>
        <p:txBody>
          <a:bodyPr wrap="square" lIns="0" tIns="0" rIns="0" bIns="0" rtlCol="0" anchor="ctr"/>
          <a:lstStyle/>
          <a:p>
            <a:pPr indent="0" marL="0">
              <a:buNone/>
            </a:pPr>
            <a:r>
              <a:rPr lang="en-US" sz="2100" b="1" dirty="0">
                <a:solidFill>
                  <a:srgbClr val="F0B23F"/>
                </a:solidFill>
                <a:latin typeface="Arial" pitchFamily="34" charset="0"/>
                <a:ea typeface="Arial" pitchFamily="34" charset="-122"/>
                <a:cs typeface="Arial" pitchFamily="34" charset="-120"/>
              </a:rPr>
              <a:t>YOLO = "You Only Look Once"</a:t>
            </a:r>
            <a:endParaRPr lang="en-US" sz="2100" dirty="0"/>
          </a:p>
        </p:txBody>
      </p:sp>
      <p:sp>
        <p:nvSpPr>
          <p:cNvPr id="7" name="Text 5"/>
          <p:cNvSpPr txBox="1"/>
          <p:nvPr/>
        </p:nvSpPr>
        <p:spPr>
          <a:xfrm>
            <a:off x="1005840" y="2468880"/>
            <a:ext cx="10180015" cy="411480"/>
          </a:xfrm>
          <a:prstGeom prst="rect">
            <a:avLst/>
          </a:prstGeom>
          <a:noFill/>
          <a:ln/>
        </p:spPr>
        <p:txBody>
          <a:bodyPr wrap="square" lIns="0" tIns="0" rIns="0" bIns="0" rtlCol="0" anchor="ctr"/>
          <a:lstStyle/>
          <a:p>
            <a:pPr indent="0" marL="0">
              <a:buNone/>
            </a:pPr>
            <a:r>
              <a:rPr lang="en-US" sz="1500" dirty="0">
                <a:solidFill>
                  <a:srgbClr val="BCC9D5"/>
                </a:solidFill>
                <a:latin typeface="Calibri" pitchFamily="34" charset="0"/>
                <a:ea typeface="Calibri" pitchFamily="34" charset="-122"/>
                <a:cs typeface="Calibri" pitchFamily="34" charset="-120"/>
              </a:rPr>
              <a:t>You give it one picture. It gives you back boxes.  "Car here, 0.91 sure. Bus here, 0.87 sure."</a:t>
            </a:r>
            <a:endParaRPr lang="en-US" sz="1500" dirty="0"/>
          </a:p>
        </p:txBody>
      </p:sp>
      <p:sp>
        <p:nvSpPr>
          <p:cNvPr id="8" name="Text 6"/>
          <p:cNvSpPr txBox="1"/>
          <p:nvPr/>
        </p:nvSpPr>
        <p:spPr>
          <a:xfrm>
            <a:off x="640080" y="3246120"/>
            <a:ext cx="10911535" cy="77724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Why is it called that? Older detectors chopped a picture into hundreds of overlapping patches and asked "is there a car in THIS patch?" over and over. Slow. YOLO looks at the whole picture a single time and produces every box at once. That is the entire reason it is fast enough for video.</a:t>
            </a:r>
            <a:endParaRPr lang="en-US" sz="1600" dirty="0"/>
          </a:p>
        </p:txBody>
      </p:sp>
      <p:sp>
        <p:nvSpPr>
          <p:cNvPr id="9" name="Shape 7"/>
          <p:cNvSpPr/>
          <p:nvPr/>
        </p:nvSpPr>
        <p:spPr>
          <a:xfrm>
            <a:off x="640080" y="4160520"/>
            <a:ext cx="3392424" cy="1417320"/>
          </a:xfrm>
          <a:prstGeom prst="roundRect">
            <a:avLst>
              <a:gd name="adj" fmla="val 3871"/>
            </a:avLst>
          </a:prstGeom>
          <a:solidFill>
            <a:srgbClr val="18242F"/>
          </a:solidFill>
          <a:ln w="12700">
            <a:solidFill>
              <a:srgbClr val="2E3F4E"/>
            </a:solidFill>
            <a:prstDash val="solid"/>
          </a:ln>
        </p:spPr>
      </p:sp>
      <p:sp>
        <p:nvSpPr>
          <p:cNvPr id="10" name="Text 8"/>
          <p:cNvSpPr txBox="1"/>
          <p:nvPr/>
        </p:nvSpPr>
        <p:spPr>
          <a:xfrm>
            <a:off x="896112" y="4343400"/>
            <a:ext cx="2926080" cy="292608"/>
          </a:xfrm>
          <a:prstGeom prst="rect">
            <a:avLst/>
          </a:prstGeom>
          <a:noFill/>
          <a:ln/>
        </p:spPr>
        <p:txBody>
          <a:bodyPr wrap="square" lIns="0" tIns="0" rIns="0" bIns="0" rtlCol="0" anchor="ctr"/>
          <a:lstStyle/>
          <a:p>
            <a:pPr indent="0" marL="0">
              <a:buNone/>
            </a:pPr>
            <a:r>
              <a:rPr lang="en-US" sz="1300" b="1" dirty="0">
                <a:solidFill>
                  <a:srgbClr val="58BFD6"/>
                </a:solidFill>
                <a:latin typeface="Arial" pitchFamily="34" charset="0"/>
                <a:ea typeface="Arial" pitchFamily="34" charset="-122"/>
                <a:cs typeface="Arial" pitchFamily="34" charset="-120"/>
              </a:rPr>
              <a:t>Which one we use</a:t>
            </a:r>
            <a:endParaRPr lang="en-US" sz="1300" dirty="0"/>
          </a:p>
        </p:txBody>
      </p:sp>
      <p:sp>
        <p:nvSpPr>
          <p:cNvPr id="11" name="Text 9"/>
          <p:cNvSpPr txBox="1"/>
          <p:nvPr/>
        </p:nvSpPr>
        <p:spPr>
          <a:xfrm>
            <a:off x="896112" y="4663440"/>
            <a:ext cx="2926080" cy="868680"/>
          </a:xfrm>
          <a:prstGeom prst="rect">
            <a:avLst/>
          </a:prstGeom>
          <a:noFill/>
          <a:ln/>
        </p:spPr>
        <p:txBody>
          <a:bodyPr wrap="square" lIns="0" tIns="0" rIns="0" bIns="0" rtlCol="0" anchor="ctr"/>
          <a:lstStyle/>
          <a:p>
            <a:pPr indent="0" marL="0">
              <a:lnSpc>
                <a:spcPct val="110000"/>
              </a:lnSpc>
              <a:buNone/>
            </a:pPr>
            <a:r>
              <a:rPr lang="en-US" sz="1250" dirty="0">
                <a:solidFill>
                  <a:srgbClr val="BCC9D5"/>
                </a:solidFill>
                <a:latin typeface="Calibri" pitchFamily="34" charset="0"/>
                <a:ea typeface="Calibri" pitchFamily="34" charset="-122"/>
                <a:cs typeface="Calibri" pitchFamily="34" charset="-120"/>
              </a:rPr>
              <a:t>yolo11n — the "nano" size. The smallest and fastest of the family.</a:t>
            </a:r>
            <a:endParaRPr lang="en-US" sz="1250" dirty="0"/>
          </a:p>
        </p:txBody>
      </p:sp>
      <p:sp>
        <p:nvSpPr>
          <p:cNvPr id="12" name="Shape 10"/>
          <p:cNvSpPr/>
          <p:nvPr/>
        </p:nvSpPr>
        <p:spPr>
          <a:xfrm>
            <a:off x="4398264" y="4160520"/>
            <a:ext cx="3392424" cy="1417320"/>
          </a:xfrm>
          <a:prstGeom prst="roundRect">
            <a:avLst>
              <a:gd name="adj" fmla="val 3871"/>
            </a:avLst>
          </a:prstGeom>
          <a:solidFill>
            <a:srgbClr val="18242F"/>
          </a:solidFill>
          <a:ln w="12700">
            <a:solidFill>
              <a:srgbClr val="2E3F4E"/>
            </a:solidFill>
            <a:prstDash val="solid"/>
          </a:ln>
        </p:spPr>
      </p:sp>
      <p:sp>
        <p:nvSpPr>
          <p:cNvPr id="13" name="Text 11"/>
          <p:cNvSpPr txBox="1"/>
          <p:nvPr/>
        </p:nvSpPr>
        <p:spPr>
          <a:xfrm>
            <a:off x="4654296" y="4343400"/>
            <a:ext cx="2926080" cy="292608"/>
          </a:xfrm>
          <a:prstGeom prst="rect">
            <a:avLst/>
          </a:prstGeom>
          <a:noFill/>
          <a:ln/>
        </p:spPr>
        <p:txBody>
          <a:bodyPr wrap="square" lIns="0" tIns="0" rIns="0" bIns="0" rtlCol="0" anchor="ctr"/>
          <a:lstStyle/>
          <a:p>
            <a:pPr indent="0" marL="0">
              <a:buNone/>
            </a:pPr>
            <a:r>
              <a:rPr lang="en-US" sz="1300" b="1" dirty="0">
                <a:solidFill>
                  <a:srgbClr val="58BFD6"/>
                </a:solidFill>
                <a:latin typeface="Arial" pitchFamily="34" charset="0"/>
                <a:ea typeface="Arial" pitchFamily="34" charset="-122"/>
                <a:cs typeface="Arial" pitchFamily="34" charset="-120"/>
              </a:rPr>
              <a:t>What it already knows</a:t>
            </a:r>
            <a:endParaRPr lang="en-US" sz="1300" dirty="0"/>
          </a:p>
        </p:txBody>
      </p:sp>
      <p:sp>
        <p:nvSpPr>
          <p:cNvPr id="14" name="Text 12"/>
          <p:cNvSpPr txBox="1"/>
          <p:nvPr/>
        </p:nvSpPr>
        <p:spPr>
          <a:xfrm>
            <a:off x="4654296" y="4663440"/>
            <a:ext cx="2926080" cy="868680"/>
          </a:xfrm>
          <a:prstGeom prst="rect">
            <a:avLst/>
          </a:prstGeom>
          <a:noFill/>
          <a:ln/>
        </p:spPr>
        <p:txBody>
          <a:bodyPr wrap="square" lIns="0" tIns="0" rIns="0" bIns="0" rtlCol="0" anchor="ctr"/>
          <a:lstStyle/>
          <a:p>
            <a:pPr indent="0" marL="0">
              <a:lnSpc>
                <a:spcPct val="110000"/>
              </a:lnSpc>
              <a:buNone/>
            </a:pPr>
            <a:r>
              <a:rPr lang="en-US" sz="1250" dirty="0">
                <a:solidFill>
                  <a:srgbClr val="BCC9D5"/>
                </a:solidFill>
                <a:latin typeface="Calibri" pitchFamily="34" charset="0"/>
                <a:ea typeface="Calibri" pitchFamily="34" charset="-122"/>
                <a:cs typeface="Calibri" pitchFamily="34" charset="-120"/>
              </a:rPr>
              <a:t>car, bus, truck, motorcycle, bicycle. It learned these from a big public photo collection.</a:t>
            </a:r>
            <a:endParaRPr lang="en-US" sz="1250" dirty="0"/>
          </a:p>
        </p:txBody>
      </p:sp>
      <p:sp>
        <p:nvSpPr>
          <p:cNvPr id="15" name="Shape 13"/>
          <p:cNvSpPr/>
          <p:nvPr/>
        </p:nvSpPr>
        <p:spPr>
          <a:xfrm>
            <a:off x="8156448" y="4160520"/>
            <a:ext cx="3392424" cy="1417320"/>
          </a:xfrm>
          <a:prstGeom prst="roundRect">
            <a:avLst>
              <a:gd name="adj" fmla="val 3871"/>
            </a:avLst>
          </a:prstGeom>
          <a:solidFill>
            <a:srgbClr val="18242F"/>
          </a:solidFill>
          <a:ln w="12700">
            <a:solidFill>
              <a:srgbClr val="2E3F4E"/>
            </a:solidFill>
            <a:prstDash val="solid"/>
          </a:ln>
        </p:spPr>
      </p:sp>
      <p:sp>
        <p:nvSpPr>
          <p:cNvPr id="16" name="Text 14"/>
          <p:cNvSpPr txBox="1"/>
          <p:nvPr/>
        </p:nvSpPr>
        <p:spPr>
          <a:xfrm>
            <a:off x="8412480" y="4343400"/>
            <a:ext cx="2926080" cy="292608"/>
          </a:xfrm>
          <a:prstGeom prst="rect">
            <a:avLst/>
          </a:prstGeom>
          <a:noFill/>
          <a:ln/>
        </p:spPr>
        <p:txBody>
          <a:bodyPr wrap="square" lIns="0" tIns="0" rIns="0" bIns="0" rtlCol="0" anchor="ctr"/>
          <a:lstStyle/>
          <a:p>
            <a:pPr indent="0" marL="0">
              <a:buNone/>
            </a:pPr>
            <a:r>
              <a:rPr lang="en-US" sz="1300" b="1" dirty="0">
                <a:solidFill>
                  <a:srgbClr val="58BFD6"/>
                </a:solidFill>
                <a:latin typeface="Arial" pitchFamily="34" charset="0"/>
                <a:ea typeface="Arial" pitchFamily="34" charset="-122"/>
                <a:cs typeface="Arial" pitchFamily="34" charset="-120"/>
              </a:rPr>
              <a:t>What we changed</a:t>
            </a:r>
            <a:endParaRPr lang="en-US" sz="1300" dirty="0"/>
          </a:p>
        </p:txBody>
      </p:sp>
      <p:sp>
        <p:nvSpPr>
          <p:cNvPr id="17" name="Text 15"/>
          <p:cNvSpPr txBox="1"/>
          <p:nvPr/>
        </p:nvSpPr>
        <p:spPr>
          <a:xfrm>
            <a:off x="8412480" y="4663440"/>
            <a:ext cx="2926080" cy="868680"/>
          </a:xfrm>
          <a:prstGeom prst="rect">
            <a:avLst/>
          </a:prstGeom>
          <a:noFill/>
          <a:ln/>
        </p:spPr>
        <p:txBody>
          <a:bodyPr wrap="square" lIns="0" tIns="0" rIns="0" bIns="0" rtlCol="0" anchor="ctr"/>
          <a:lstStyle/>
          <a:p>
            <a:pPr indent="0" marL="0">
              <a:lnSpc>
                <a:spcPct val="110000"/>
              </a:lnSpc>
              <a:buNone/>
            </a:pPr>
            <a:r>
              <a:rPr lang="en-US" sz="1250" dirty="0">
                <a:solidFill>
                  <a:srgbClr val="BCC9D5"/>
                </a:solidFill>
                <a:latin typeface="Calibri" pitchFamily="34" charset="0"/>
                <a:ea typeface="Calibri" pitchFamily="34" charset="-122"/>
                <a:cs typeface="Calibri" pitchFamily="34" charset="-120"/>
              </a:rPr>
              <a:t>Nothing. We did not train it. We run it as it came, free.</a:t>
            </a:r>
            <a:endParaRPr lang="en-US" sz="1250" dirty="0"/>
          </a:p>
        </p:txBody>
      </p:sp>
      <p:sp>
        <p:nvSpPr>
          <p:cNvPr id="18" name="Shape 16"/>
          <p:cNvSpPr/>
          <p:nvPr/>
        </p:nvSpPr>
        <p:spPr>
          <a:xfrm>
            <a:off x="640080" y="5760720"/>
            <a:ext cx="10911535" cy="777240"/>
          </a:xfrm>
          <a:prstGeom prst="roundRect">
            <a:avLst>
              <a:gd name="adj" fmla="val 7059"/>
            </a:avLst>
          </a:prstGeom>
          <a:solidFill>
            <a:srgbClr val="2A1A18"/>
          </a:solidFill>
          <a:ln w="12700">
            <a:solidFill>
              <a:srgbClr val="2E3F4E"/>
            </a:solidFill>
            <a:prstDash val="solid"/>
          </a:ln>
        </p:spPr>
      </p:sp>
      <p:sp>
        <p:nvSpPr>
          <p:cNvPr id="19" name="Text 17"/>
          <p:cNvSpPr txBox="1"/>
          <p:nvPr/>
        </p:nvSpPr>
        <p:spPr>
          <a:xfrm>
            <a:off x="1005840" y="5760720"/>
            <a:ext cx="10180015" cy="777240"/>
          </a:xfrm>
          <a:prstGeom prst="rect">
            <a:avLst/>
          </a:prstGeom>
          <a:noFill/>
          <a:ln/>
        </p:spPr>
        <p:txBody>
          <a:bodyPr wrap="square" lIns="0" tIns="0" rIns="0" bIns="0" rtlCol="0" anchor="ctr"/>
          <a:lstStyle/>
          <a:p>
            <a:pPr indent="0" marL="0">
              <a:buNone/>
            </a:pPr>
            <a:r>
              <a:rPr lang="en-US" sz="1350" dirty="0">
                <a:solidFill>
                  <a:srgbClr val="F0A090"/>
                </a:solidFill>
                <a:latin typeface="Calibri" pitchFamily="34" charset="0"/>
                <a:ea typeface="Calibri" pitchFamily="34" charset="-122"/>
                <a:cs typeface="Calibri" pitchFamily="34" charset="-120"/>
              </a:rPr>
              <a:t>Honest limitation: the model was never taught what an auto-rickshaw is. There is no such category in the photo collection it learned from, so autos get mistaken for a car or truck, or missed.</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STEP 3 OF 9</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Follow each vehicle — this is ByteTrack</a:t>
            </a:r>
            <a:endParaRPr lang="en-US" sz="3200" dirty="0"/>
          </a:p>
        </p:txBody>
      </p:sp>
      <p:sp>
        <p:nvSpPr>
          <p:cNvPr id="4" name="Text 2"/>
          <p:cNvSpPr txBox="1"/>
          <p:nvPr/>
        </p:nvSpPr>
        <p:spPr>
          <a:xfrm>
            <a:off x="640080" y="1417320"/>
            <a:ext cx="5486400" cy="320040"/>
          </a:xfrm>
          <a:prstGeom prst="rect">
            <a:avLst/>
          </a:prstGeom>
          <a:noFill/>
          <a:ln/>
        </p:spPr>
        <p:txBody>
          <a:bodyPr wrap="square" lIns="0" tIns="0" rIns="0" bIns="0" rtlCol="0" anchor="ctr"/>
          <a:lstStyle/>
          <a:p>
            <a:pPr indent="0" marL="0">
              <a:buNone/>
            </a:pPr>
            <a:r>
              <a:rPr lang="en-US" sz="1500" dirty="0">
                <a:solidFill>
                  <a:srgbClr val="58BFD6"/>
                </a:solidFill>
                <a:latin typeface="Courier New" pitchFamily="34" charset="0"/>
                <a:ea typeface="Courier New" pitchFamily="34" charset="-122"/>
                <a:cs typeface="Courier New" pitchFamily="34" charset="-120"/>
              </a:rPr>
              <a:t>tracker.py</a:t>
            </a:r>
            <a:endParaRPr lang="en-US" sz="1500" dirty="0"/>
          </a:p>
        </p:txBody>
      </p:sp>
      <p:sp>
        <p:nvSpPr>
          <p:cNvPr id="5" name="Shape 3"/>
          <p:cNvSpPr/>
          <p:nvPr/>
        </p:nvSpPr>
        <p:spPr>
          <a:xfrm>
            <a:off x="640080" y="1874520"/>
            <a:ext cx="10911535" cy="1188720"/>
          </a:xfrm>
          <a:prstGeom prst="roundRect">
            <a:avLst>
              <a:gd name="adj" fmla="val 4615"/>
            </a:avLst>
          </a:prstGeom>
          <a:solidFill>
            <a:srgbClr val="2A1A18"/>
          </a:solidFill>
          <a:ln w="12700">
            <a:solidFill>
              <a:srgbClr val="2E3F4E"/>
            </a:solidFill>
            <a:prstDash val="solid"/>
          </a:ln>
        </p:spPr>
      </p:sp>
      <p:sp>
        <p:nvSpPr>
          <p:cNvPr id="6" name="Text 4"/>
          <p:cNvSpPr txBox="1"/>
          <p:nvPr/>
        </p:nvSpPr>
        <p:spPr>
          <a:xfrm>
            <a:off x="1005840" y="2048256"/>
            <a:ext cx="7315200" cy="347472"/>
          </a:xfrm>
          <a:prstGeom prst="rect">
            <a:avLst/>
          </a:prstGeom>
          <a:noFill/>
          <a:ln/>
        </p:spPr>
        <p:txBody>
          <a:bodyPr wrap="square" lIns="0" tIns="0" rIns="0" bIns="0" rtlCol="0" anchor="ctr"/>
          <a:lstStyle/>
          <a:p>
            <a:pPr indent="0" marL="0">
              <a:buNone/>
            </a:pPr>
            <a:r>
              <a:rPr lang="en-US" sz="1800" b="1" dirty="0">
                <a:solidFill>
                  <a:srgbClr val="EC6055"/>
                </a:solidFill>
                <a:latin typeface="Arial" pitchFamily="34" charset="0"/>
                <a:ea typeface="Arial" pitchFamily="34" charset="-122"/>
                <a:cs typeface="Arial" pitchFamily="34" charset="-120"/>
              </a:rPr>
              <a:t>The problem: YOLO has no memory at all.</a:t>
            </a:r>
            <a:endParaRPr lang="en-US" sz="1800" dirty="0"/>
          </a:p>
        </p:txBody>
      </p:sp>
      <p:sp>
        <p:nvSpPr>
          <p:cNvPr id="7" name="Text 5"/>
          <p:cNvSpPr txBox="1"/>
          <p:nvPr/>
        </p:nvSpPr>
        <p:spPr>
          <a:xfrm>
            <a:off x="1005840" y="2450592"/>
            <a:ext cx="10180015" cy="457200"/>
          </a:xfrm>
          <a:prstGeom prst="rect">
            <a:avLst/>
          </a:prstGeom>
          <a:noFill/>
          <a:ln/>
        </p:spPr>
        <p:txBody>
          <a:bodyPr wrap="square" lIns="0" tIns="0" rIns="0" bIns="0" rtlCol="0" anchor="ctr"/>
          <a:lstStyle/>
          <a:p>
            <a:pPr indent="0" marL="0">
              <a:buNone/>
            </a:pPr>
            <a:r>
              <a:rPr lang="en-US" sz="1400" dirty="0">
                <a:solidFill>
                  <a:srgbClr val="BCC9D5"/>
                </a:solidFill>
                <a:latin typeface="Calibri" pitchFamily="34" charset="0"/>
                <a:ea typeface="Calibri" pitchFamily="34" charset="-122"/>
                <a:cs typeface="Calibri" pitchFamily="34" charset="-120"/>
              </a:rPr>
              <a:t>Frame 1: "a car on the left." Frame 2: "a car slightly to the right." YOLO does not know that is the same car. It has never seen frame 1. It sees each picture completely fresh.</a:t>
            </a:r>
            <a:endParaRPr lang="en-US" sz="1400" dirty="0"/>
          </a:p>
        </p:txBody>
      </p:sp>
      <p:sp>
        <p:nvSpPr>
          <p:cNvPr id="8" name="Shape 6"/>
          <p:cNvSpPr/>
          <p:nvPr/>
        </p:nvSpPr>
        <p:spPr>
          <a:xfrm>
            <a:off x="640080" y="3291840"/>
            <a:ext cx="10911535" cy="1188720"/>
          </a:xfrm>
          <a:prstGeom prst="roundRect">
            <a:avLst>
              <a:gd name="adj" fmla="val 4615"/>
            </a:avLst>
          </a:prstGeom>
          <a:solidFill>
            <a:srgbClr val="213040"/>
          </a:solidFill>
          <a:ln w="12700">
            <a:solidFill>
              <a:srgbClr val="2E3F4E"/>
            </a:solidFill>
            <a:prstDash val="solid"/>
          </a:ln>
        </p:spPr>
      </p:sp>
      <p:sp>
        <p:nvSpPr>
          <p:cNvPr id="9" name="Text 7"/>
          <p:cNvSpPr txBox="1"/>
          <p:nvPr/>
        </p:nvSpPr>
        <p:spPr>
          <a:xfrm>
            <a:off x="1005840" y="3465576"/>
            <a:ext cx="7315200" cy="347472"/>
          </a:xfrm>
          <a:prstGeom prst="rect">
            <a:avLst/>
          </a:prstGeom>
          <a:noFill/>
          <a:ln/>
        </p:spPr>
        <p:txBody>
          <a:bodyPr wrap="square" lIns="0" tIns="0" rIns="0" bIns="0" rtlCol="0" anchor="ctr"/>
          <a:lstStyle/>
          <a:p>
            <a:pPr indent="0" marL="0">
              <a:buNone/>
            </a:pPr>
            <a:r>
              <a:rPr lang="en-US" sz="1800" b="1" dirty="0">
                <a:solidFill>
                  <a:srgbClr val="46C888"/>
                </a:solidFill>
                <a:latin typeface="Arial" pitchFamily="34" charset="0"/>
                <a:ea typeface="Arial" pitchFamily="34" charset="-122"/>
                <a:cs typeface="Arial" pitchFamily="34" charset="-120"/>
              </a:rPr>
              <a:t>ByteTrack gives it a memory.</a:t>
            </a:r>
            <a:endParaRPr lang="en-US" sz="1800" dirty="0"/>
          </a:p>
        </p:txBody>
      </p:sp>
      <p:sp>
        <p:nvSpPr>
          <p:cNvPr id="10" name="Text 8"/>
          <p:cNvSpPr txBox="1"/>
          <p:nvPr/>
        </p:nvSpPr>
        <p:spPr>
          <a:xfrm>
            <a:off x="1005840" y="3867912"/>
            <a:ext cx="10180015" cy="457200"/>
          </a:xfrm>
          <a:prstGeom prst="rect">
            <a:avLst/>
          </a:prstGeom>
          <a:noFill/>
          <a:ln/>
        </p:spPr>
        <p:txBody>
          <a:bodyPr wrap="square" lIns="0" tIns="0" rIns="0" bIns="0" rtlCol="0" anchor="ctr"/>
          <a:lstStyle/>
          <a:p>
            <a:pPr indent="0" marL="0">
              <a:buNone/>
            </a:pPr>
            <a:r>
              <a:rPr lang="en-US" sz="1400" dirty="0">
                <a:solidFill>
                  <a:srgbClr val="BCC9D5"/>
                </a:solidFill>
                <a:latin typeface="Calibri" pitchFamily="34" charset="0"/>
                <a:ea typeface="Calibri" pitchFamily="34" charset="-122"/>
                <a:cs typeface="Calibri" pitchFamily="34" charset="-120"/>
              </a:rPr>
              <a:t>It predicts where each box should move to next, matches that prediction against the new frame, and keeps a number stuck to the vehicle. Car #14 stays car #14 the whole time it is on screen.</a:t>
            </a:r>
            <a:endParaRPr lang="en-US" sz="1400" dirty="0"/>
          </a:p>
        </p:txBody>
      </p:sp>
      <p:sp>
        <p:nvSpPr>
          <p:cNvPr id="11" name="Text 9"/>
          <p:cNvSpPr txBox="1"/>
          <p:nvPr/>
        </p:nvSpPr>
        <p:spPr>
          <a:xfrm>
            <a:off x="640080" y="4617720"/>
            <a:ext cx="10911535" cy="310896"/>
          </a:xfrm>
          <a:prstGeom prst="rect">
            <a:avLst/>
          </a:prstGeom>
          <a:noFill/>
          <a:ln/>
        </p:spPr>
        <p:txBody>
          <a:bodyPr wrap="square" lIns="0" tIns="0" rIns="0" bIns="0" rtlCol="0" anchor="ctr"/>
          <a:lstStyle/>
          <a:p>
            <a:pPr indent="0" marL="0">
              <a:lnSpc>
                <a:spcPct val="115000"/>
              </a:lnSpc>
              <a:buNone/>
            </a:pPr>
            <a:r>
              <a:rPr lang="en-US" sz="1400" dirty="0">
                <a:solidFill>
                  <a:srgbClr val="8496A6"/>
                </a:solidFill>
                <a:latin typeface="Calibri" pitchFamily="34" charset="0"/>
                <a:ea typeface="Calibri" pitchFamily="34" charset="-122"/>
                <a:cs typeface="Calibri" pitchFamily="34" charset="-120"/>
              </a:rPr>
              <a:t>Why we picked this one over others:</a:t>
            </a:r>
            <a:endParaRPr lang="en-US" sz="1400" dirty="0"/>
          </a:p>
        </p:txBody>
      </p:sp>
      <p:sp>
        <p:nvSpPr>
          <p:cNvPr id="12" name="Shape 10"/>
          <p:cNvSpPr/>
          <p:nvPr/>
        </p:nvSpPr>
        <p:spPr>
          <a:xfrm>
            <a:off x="640080" y="5074920"/>
            <a:ext cx="10911535" cy="1371600"/>
          </a:xfrm>
          <a:prstGeom prst="roundRect">
            <a:avLst>
              <a:gd name="adj" fmla="val 4000"/>
            </a:avLst>
          </a:prstGeom>
          <a:solidFill>
            <a:srgbClr val="18242F"/>
          </a:solidFill>
          <a:ln w="12700">
            <a:solidFill>
              <a:srgbClr val="2E3F4E"/>
            </a:solidFill>
            <a:prstDash val="solid"/>
          </a:ln>
        </p:spPr>
      </p:sp>
      <p:sp>
        <p:nvSpPr>
          <p:cNvPr id="13" name="Text 11"/>
          <p:cNvSpPr txBox="1"/>
          <p:nvPr/>
        </p:nvSpPr>
        <p:spPr>
          <a:xfrm>
            <a:off x="1005840" y="5074920"/>
            <a:ext cx="10180015" cy="1371600"/>
          </a:xfrm>
          <a:prstGeom prst="rect">
            <a:avLst/>
          </a:prstGeom>
          <a:noFill/>
          <a:ln/>
        </p:spPr>
        <p:txBody>
          <a:bodyPr wrap="square" lIns="0" tIns="0" rIns="0" bIns="0" rtlCol="0" anchor="ctr"/>
          <a:lstStyle/>
          <a:p>
            <a:pPr indent="0" marL="0">
              <a:lnSpc>
                <a:spcPct val="115000"/>
              </a:lnSpc>
              <a:buNone/>
            </a:pPr>
            <a:r>
              <a:rPr lang="en-US" sz="1400" dirty="0">
                <a:solidFill>
                  <a:srgbClr val="BCC9D5"/>
                </a:solidFill>
                <a:latin typeface="Calibri" pitchFamily="34" charset="0"/>
                <a:ea typeface="Calibri" pitchFamily="34" charset="-122"/>
                <a:cs typeface="Calibri" pitchFamily="34" charset="-120"/>
              </a:rPr>
              <a:t>Most trackers throw away the boxes YOLO was unsure about. But when a vehicle goes half-behind a bus, its confidence drops — so those trackers lose it exactly when it gets hard. ByteTrack keeps the weak boxes and gives them a second chance at matching. It holds on through partial blocking. That is the whole idea, and it is why it is the standard choice.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60A0E"/>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THE GAP OUR PROJECT EXISTS TO FILL</a:t>
            </a:r>
            <a:endParaRPr lang="en-US" sz="1100" dirty="0"/>
          </a:p>
        </p:txBody>
      </p:sp>
      <p:sp>
        <p:nvSpPr>
          <p:cNvPr id="3" name="Text 1"/>
          <p:cNvSpPr txBox="1"/>
          <p:nvPr/>
        </p:nvSpPr>
        <p:spPr>
          <a:xfrm>
            <a:off x="640080" y="1463040"/>
            <a:ext cx="7498080" cy="2194560"/>
          </a:xfrm>
          <a:prstGeom prst="rect">
            <a:avLst/>
          </a:prstGeom>
          <a:noFill/>
          <a:ln/>
        </p:spPr>
        <p:txBody>
          <a:bodyPr wrap="square" lIns="0" tIns="0" rIns="0" bIns="0" rtlCol="0" anchor="ctr"/>
          <a:lstStyle/>
          <a:p>
            <a:pPr indent="0" marL="0">
              <a:lnSpc>
                <a:spcPct val="102000"/>
              </a:lnSpc>
              <a:buNone/>
            </a:pPr>
            <a:r>
              <a:rPr lang="en-US" sz="4000" b="1" dirty="0">
                <a:solidFill>
                  <a:srgbClr val="FFFFFF"/>
                </a:solidFill>
                <a:latin typeface="Arial" pitchFamily="34" charset="0"/>
                <a:ea typeface="Arial" pitchFamily="34" charset="-122"/>
                <a:cs typeface="Arial" pitchFamily="34" charset="-120"/>
              </a:rPr>
              <a:t>The moment a vehicle</a:t>
            </a:r>
            <a:endParaRPr lang="en-US" sz="4000" dirty="0"/>
          </a:p>
          <a:p>
            <a:pPr indent="0" marL="0">
              <a:lnSpc>
                <a:spcPct val="102000"/>
              </a:lnSpc>
              <a:buNone/>
            </a:pPr>
            <a:r>
              <a:rPr lang="en-US" sz="4000" b="1" dirty="0">
                <a:solidFill>
                  <a:srgbClr val="FFFFFF"/>
                </a:solidFill>
                <a:latin typeface="Arial" pitchFamily="34" charset="0"/>
                <a:ea typeface="Arial" pitchFamily="34" charset="-122"/>
                <a:cs typeface="Arial" pitchFamily="34" charset="-120"/>
              </a:rPr>
              <a:t>leaves the frame,</a:t>
            </a:r>
            <a:endParaRPr lang="en-US" sz="4000" dirty="0"/>
          </a:p>
          <a:p>
            <a:pPr indent="0" marL="0">
              <a:lnSpc>
                <a:spcPct val="102000"/>
              </a:lnSpc>
              <a:buNone/>
            </a:pPr>
            <a:r>
              <a:rPr lang="en-US" sz="4000" b="1" dirty="0">
                <a:solidFill>
                  <a:srgbClr val="FFFFFF"/>
                </a:solidFill>
                <a:latin typeface="Arial" pitchFamily="34" charset="0"/>
                <a:ea typeface="Arial" pitchFamily="34" charset="-122"/>
                <a:cs typeface="Arial" pitchFamily="34" charset="-120"/>
              </a:rPr>
              <a:t>its ID dies forever.</a:t>
            </a:r>
            <a:endParaRPr lang="en-US" sz="4000" dirty="0"/>
          </a:p>
        </p:txBody>
      </p:sp>
      <p:sp>
        <p:nvSpPr>
          <p:cNvPr id="4" name="Shape 2"/>
          <p:cNvSpPr/>
          <p:nvPr/>
        </p:nvSpPr>
        <p:spPr>
          <a:xfrm>
            <a:off x="640080" y="3931920"/>
            <a:ext cx="5257800" cy="1965960"/>
          </a:xfrm>
          <a:prstGeom prst="roundRect">
            <a:avLst>
              <a:gd name="adj" fmla="val 2791"/>
            </a:avLst>
          </a:prstGeom>
          <a:solidFill>
            <a:srgbClr val="18242F"/>
          </a:solidFill>
          <a:ln w="12700">
            <a:solidFill>
              <a:srgbClr val="2E3F4E"/>
            </a:solidFill>
            <a:prstDash val="solid"/>
          </a:ln>
        </p:spPr>
      </p:sp>
      <p:sp>
        <p:nvSpPr>
          <p:cNvPr id="5" name="Text 3"/>
          <p:cNvSpPr txBox="1"/>
          <p:nvPr/>
        </p:nvSpPr>
        <p:spPr>
          <a:xfrm>
            <a:off x="960120" y="4114800"/>
            <a:ext cx="4572000" cy="320040"/>
          </a:xfrm>
          <a:prstGeom prst="rect">
            <a:avLst/>
          </a:prstGeom>
          <a:noFill/>
          <a:ln/>
        </p:spPr>
        <p:txBody>
          <a:bodyPr wrap="square" lIns="0" tIns="0" rIns="0" bIns="0" rtlCol="0" anchor="ctr"/>
          <a:lstStyle/>
          <a:p>
            <a:pPr indent="0" marL="0">
              <a:buNone/>
            </a:pPr>
            <a:r>
              <a:rPr lang="en-US" sz="1500" b="1" dirty="0">
                <a:solidFill>
                  <a:srgbClr val="46C888"/>
                </a:solidFill>
                <a:latin typeface="Arial" pitchFamily="34" charset="0"/>
                <a:ea typeface="Arial" pitchFamily="34" charset="-122"/>
                <a:cs typeface="Arial" pitchFamily="34" charset="-120"/>
              </a:rPr>
              <a:t>What ByteTrack can do</a:t>
            </a:r>
            <a:endParaRPr lang="en-US" sz="1500" dirty="0"/>
          </a:p>
        </p:txBody>
      </p:sp>
      <p:sp>
        <p:nvSpPr>
          <p:cNvPr id="6" name="Text 4"/>
          <p:cNvSpPr txBox="1"/>
          <p:nvPr/>
        </p:nvSpPr>
        <p:spPr>
          <a:xfrm>
            <a:off x="960120" y="4480560"/>
            <a:ext cx="4617720" cy="1280160"/>
          </a:xfrm>
          <a:prstGeom prst="rect">
            <a:avLst/>
          </a:prstGeom>
          <a:noFill/>
          <a:ln/>
        </p:spPr>
        <p:txBody>
          <a:bodyPr wrap="square" lIns="0" tIns="0" rIns="0" bIns="0" rtlCol="0" anchor="ctr"/>
          <a:lstStyle/>
          <a:p>
            <a:pPr indent="0" marL="0">
              <a:lnSpc>
                <a:spcPct val="115000"/>
              </a:lnSpc>
              <a:buNone/>
            </a:pPr>
            <a:r>
              <a:rPr lang="en-US" sz="1400" dirty="0">
                <a:solidFill>
                  <a:srgbClr val="BCC9D5"/>
                </a:solidFill>
                <a:latin typeface="Calibri" pitchFamily="34" charset="0"/>
                <a:ea typeface="Calibri" pitchFamily="34" charset="-122"/>
                <a:cs typeface="Calibri" pitchFamily="34" charset="-120"/>
              </a:rPr>
              <a:t>Keep an ID on a vehicle inside ONE camera's view. Nothing more. It was never designed to do more.</a:t>
            </a:r>
            <a:endParaRPr lang="en-US" sz="1400" dirty="0"/>
          </a:p>
        </p:txBody>
      </p:sp>
      <p:sp>
        <p:nvSpPr>
          <p:cNvPr id="7" name="Shape 5"/>
          <p:cNvSpPr/>
          <p:nvPr/>
        </p:nvSpPr>
        <p:spPr>
          <a:xfrm>
            <a:off x="6291072" y="3931920"/>
            <a:ext cx="5257800" cy="1965960"/>
          </a:xfrm>
          <a:prstGeom prst="roundRect">
            <a:avLst>
              <a:gd name="adj" fmla="val 2791"/>
            </a:avLst>
          </a:prstGeom>
          <a:solidFill>
            <a:srgbClr val="213040"/>
          </a:solidFill>
          <a:ln w="12700">
            <a:solidFill>
              <a:srgbClr val="2E3F4E"/>
            </a:solidFill>
            <a:prstDash val="solid"/>
          </a:ln>
        </p:spPr>
      </p:sp>
      <p:sp>
        <p:nvSpPr>
          <p:cNvPr id="8" name="Text 6"/>
          <p:cNvSpPr txBox="1"/>
          <p:nvPr/>
        </p:nvSpPr>
        <p:spPr>
          <a:xfrm>
            <a:off x="6611112" y="4114800"/>
            <a:ext cx="4572000" cy="320040"/>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What we built ourselves</a:t>
            </a:r>
            <a:endParaRPr lang="en-US" sz="1500" dirty="0"/>
          </a:p>
        </p:txBody>
      </p:sp>
      <p:sp>
        <p:nvSpPr>
          <p:cNvPr id="9" name="Text 7"/>
          <p:cNvSpPr txBox="1"/>
          <p:nvPr/>
        </p:nvSpPr>
        <p:spPr>
          <a:xfrm>
            <a:off x="6611112" y="4480560"/>
            <a:ext cx="4617720" cy="1280160"/>
          </a:xfrm>
          <a:prstGeom prst="rect">
            <a:avLst/>
          </a:prstGeom>
          <a:noFill/>
          <a:ln/>
        </p:spPr>
        <p:txBody>
          <a:bodyPr wrap="square" lIns="0" tIns="0" rIns="0" bIns="0" rtlCol="0" anchor="ctr"/>
          <a:lstStyle/>
          <a:p>
            <a:pPr indent="0" marL="0">
              <a:lnSpc>
                <a:spcPct val="115000"/>
              </a:lnSpc>
              <a:buNone/>
            </a:pPr>
            <a:r>
              <a:rPr lang="en-US" sz="1400" dirty="0">
                <a:solidFill>
                  <a:srgbClr val="BCC9D5"/>
                </a:solidFill>
                <a:latin typeface="Calibri" pitchFamily="34" charset="0"/>
                <a:ea typeface="Calibri" pitchFamily="34" charset="-122"/>
                <a:cs typeface="Calibri" pitchFamily="34" charset="-120"/>
              </a:rPr>
              <a:t>Everything that happens after that ID dies. Deciding that vehicle #14 on Camera 1 and vehicle #7 on Camera 3 are the same real vehicle.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STEP 4 OF 9</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Count what crosses the line</a:t>
            </a:r>
            <a:endParaRPr lang="en-US" sz="3200" dirty="0"/>
          </a:p>
        </p:txBody>
      </p:sp>
      <p:sp>
        <p:nvSpPr>
          <p:cNvPr id="4" name="Text 2"/>
          <p:cNvSpPr txBox="1"/>
          <p:nvPr/>
        </p:nvSpPr>
        <p:spPr>
          <a:xfrm>
            <a:off x="640080" y="1417320"/>
            <a:ext cx="5486400" cy="320040"/>
          </a:xfrm>
          <a:prstGeom prst="rect">
            <a:avLst/>
          </a:prstGeom>
          <a:noFill/>
          <a:ln/>
        </p:spPr>
        <p:txBody>
          <a:bodyPr wrap="square" lIns="0" tIns="0" rIns="0" bIns="0" rtlCol="0" anchor="ctr"/>
          <a:lstStyle/>
          <a:p>
            <a:pPr indent="0" marL="0">
              <a:buNone/>
            </a:pPr>
            <a:r>
              <a:rPr lang="en-US" sz="1500" dirty="0">
                <a:solidFill>
                  <a:srgbClr val="58BFD6"/>
                </a:solidFill>
                <a:latin typeface="Courier New" pitchFamily="34" charset="0"/>
                <a:ea typeface="Courier New" pitchFamily="34" charset="-122"/>
                <a:cs typeface="Courier New" pitchFamily="34" charset="-120"/>
              </a:rPr>
              <a:t>counting.py</a:t>
            </a:r>
            <a:endParaRPr lang="en-US" sz="1500" dirty="0"/>
          </a:p>
        </p:txBody>
      </p:sp>
      <p:sp>
        <p:nvSpPr>
          <p:cNvPr id="5" name="Text 3"/>
          <p:cNvSpPr txBox="1"/>
          <p:nvPr/>
        </p:nvSpPr>
        <p:spPr>
          <a:xfrm>
            <a:off x="640080" y="1874520"/>
            <a:ext cx="10911535" cy="54864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We draw an invisible line across the road in each camera. When a tracked vehicle crosses it, we add one to a counter — and we note which way it was going.</a:t>
            </a:r>
            <a:endParaRPr lang="en-US" sz="1600" dirty="0"/>
          </a:p>
        </p:txBody>
      </p:sp>
      <p:sp>
        <p:nvSpPr>
          <p:cNvPr id="6" name="Shape 4"/>
          <p:cNvSpPr/>
          <p:nvPr/>
        </p:nvSpPr>
        <p:spPr>
          <a:xfrm>
            <a:off x="640080" y="2606040"/>
            <a:ext cx="3392424" cy="1188720"/>
          </a:xfrm>
          <a:prstGeom prst="roundRect">
            <a:avLst>
              <a:gd name="adj" fmla="val 4615"/>
            </a:avLst>
          </a:prstGeom>
          <a:solidFill>
            <a:srgbClr val="18242F"/>
          </a:solidFill>
          <a:ln w="12700">
            <a:solidFill>
              <a:srgbClr val="2E3F4E"/>
            </a:solidFill>
            <a:prstDash val="solid"/>
          </a:ln>
        </p:spPr>
      </p:sp>
      <p:sp>
        <p:nvSpPr>
          <p:cNvPr id="7" name="Text 5"/>
          <p:cNvSpPr txBox="1"/>
          <p:nvPr/>
        </p:nvSpPr>
        <p:spPr>
          <a:xfrm>
            <a:off x="896112" y="2788920"/>
            <a:ext cx="2926080" cy="292608"/>
          </a:xfrm>
          <a:prstGeom prst="rect">
            <a:avLst/>
          </a:prstGeom>
          <a:noFill/>
          <a:ln/>
        </p:spPr>
        <p:txBody>
          <a:bodyPr wrap="square" lIns="0" tIns="0" rIns="0" bIns="0" rtlCol="0" anchor="ctr"/>
          <a:lstStyle/>
          <a:p>
            <a:pPr indent="0" marL="0">
              <a:buNone/>
            </a:pPr>
            <a:r>
              <a:rPr lang="en-US" sz="1500" b="1" dirty="0">
                <a:solidFill>
                  <a:srgbClr val="F0B23F"/>
                </a:solidFill>
                <a:latin typeface="Courier New" pitchFamily="34" charset="0"/>
                <a:ea typeface="Courier New" pitchFamily="34" charset="-122"/>
                <a:cs typeface="Courier New" pitchFamily="34" charset="-120"/>
              </a:rPr>
              <a:t>CAM01</a:t>
            </a:r>
            <a:endParaRPr lang="en-US" sz="1500" dirty="0"/>
          </a:p>
        </p:txBody>
      </p:sp>
      <p:sp>
        <p:nvSpPr>
          <p:cNvPr id="8" name="Text 6"/>
          <p:cNvSpPr txBox="1"/>
          <p:nvPr/>
        </p:nvSpPr>
        <p:spPr>
          <a:xfrm>
            <a:off x="896112" y="3127248"/>
            <a:ext cx="2926080" cy="502920"/>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inbound / outbound</a:t>
            </a:r>
            <a:endParaRPr lang="en-US" sz="1300" dirty="0"/>
          </a:p>
        </p:txBody>
      </p:sp>
      <p:sp>
        <p:nvSpPr>
          <p:cNvPr id="9" name="Shape 7"/>
          <p:cNvSpPr/>
          <p:nvPr/>
        </p:nvSpPr>
        <p:spPr>
          <a:xfrm>
            <a:off x="4398264" y="2606040"/>
            <a:ext cx="3392424" cy="1188720"/>
          </a:xfrm>
          <a:prstGeom prst="roundRect">
            <a:avLst>
              <a:gd name="adj" fmla="val 4615"/>
            </a:avLst>
          </a:prstGeom>
          <a:solidFill>
            <a:srgbClr val="18242F"/>
          </a:solidFill>
          <a:ln w="12700">
            <a:solidFill>
              <a:srgbClr val="2E3F4E"/>
            </a:solidFill>
            <a:prstDash val="solid"/>
          </a:ln>
        </p:spPr>
      </p:sp>
      <p:sp>
        <p:nvSpPr>
          <p:cNvPr id="10" name="Text 8"/>
          <p:cNvSpPr txBox="1"/>
          <p:nvPr/>
        </p:nvSpPr>
        <p:spPr>
          <a:xfrm>
            <a:off x="4654296" y="2788920"/>
            <a:ext cx="2926080" cy="292608"/>
          </a:xfrm>
          <a:prstGeom prst="rect">
            <a:avLst/>
          </a:prstGeom>
          <a:noFill/>
          <a:ln/>
        </p:spPr>
        <p:txBody>
          <a:bodyPr wrap="square" lIns="0" tIns="0" rIns="0" bIns="0" rtlCol="0" anchor="ctr"/>
          <a:lstStyle/>
          <a:p>
            <a:pPr indent="0" marL="0">
              <a:buNone/>
            </a:pPr>
            <a:r>
              <a:rPr lang="en-US" sz="1500" b="1" dirty="0">
                <a:solidFill>
                  <a:srgbClr val="F0B23F"/>
                </a:solidFill>
                <a:latin typeface="Courier New" pitchFamily="34" charset="0"/>
                <a:ea typeface="Courier New" pitchFamily="34" charset="-122"/>
                <a:cs typeface="Courier New" pitchFamily="34" charset="-120"/>
              </a:rPr>
              <a:t>CAM02</a:t>
            </a:r>
            <a:endParaRPr lang="en-US" sz="1500" dirty="0"/>
          </a:p>
        </p:txBody>
      </p:sp>
      <p:sp>
        <p:nvSpPr>
          <p:cNvPr id="11" name="Text 9"/>
          <p:cNvSpPr txBox="1"/>
          <p:nvPr/>
        </p:nvSpPr>
        <p:spPr>
          <a:xfrm>
            <a:off x="4654296" y="3127248"/>
            <a:ext cx="2926080" cy="502920"/>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eastbound / westbound</a:t>
            </a:r>
            <a:endParaRPr lang="en-US" sz="1300" dirty="0"/>
          </a:p>
        </p:txBody>
      </p:sp>
      <p:sp>
        <p:nvSpPr>
          <p:cNvPr id="12" name="Shape 10"/>
          <p:cNvSpPr/>
          <p:nvPr/>
        </p:nvSpPr>
        <p:spPr>
          <a:xfrm>
            <a:off x="8156448" y="2606040"/>
            <a:ext cx="3392424" cy="1188720"/>
          </a:xfrm>
          <a:prstGeom prst="roundRect">
            <a:avLst>
              <a:gd name="adj" fmla="val 4615"/>
            </a:avLst>
          </a:prstGeom>
          <a:solidFill>
            <a:srgbClr val="18242F"/>
          </a:solidFill>
          <a:ln w="12700">
            <a:solidFill>
              <a:srgbClr val="2E3F4E"/>
            </a:solidFill>
            <a:prstDash val="solid"/>
          </a:ln>
        </p:spPr>
      </p:sp>
      <p:sp>
        <p:nvSpPr>
          <p:cNvPr id="13" name="Text 11"/>
          <p:cNvSpPr txBox="1"/>
          <p:nvPr/>
        </p:nvSpPr>
        <p:spPr>
          <a:xfrm>
            <a:off x="8412480" y="2788920"/>
            <a:ext cx="2926080" cy="292608"/>
          </a:xfrm>
          <a:prstGeom prst="rect">
            <a:avLst/>
          </a:prstGeom>
          <a:noFill/>
          <a:ln/>
        </p:spPr>
        <p:txBody>
          <a:bodyPr wrap="square" lIns="0" tIns="0" rIns="0" bIns="0" rtlCol="0" anchor="ctr"/>
          <a:lstStyle/>
          <a:p>
            <a:pPr indent="0" marL="0">
              <a:buNone/>
            </a:pPr>
            <a:r>
              <a:rPr lang="en-US" sz="1500" b="1" dirty="0">
                <a:solidFill>
                  <a:srgbClr val="F0B23F"/>
                </a:solidFill>
                <a:latin typeface="Courier New" pitchFamily="34" charset="0"/>
                <a:ea typeface="Courier New" pitchFamily="34" charset="-122"/>
                <a:cs typeface="Courier New" pitchFamily="34" charset="-120"/>
              </a:rPr>
              <a:t>CAM03</a:t>
            </a:r>
            <a:endParaRPr lang="en-US" sz="1500" dirty="0"/>
          </a:p>
        </p:txBody>
      </p:sp>
      <p:sp>
        <p:nvSpPr>
          <p:cNvPr id="14" name="Text 12"/>
          <p:cNvSpPr txBox="1"/>
          <p:nvPr/>
        </p:nvSpPr>
        <p:spPr>
          <a:xfrm>
            <a:off x="8412480" y="3127248"/>
            <a:ext cx="2926080" cy="502920"/>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entry / exit</a:t>
            </a:r>
            <a:endParaRPr lang="en-US" sz="1300" dirty="0"/>
          </a:p>
        </p:txBody>
      </p:sp>
      <p:sp>
        <p:nvSpPr>
          <p:cNvPr id="15" name="Shape 13"/>
          <p:cNvSpPr/>
          <p:nvPr/>
        </p:nvSpPr>
        <p:spPr>
          <a:xfrm>
            <a:off x="640080" y="4023360"/>
            <a:ext cx="10911535" cy="2103120"/>
          </a:xfrm>
          <a:prstGeom prst="roundRect">
            <a:avLst>
              <a:gd name="adj" fmla="val 2609"/>
            </a:avLst>
          </a:prstGeom>
          <a:solidFill>
            <a:srgbClr val="213040"/>
          </a:solidFill>
          <a:ln w="12700">
            <a:solidFill>
              <a:srgbClr val="2E3F4E"/>
            </a:solidFill>
            <a:prstDash val="solid"/>
          </a:ln>
        </p:spPr>
      </p:sp>
      <p:sp>
        <p:nvSpPr>
          <p:cNvPr id="16" name="Text 14"/>
          <p:cNvSpPr txBox="1"/>
          <p:nvPr/>
        </p:nvSpPr>
        <p:spPr>
          <a:xfrm>
            <a:off x="1005840" y="4206240"/>
            <a:ext cx="6400800" cy="320040"/>
          </a:xfrm>
          <a:prstGeom prst="rect">
            <a:avLst/>
          </a:prstGeom>
          <a:noFill/>
          <a:ln/>
        </p:spPr>
        <p:txBody>
          <a:bodyPr wrap="square" lIns="0" tIns="0" rIns="0" bIns="0" rtlCol="0" anchor="ctr"/>
          <a:lstStyle/>
          <a:p>
            <a:pPr indent="0" marL="0">
              <a:buNone/>
            </a:pPr>
            <a:r>
              <a:rPr lang="en-US" sz="1600" b="1" dirty="0">
                <a:solidFill>
                  <a:srgbClr val="46C888"/>
                </a:solidFill>
                <a:latin typeface="Arial" pitchFamily="34" charset="0"/>
                <a:ea typeface="Arial" pitchFamily="34" charset="-122"/>
                <a:cs typeface="Arial" pitchFamily="34" charset="-120"/>
              </a:rPr>
              <a:t>The small detail that makes it robust</a:t>
            </a:r>
            <a:endParaRPr lang="en-US" sz="1600" dirty="0"/>
          </a:p>
        </p:txBody>
      </p:sp>
      <p:sp>
        <p:nvSpPr>
          <p:cNvPr id="17" name="Text 15"/>
          <p:cNvSpPr txBox="1"/>
          <p:nvPr/>
        </p:nvSpPr>
        <p:spPr>
          <a:xfrm>
            <a:off x="1005840" y="4572000"/>
            <a:ext cx="10180015" cy="141732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We do not store the line as "pixel 340". We store it as a fraction of the picture — 0.62 means "62% of the way down".</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So if you swap in a camera with a different picture size, the line stays in the right place on the road. Nothing needs re-drawing. Each camera also names its own two directions, because "inbound" means something different at a junction than at an airport gate.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STEP 5 OF 9</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Read the number plate</a:t>
            </a:r>
            <a:endParaRPr lang="en-US" sz="3200" dirty="0"/>
          </a:p>
        </p:txBody>
      </p:sp>
      <p:sp>
        <p:nvSpPr>
          <p:cNvPr id="4" name="Text 2"/>
          <p:cNvSpPr txBox="1"/>
          <p:nvPr/>
        </p:nvSpPr>
        <p:spPr>
          <a:xfrm>
            <a:off x="640080" y="1417320"/>
            <a:ext cx="5486400" cy="320040"/>
          </a:xfrm>
          <a:prstGeom prst="rect">
            <a:avLst/>
          </a:prstGeom>
          <a:noFill/>
          <a:ln/>
        </p:spPr>
        <p:txBody>
          <a:bodyPr wrap="square" lIns="0" tIns="0" rIns="0" bIns="0" rtlCol="0" anchor="ctr"/>
          <a:lstStyle/>
          <a:p>
            <a:pPr indent="0" marL="0">
              <a:buNone/>
            </a:pPr>
            <a:r>
              <a:rPr lang="en-US" sz="1500" dirty="0">
                <a:solidFill>
                  <a:srgbClr val="58BFD6"/>
                </a:solidFill>
                <a:latin typeface="Courier New" pitchFamily="34" charset="0"/>
                <a:ea typeface="Courier New" pitchFamily="34" charset="-122"/>
                <a:cs typeface="Courier New" pitchFamily="34" charset="-120"/>
              </a:rPr>
              <a:t>anpr.py</a:t>
            </a:r>
            <a:endParaRPr lang="en-US" sz="1500" dirty="0"/>
          </a:p>
        </p:txBody>
      </p:sp>
      <p:sp>
        <p:nvSpPr>
          <p:cNvPr id="5" name="Shape 3"/>
          <p:cNvSpPr/>
          <p:nvPr/>
        </p:nvSpPr>
        <p:spPr>
          <a:xfrm>
            <a:off x="640080" y="1828800"/>
            <a:ext cx="5257800" cy="1188720"/>
          </a:xfrm>
          <a:prstGeom prst="roundRect">
            <a:avLst>
              <a:gd name="adj" fmla="val 4615"/>
            </a:avLst>
          </a:prstGeom>
          <a:solidFill>
            <a:srgbClr val="213040"/>
          </a:solidFill>
          <a:ln w="12700">
            <a:solidFill>
              <a:srgbClr val="2E3F4E"/>
            </a:solidFill>
            <a:prstDash val="solid"/>
          </a:ln>
        </p:spPr>
      </p:sp>
      <p:sp>
        <p:nvSpPr>
          <p:cNvPr id="6" name="Text 4"/>
          <p:cNvSpPr txBox="1"/>
          <p:nvPr/>
        </p:nvSpPr>
        <p:spPr>
          <a:xfrm>
            <a:off x="960120" y="1993392"/>
            <a:ext cx="4572000" cy="320040"/>
          </a:xfrm>
          <a:prstGeom prst="rect">
            <a:avLst/>
          </a:prstGeom>
          <a:noFill/>
          <a:ln/>
        </p:spPr>
        <p:txBody>
          <a:bodyPr wrap="square" lIns="0" tIns="0" rIns="0" bIns="0" rtlCol="0" anchor="ctr"/>
          <a:lstStyle/>
          <a:p>
            <a:pPr indent="0" marL="0">
              <a:buNone/>
            </a:pPr>
            <a:r>
              <a:rPr lang="en-US" sz="1600" b="1" dirty="0">
                <a:solidFill>
                  <a:srgbClr val="58BFD6"/>
                </a:solidFill>
                <a:latin typeface="Arial" pitchFamily="34" charset="0"/>
                <a:ea typeface="Arial" pitchFamily="34" charset="-122"/>
                <a:cs typeface="Arial" pitchFamily="34" charset="-120"/>
              </a:rPr>
              <a:t>OCR</a:t>
            </a:r>
            <a:endParaRPr lang="en-US" sz="1600" dirty="0"/>
          </a:p>
        </p:txBody>
      </p:sp>
      <p:sp>
        <p:nvSpPr>
          <p:cNvPr id="7" name="Text 5"/>
          <p:cNvSpPr txBox="1"/>
          <p:nvPr/>
        </p:nvSpPr>
        <p:spPr>
          <a:xfrm>
            <a:off x="960120" y="2331720"/>
            <a:ext cx="4617720" cy="640080"/>
          </a:xfrm>
          <a:prstGeom prst="rect">
            <a:avLst/>
          </a:prstGeom>
          <a:noFill/>
          <a:ln/>
        </p:spPr>
        <p:txBody>
          <a:bodyPr wrap="square" lIns="0" tIns="0" rIns="0" bIns="0" rtlCol="0" anchor="ctr"/>
          <a:lstStyle/>
          <a:p>
            <a:pPr indent="0" marL="0">
              <a:lnSpc>
                <a:spcPct val="110000"/>
              </a:lnSpc>
              <a:buNone/>
            </a:pPr>
            <a:r>
              <a:rPr lang="en-US" sz="1300" dirty="0">
                <a:solidFill>
                  <a:srgbClr val="BCC9D5"/>
                </a:solidFill>
                <a:latin typeface="Calibri" pitchFamily="34" charset="0"/>
                <a:ea typeface="Calibri" pitchFamily="34" charset="-122"/>
                <a:cs typeface="Calibri" pitchFamily="34" charset="-120"/>
              </a:rPr>
              <a:t>Optical Character Recognition. Turning a PICTURE of text into real text. Same idea as your phone copying words out of a photo.</a:t>
            </a:r>
            <a:endParaRPr lang="en-US" sz="1300" dirty="0"/>
          </a:p>
        </p:txBody>
      </p:sp>
      <p:sp>
        <p:nvSpPr>
          <p:cNvPr id="8" name="Shape 6"/>
          <p:cNvSpPr/>
          <p:nvPr/>
        </p:nvSpPr>
        <p:spPr>
          <a:xfrm>
            <a:off x="6291072" y="1828800"/>
            <a:ext cx="5257800" cy="1188720"/>
          </a:xfrm>
          <a:prstGeom prst="roundRect">
            <a:avLst>
              <a:gd name="adj" fmla="val 4615"/>
            </a:avLst>
          </a:prstGeom>
          <a:solidFill>
            <a:srgbClr val="213040"/>
          </a:solidFill>
          <a:ln w="12700">
            <a:solidFill>
              <a:srgbClr val="2E3F4E"/>
            </a:solidFill>
            <a:prstDash val="solid"/>
          </a:ln>
        </p:spPr>
      </p:sp>
      <p:sp>
        <p:nvSpPr>
          <p:cNvPr id="9" name="Text 7"/>
          <p:cNvSpPr txBox="1"/>
          <p:nvPr/>
        </p:nvSpPr>
        <p:spPr>
          <a:xfrm>
            <a:off x="6611112" y="1993392"/>
            <a:ext cx="4572000" cy="320040"/>
          </a:xfrm>
          <a:prstGeom prst="rect">
            <a:avLst/>
          </a:prstGeom>
          <a:noFill/>
          <a:ln/>
        </p:spPr>
        <p:txBody>
          <a:bodyPr wrap="square" lIns="0" tIns="0" rIns="0" bIns="0" rtlCol="0" anchor="ctr"/>
          <a:lstStyle/>
          <a:p>
            <a:pPr indent="0" marL="0">
              <a:buNone/>
            </a:pPr>
            <a:r>
              <a:rPr lang="en-US" sz="1600" b="1" dirty="0">
                <a:solidFill>
                  <a:srgbClr val="F0B23F"/>
                </a:solidFill>
                <a:latin typeface="Arial" pitchFamily="34" charset="0"/>
                <a:ea typeface="Arial" pitchFamily="34" charset="-122"/>
                <a:cs typeface="Arial" pitchFamily="34" charset="-120"/>
              </a:rPr>
              <a:t>ANPR</a:t>
            </a:r>
            <a:endParaRPr lang="en-US" sz="1600" dirty="0"/>
          </a:p>
        </p:txBody>
      </p:sp>
      <p:sp>
        <p:nvSpPr>
          <p:cNvPr id="10" name="Text 8"/>
          <p:cNvSpPr txBox="1"/>
          <p:nvPr/>
        </p:nvSpPr>
        <p:spPr>
          <a:xfrm>
            <a:off x="6611112" y="2331720"/>
            <a:ext cx="4617720" cy="640080"/>
          </a:xfrm>
          <a:prstGeom prst="rect">
            <a:avLst/>
          </a:prstGeom>
          <a:noFill/>
          <a:ln/>
        </p:spPr>
        <p:txBody>
          <a:bodyPr wrap="square" lIns="0" tIns="0" rIns="0" bIns="0" rtlCol="0" anchor="ctr"/>
          <a:lstStyle/>
          <a:p>
            <a:pPr indent="0" marL="0">
              <a:lnSpc>
                <a:spcPct val="110000"/>
              </a:lnSpc>
              <a:buNone/>
            </a:pPr>
            <a:r>
              <a:rPr lang="en-US" sz="1300" dirty="0">
                <a:solidFill>
                  <a:srgbClr val="BCC9D5"/>
                </a:solidFill>
                <a:latin typeface="Calibri" pitchFamily="34" charset="0"/>
                <a:ea typeface="Calibri" pitchFamily="34" charset="-122"/>
                <a:cs typeface="Calibri" pitchFamily="34" charset="-120"/>
              </a:rPr>
              <a:t>Automatic Number Plate Recognition. OCR aimed specifically at number plates.</a:t>
            </a:r>
            <a:endParaRPr lang="en-US" sz="1300" dirty="0"/>
          </a:p>
        </p:txBody>
      </p:sp>
      <p:sp>
        <p:nvSpPr>
          <p:cNvPr id="11" name="Text 9"/>
          <p:cNvSpPr txBox="1"/>
          <p:nvPr/>
        </p:nvSpPr>
        <p:spPr>
          <a:xfrm>
            <a:off x="640080" y="3154680"/>
            <a:ext cx="10911535" cy="310896"/>
          </a:xfrm>
          <a:prstGeom prst="rect">
            <a:avLst/>
          </a:prstGeom>
          <a:noFill/>
          <a:ln/>
        </p:spPr>
        <p:txBody>
          <a:bodyPr wrap="square" lIns="0" tIns="0" rIns="0" bIns="0" rtlCol="0" anchor="ctr"/>
          <a:lstStyle/>
          <a:p>
            <a:pPr indent="0" marL="0">
              <a:lnSpc>
                <a:spcPct val="115000"/>
              </a:lnSpc>
              <a:buNone/>
            </a:pPr>
            <a:r>
              <a:rPr lang="en-US" sz="1400" dirty="0">
                <a:solidFill>
                  <a:srgbClr val="8496A6"/>
                </a:solidFill>
                <a:latin typeface="Calibri" pitchFamily="34" charset="0"/>
                <a:ea typeface="Calibri" pitchFamily="34" charset="-122"/>
                <a:cs typeface="Calibri" pitchFamily="34" charset="-120"/>
              </a:rPr>
              <a:t>It is two steps, not one — people always assume one:</a:t>
            </a:r>
            <a:endParaRPr lang="en-US" sz="1400" dirty="0"/>
          </a:p>
        </p:txBody>
      </p:sp>
      <p:sp>
        <p:nvSpPr>
          <p:cNvPr id="12" name="Shape 10"/>
          <p:cNvSpPr/>
          <p:nvPr/>
        </p:nvSpPr>
        <p:spPr>
          <a:xfrm>
            <a:off x="640080" y="3639312"/>
            <a:ext cx="5257800" cy="1051560"/>
          </a:xfrm>
          <a:prstGeom prst="roundRect">
            <a:avLst>
              <a:gd name="adj" fmla="val 5217"/>
            </a:avLst>
          </a:prstGeom>
          <a:solidFill>
            <a:srgbClr val="18242F"/>
          </a:solidFill>
          <a:ln w="12700">
            <a:solidFill>
              <a:srgbClr val="2E3F4E"/>
            </a:solidFill>
            <a:prstDash val="solid"/>
          </a:ln>
        </p:spPr>
      </p:sp>
      <p:sp>
        <p:nvSpPr>
          <p:cNvPr id="13" name="Shape 11"/>
          <p:cNvSpPr/>
          <p:nvPr/>
        </p:nvSpPr>
        <p:spPr>
          <a:xfrm>
            <a:off x="896112" y="3849624"/>
            <a:ext cx="457200" cy="457200"/>
          </a:xfrm>
          <a:prstGeom prst="ellipse">
            <a:avLst/>
          </a:prstGeom>
          <a:solidFill>
            <a:srgbClr val="F0B23F"/>
          </a:solidFill>
          <a:ln w="12700">
            <a:solidFill>
              <a:srgbClr val="F0B23F"/>
            </a:solidFill>
            <a:prstDash val="solid"/>
          </a:ln>
        </p:spPr>
      </p:sp>
      <p:sp>
        <p:nvSpPr>
          <p:cNvPr id="14" name="Text 12"/>
          <p:cNvSpPr txBox="1"/>
          <p:nvPr/>
        </p:nvSpPr>
        <p:spPr>
          <a:xfrm>
            <a:off x="896112" y="3849624"/>
            <a:ext cx="457200" cy="45720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A</a:t>
            </a:r>
            <a:endParaRPr lang="en-US" sz="1500" dirty="0"/>
          </a:p>
        </p:txBody>
      </p:sp>
      <p:sp>
        <p:nvSpPr>
          <p:cNvPr id="15" name="Text 13"/>
          <p:cNvSpPr txBox="1"/>
          <p:nvPr/>
        </p:nvSpPr>
        <p:spPr>
          <a:xfrm>
            <a:off x="1508760" y="3749040"/>
            <a:ext cx="411480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Find the plate</a:t>
            </a:r>
            <a:endParaRPr lang="en-US" sz="1400" dirty="0"/>
          </a:p>
        </p:txBody>
      </p:sp>
      <p:sp>
        <p:nvSpPr>
          <p:cNvPr id="16" name="Text 14"/>
          <p:cNvSpPr txBox="1"/>
          <p:nvPr/>
        </p:nvSpPr>
        <p:spPr>
          <a:xfrm>
            <a:off x="1508760" y="4059936"/>
            <a:ext cx="4206240" cy="548640"/>
          </a:xfrm>
          <a:prstGeom prst="rect">
            <a:avLst/>
          </a:prstGeom>
          <a:noFill/>
          <a:ln/>
        </p:spPr>
        <p:txBody>
          <a:bodyPr wrap="square" lIns="0" tIns="0" rIns="0" bIns="0" rtlCol="0" anchor="ctr"/>
          <a:lstStyle/>
          <a:p>
            <a:pPr indent="0" marL="0">
              <a:lnSpc>
                <a:spcPct val="110000"/>
              </a:lnSpc>
              <a:buNone/>
            </a:pPr>
            <a:r>
              <a:rPr lang="en-US" sz="1250" dirty="0">
                <a:solidFill>
                  <a:srgbClr val="BCC9D5"/>
                </a:solidFill>
                <a:latin typeface="Calibri" pitchFamily="34" charset="0"/>
                <a:ea typeface="Calibri" pitchFamily="34" charset="-122"/>
                <a:cs typeface="Calibri" pitchFamily="34" charset="-120"/>
              </a:rPr>
              <a:t>One model looks at the vehicle and draws a box round the plate rectangle.</a:t>
            </a:r>
            <a:endParaRPr lang="en-US" sz="1250" dirty="0"/>
          </a:p>
        </p:txBody>
      </p:sp>
      <p:sp>
        <p:nvSpPr>
          <p:cNvPr id="17" name="Shape 15"/>
          <p:cNvSpPr/>
          <p:nvPr/>
        </p:nvSpPr>
        <p:spPr>
          <a:xfrm>
            <a:off x="6291072" y="3639312"/>
            <a:ext cx="5257800" cy="1051560"/>
          </a:xfrm>
          <a:prstGeom prst="roundRect">
            <a:avLst>
              <a:gd name="adj" fmla="val 5217"/>
            </a:avLst>
          </a:prstGeom>
          <a:solidFill>
            <a:srgbClr val="18242F"/>
          </a:solidFill>
          <a:ln w="12700">
            <a:solidFill>
              <a:srgbClr val="2E3F4E"/>
            </a:solidFill>
            <a:prstDash val="solid"/>
          </a:ln>
        </p:spPr>
      </p:sp>
      <p:sp>
        <p:nvSpPr>
          <p:cNvPr id="18" name="Shape 16"/>
          <p:cNvSpPr/>
          <p:nvPr/>
        </p:nvSpPr>
        <p:spPr>
          <a:xfrm>
            <a:off x="6547104" y="3849624"/>
            <a:ext cx="457200" cy="457200"/>
          </a:xfrm>
          <a:prstGeom prst="ellipse">
            <a:avLst/>
          </a:prstGeom>
          <a:solidFill>
            <a:srgbClr val="F0B23F"/>
          </a:solidFill>
          <a:ln w="12700">
            <a:solidFill>
              <a:srgbClr val="F0B23F"/>
            </a:solidFill>
            <a:prstDash val="solid"/>
          </a:ln>
        </p:spPr>
      </p:sp>
      <p:sp>
        <p:nvSpPr>
          <p:cNvPr id="19" name="Text 17"/>
          <p:cNvSpPr txBox="1"/>
          <p:nvPr/>
        </p:nvSpPr>
        <p:spPr>
          <a:xfrm>
            <a:off x="6547104" y="3849624"/>
            <a:ext cx="457200" cy="45720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B</a:t>
            </a:r>
            <a:endParaRPr lang="en-US" sz="1500" dirty="0"/>
          </a:p>
        </p:txBody>
      </p:sp>
      <p:sp>
        <p:nvSpPr>
          <p:cNvPr id="20" name="Text 18"/>
          <p:cNvSpPr txBox="1"/>
          <p:nvPr/>
        </p:nvSpPr>
        <p:spPr>
          <a:xfrm>
            <a:off x="7159752" y="3749040"/>
            <a:ext cx="411480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Read the plate</a:t>
            </a:r>
            <a:endParaRPr lang="en-US" sz="1400" dirty="0"/>
          </a:p>
        </p:txBody>
      </p:sp>
      <p:sp>
        <p:nvSpPr>
          <p:cNvPr id="21" name="Text 19"/>
          <p:cNvSpPr txBox="1"/>
          <p:nvPr/>
        </p:nvSpPr>
        <p:spPr>
          <a:xfrm>
            <a:off x="7159752" y="4059936"/>
            <a:ext cx="4206240" cy="548640"/>
          </a:xfrm>
          <a:prstGeom prst="rect">
            <a:avLst/>
          </a:prstGeom>
          <a:noFill/>
          <a:ln/>
        </p:spPr>
        <p:txBody>
          <a:bodyPr wrap="square" lIns="0" tIns="0" rIns="0" bIns="0" rtlCol="0" anchor="ctr"/>
          <a:lstStyle/>
          <a:p>
            <a:pPr indent="0" marL="0">
              <a:lnSpc>
                <a:spcPct val="110000"/>
              </a:lnSpc>
              <a:buNone/>
            </a:pPr>
            <a:r>
              <a:rPr lang="en-US" sz="1250" dirty="0">
                <a:solidFill>
                  <a:srgbClr val="BCC9D5"/>
                </a:solidFill>
                <a:latin typeface="Calibri" pitchFamily="34" charset="0"/>
                <a:ea typeface="Calibri" pitchFamily="34" charset="-122"/>
                <a:cs typeface="Calibri" pitchFamily="34" charset="-120"/>
              </a:rPr>
              <a:t>A second model looks inside that box and reads the characters.</a:t>
            </a:r>
            <a:endParaRPr lang="en-US" sz="1250" dirty="0"/>
          </a:p>
        </p:txBody>
      </p:sp>
      <p:sp>
        <p:nvSpPr>
          <p:cNvPr id="22" name="Shape 20"/>
          <p:cNvSpPr/>
          <p:nvPr/>
        </p:nvSpPr>
        <p:spPr>
          <a:xfrm>
            <a:off x="640080" y="4846320"/>
            <a:ext cx="10911535" cy="1463040"/>
          </a:xfrm>
          <a:prstGeom prst="roundRect">
            <a:avLst>
              <a:gd name="adj" fmla="val 3750"/>
            </a:avLst>
          </a:prstGeom>
          <a:solidFill>
            <a:srgbClr val="2A2318"/>
          </a:solidFill>
          <a:ln w="12700">
            <a:solidFill>
              <a:srgbClr val="2E3F4E"/>
            </a:solidFill>
            <a:prstDash val="solid"/>
          </a:ln>
        </p:spPr>
      </p:sp>
      <p:sp>
        <p:nvSpPr>
          <p:cNvPr id="23" name="Text 21"/>
          <p:cNvSpPr txBox="1"/>
          <p:nvPr/>
        </p:nvSpPr>
        <p:spPr>
          <a:xfrm>
            <a:off x="1005840" y="5010912"/>
            <a:ext cx="6400800" cy="320040"/>
          </a:xfrm>
          <a:prstGeom prst="rect">
            <a:avLst/>
          </a:prstGeom>
          <a:noFill/>
          <a:ln/>
        </p:spPr>
        <p:txBody>
          <a:bodyPr wrap="square" lIns="0" tIns="0" rIns="0" bIns="0" rtlCol="0" anchor="ctr"/>
          <a:lstStyle/>
          <a:p>
            <a:pPr indent="0" marL="0">
              <a:buNone/>
            </a:pPr>
            <a:r>
              <a:rPr lang="en-US" sz="1600" b="1" dirty="0">
                <a:solidFill>
                  <a:srgbClr val="F0B23F"/>
                </a:solidFill>
                <a:latin typeface="Arial" pitchFamily="34" charset="0"/>
                <a:ea typeface="Arial" pitchFamily="34" charset="-122"/>
                <a:cs typeface="Arial" pitchFamily="34" charset="-120"/>
              </a:rPr>
              <a:t>The property we actually needed</a:t>
            </a:r>
            <a:endParaRPr lang="en-US" sz="1600" dirty="0"/>
          </a:p>
        </p:txBody>
      </p:sp>
      <p:sp>
        <p:nvSpPr>
          <p:cNvPr id="24" name="Text 22"/>
          <p:cNvSpPr txBox="1"/>
          <p:nvPr/>
        </p:nvSpPr>
        <p:spPr>
          <a:xfrm>
            <a:off x="1005840" y="5376672"/>
            <a:ext cx="10180015" cy="822960"/>
          </a:xfrm>
          <a:prstGeom prst="rect">
            <a:avLst/>
          </a:prstGeom>
          <a:noFill/>
          <a:ln/>
        </p:spPr>
        <p:txBody>
          <a:bodyPr wrap="square" lIns="0" tIns="0" rIns="0" bIns="0" rtlCol="0" anchor="ctr"/>
          <a:lstStyle/>
          <a:p>
            <a:pPr indent="0" marL="0">
              <a:lnSpc>
                <a:spcPct val="115000"/>
              </a:lnSpc>
              <a:buNone/>
            </a:pPr>
            <a:r>
              <a:rPr lang="en-US" sz="1400" dirty="0">
                <a:solidFill>
                  <a:srgbClr val="BCC9D5"/>
                </a:solidFill>
                <a:latin typeface="Calibri" pitchFamily="34" charset="0"/>
                <a:ea typeface="Calibri" pitchFamily="34" charset="-122"/>
                <a:cs typeface="Calibri" pitchFamily="34" charset="-120"/>
              </a:rPr>
              <a:t>Our reader does not just say "KA01AB1234, 0.78 sure". It gives a confidence for EVERY SINGLE CHARACTER — how sure about the K, then the A, then the 0. Nothing on the next slide is possible without that.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STEP 6 OF 9 — OUR OWN CODE</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We never trust a single frame. We vote.</a:t>
            </a:r>
            <a:endParaRPr lang="en-US" sz="3200" dirty="0"/>
          </a:p>
        </p:txBody>
      </p:sp>
      <p:sp>
        <p:nvSpPr>
          <p:cNvPr id="4" name="Text 2"/>
          <p:cNvSpPr txBox="1"/>
          <p:nvPr/>
        </p:nvSpPr>
        <p:spPr>
          <a:xfrm>
            <a:off x="640080" y="1417320"/>
            <a:ext cx="5486400" cy="320040"/>
          </a:xfrm>
          <a:prstGeom prst="rect">
            <a:avLst/>
          </a:prstGeom>
          <a:noFill/>
          <a:ln/>
        </p:spPr>
        <p:txBody>
          <a:bodyPr wrap="square" lIns="0" tIns="0" rIns="0" bIns="0" rtlCol="0" anchor="ctr"/>
          <a:lstStyle/>
          <a:p>
            <a:pPr indent="0" marL="0">
              <a:buNone/>
            </a:pPr>
            <a:r>
              <a:rPr lang="en-US" sz="1500" dirty="0">
                <a:solidFill>
                  <a:srgbClr val="58BFD6"/>
                </a:solidFill>
                <a:latin typeface="Courier New" pitchFamily="34" charset="0"/>
                <a:ea typeface="Courier New" pitchFamily="34" charset="-122"/>
                <a:cs typeface="Courier New" pitchFamily="34" charset="-120"/>
              </a:rPr>
              <a:t>consensus.py</a:t>
            </a:r>
            <a:endParaRPr lang="en-US" sz="1500" dirty="0"/>
          </a:p>
        </p:txBody>
      </p:sp>
      <p:sp>
        <p:nvSpPr>
          <p:cNvPr id="5" name="Text 3"/>
          <p:cNvSpPr txBox="1"/>
          <p:nvPr/>
        </p:nvSpPr>
        <p:spPr>
          <a:xfrm>
            <a:off x="640080" y="1847088"/>
            <a:ext cx="10911535" cy="45720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A vehicle is on screen for maybe 60 frames. We read the plate about 15 times. Most readings differ slightly.</a:t>
            </a:r>
            <a:endParaRPr lang="en-US" sz="1600" dirty="0"/>
          </a:p>
        </p:txBody>
      </p:sp>
      <p:sp>
        <p:nvSpPr>
          <p:cNvPr id="6" name="Shape 4"/>
          <p:cNvSpPr/>
          <p:nvPr/>
        </p:nvSpPr>
        <p:spPr>
          <a:xfrm>
            <a:off x="640080" y="2331720"/>
            <a:ext cx="4937760" cy="2377440"/>
          </a:xfrm>
          <a:prstGeom prst="roundRect">
            <a:avLst>
              <a:gd name="adj" fmla="val 2308"/>
            </a:avLst>
          </a:prstGeom>
          <a:solidFill>
            <a:srgbClr val="18242F"/>
          </a:solidFill>
          <a:ln w="12700">
            <a:solidFill>
              <a:srgbClr val="2E3F4E"/>
            </a:solidFill>
            <a:prstDash val="solid"/>
          </a:ln>
        </p:spPr>
      </p:sp>
      <p:sp>
        <p:nvSpPr>
          <p:cNvPr id="7" name="Text 5"/>
          <p:cNvSpPr txBox="1"/>
          <p:nvPr/>
        </p:nvSpPr>
        <p:spPr>
          <a:xfrm>
            <a:off x="960120" y="2487168"/>
            <a:ext cx="4206240" cy="292608"/>
          </a:xfrm>
          <a:prstGeom prst="rect">
            <a:avLst/>
          </a:prstGeom>
          <a:noFill/>
          <a:ln/>
        </p:spPr>
        <p:txBody>
          <a:bodyPr wrap="square" lIns="0" tIns="0" rIns="0" bIns="0" rtlCol="0" anchor="ctr"/>
          <a:lstStyle/>
          <a:p>
            <a:pPr indent="0" marL="0">
              <a:buNone/>
            </a:pPr>
            <a:r>
              <a:rPr lang="en-US" sz="1300" b="1" dirty="0">
                <a:solidFill>
                  <a:srgbClr val="8496A6"/>
                </a:solidFill>
                <a:latin typeface="Arial" pitchFamily="34" charset="0"/>
                <a:ea typeface="Arial" pitchFamily="34" charset="-122"/>
                <a:cs typeface="Arial" pitchFamily="34" charset="-120"/>
              </a:rPr>
              <a:t>What came back</a:t>
            </a:r>
            <a:endParaRPr lang="en-US" sz="1300" dirty="0"/>
          </a:p>
        </p:txBody>
      </p:sp>
      <p:sp>
        <p:nvSpPr>
          <p:cNvPr id="8" name="Text 6"/>
          <p:cNvSpPr txBox="1"/>
          <p:nvPr/>
        </p:nvSpPr>
        <p:spPr>
          <a:xfrm>
            <a:off x="960120" y="2834640"/>
            <a:ext cx="3108960" cy="292608"/>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KA01AB1234</a:t>
            </a:r>
            <a:endParaRPr lang="en-US" sz="1500" dirty="0"/>
          </a:p>
        </p:txBody>
      </p:sp>
      <p:sp>
        <p:nvSpPr>
          <p:cNvPr id="9" name="Text 7"/>
          <p:cNvSpPr txBox="1"/>
          <p:nvPr/>
        </p:nvSpPr>
        <p:spPr>
          <a:xfrm>
            <a:off x="4206240" y="2834640"/>
            <a:ext cx="1280160" cy="292608"/>
          </a:xfrm>
          <a:prstGeom prst="rect">
            <a:avLst/>
          </a:prstGeom>
          <a:noFill/>
          <a:ln/>
        </p:spPr>
        <p:txBody>
          <a:bodyPr wrap="square" lIns="0" tIns="0" rIns="0" bIns="0" rtlCol="0" anchor="ctr"/>
          <a:lstStyle/>
          <a:p>
            <a:pPr indent="0" marL="0">
              <a:buNone/>
            </a:pPr>
            <a:r>
              <a:rPr lang="en-US" sz="1100" dirty="0">
                <a:solidFill>
                  <a:srgbClr val="8496A6"/>
                </a:solidFill>
                <a:latin typeface="Courier New" pitchFamily="34" charset="0"/>
                <a:ea typeface="Courier New" pitchFamily="34" charset="-122"/>
                <a:cs typeface="Courier New" pitchFamily="34" charset="-120"/>
              </a:rPr>
              <a:t>frame 12</a:t>
            </a:r>
            <a:endParaRPr lang="en-US" sz="1100" dirty="0"/>
          </a:p>
        </p:txBody>
      </p:sp>
      <p:sp>
        <p:nvSpPr>
          <p:cNvPr id="10" name="Text 8"/>
          <p:cNvSpPr txBox="1"/>
          <p:nvPr/>
        </p:nvSpPr>
        <p:spPr>
          <a:xfrm>
            <a:off x="960120" y="3182112"/>
            <a:ext cx="3108960" cy="292608"/>
          </a:xfrm>
          <a:prstGeom prst="rect">
            <a:avLst/>
          </a:prstGeom>
          <a:noFill/>
          <a:ln/>
        </p:spPr>
        <p:txBody>
          <a:bodyPr wrap="square" lIns="0" tIns="0" rIns="0" bIns="0" rtlCol="0" anchor="ctr"/>
          <a:lstStyle/>
          <a:p>
            <a:pPr indent="0" marL="0">
              <a:buNone/>
            </a:pPr>
            <a:r>
              <a:rPr lang="en-US" sz="1500" dirty="0">
                <a:solidFill>
                  <a:srgbClr val="8496A6"/>
                </a:solidFill>
                <a:latin typeface="Courier New" pitchFamily="34" charset="0"/>
                <a:ea typeface="Courier New" pitchFamily="34" charset="-122"/>
                <a:cs typeface="Courier New" pitchFamily="34" charset="-120"/>
              </a:rPr>
              <a:t>KA01A81234</a:t>
            </a:r>
            <a:endParaRPr lang="en-US" sz="1500" dirty="0"/>
          </a:p>
        </p:txBody>
      </p:sp>
      <p:sp>
        <p:nvSpPr>
          <p:cNvPr id="11" name="Text 9"/>
          <p:cNvSpPr txBox="1"/>
          <p:nvPr/>
        </p:nvSpPr>
        <p:spPr>
          <a:xfrm>
            <a:off x="4206240" y="3182112"/>
            <a:ext cx="1280160" cy="292608"/>
          </a:xfrm>
          <a:prstGeom prst="rect">
            <a:avLst/>
          </a:prstGeom>
          <a:noFill/>
          <a:ln/>
        </p:spPr>
        <p:txBody>
          <a:bodyPr wrap="square" lIns="0" tIns="0" rIns="0" bIns="0" rtlCol="0" anchor="ctr"/>
          <a:lstStyle/>
          <a:p>
            <a:pPr indent="0" marL="0">
              <a:buNone/>
            </a:pPr>
            <a:r>
              <a:rPr lang="en-US" sz="1100" dirty="0">
                <a:solidFill>
                  <a:srgbClr val="8496A6"/>
                </a:solidFill>
                <a:latin typeface="Courier New" pitchFamily="34" charset="0"/>
                <a:ea typeface="Courier New" pitchFamily="34" charset="-122"/>
                <a:cs typeface="Courier New" pitchFamily="34" charset="-120"/>
              </a:rPr>
              <a:t>frame 15</a:t>
            </a:r>
            <a:endParaRPr lang="en-US" sz="1100" dirty="0"/>
          </a:p>
        </p:txBody>
      </p:sp>
      <p:sp>
        <p:nvSpPr>
          <p:cNvPr id="12" name="Text 10"/>
          <p:cNvSpPr txBox="1"/>
          <p:nvPr/>
        </p:nvSpPr>
        <p:spPr>
          <a:xfrm>
            <a:off x="960120" y="3529584"/>
            <a:ext cx="3108960" cy="292608"/>
          </a:xfrm>
          <a:prstGeom prst="rect">
            <a:avLst/>
          </a:prstGeom>
          <a:noFill/>
          <a:ln/>
        </p:spPr>
        <p:txBody>
          <a:bodyPr wrap="square" lIns="0" tIns="0" rIns="0" bIns="0" rtlCol="0" anchor="ctr"/>
          <a:lstStyle/>
          <a:p>
            <a:pPr indent="0" marL="0">
              <a:buNone/>
            </a:pPr>
            <a:r>
              <a:rPr lang="en-US" sz="1500" dirty="0">
                <a:solidFill>
                  <a:srgbClr val="8496A6"/>
                </a:solidFill>
                <a:latin typeface="Courier New" pitchFamily="34" charset="0"/>
                <a:ea typeface="Courier New" pitchFamily="34" charset="-122"/>
                <a:cs typeface="Courier New" pitchFamily="34" charset="-120"/>
              </a:rPr>
              <a:t>KA0IAB1234</a:t>
            </a:r>
            <a:endParaRPr lang="en-US" sz="1500" dirty="0"/>
          </a:p>
        </p:txBody>
      </p:sp>
      <p:sp>
        <p:nvSpPr>
          <p:cNvPr id="13" name="Text 11"/>
          <p:cNvSpPr txBox="1"/>
          <p:nvPr/>
        </p:nvSpPr>
        <p:spPr>
          <a:xfrm>
            <a:off x="4206240" y="3529584"/>
            <a:ext cx="1280160" cy="292608"/>
          </a:xfrm>
          <a:prstGeom prst="rect">
            <a:avLst/>
          </a:prstGeom>
          <a:noFill/>
          <a:ln/>
        </p:spPr>
        <p:txBody>
          <a:bodyPr wrap="square" lIns="0" tIns="0" rIns="0" bIns="0" rtlCol="0" anchor="ctr"/>
          <a:lstStyle/>
          <a:p>
            <a:pPr indent="0" marL="0">
              <a:buNone/>
            </a:pPr>
            <a:r>
              <a:rPr lang="en-US" sz="1100" dirty="0">
                <a:solidFill>
                  <a:srgbClr val="8496A6"/>
                </a:solidFill>
                <a:latin typeface="Courier New" pitchFamily="34" charset="0"/>
                <a:ea typeface="Courier New" pitchFamily="34" charset="-122"/>
                <a:cs typeface="Courier New" pitchFamily="34" charset="-120"/>
              </a:rPr>
              <a:t>frame 18</a:t>
            </a:r>
            <a:endParaRPr lang="en-US" sz="1100" dirty="0"/>
          </a:p>
        </p:txBody>
      </p:sp>
      <p:sp>
        <p:nvSpPr>
          <p:cNvPr id="14" name="Text 12"/>
          <p:cNvSpPr txBox="1"/>
          <p:nvPr/>
        </p:nvSpPr>
        <p:spPr>
          <a:xfrm>
            <a:off x="960120" y="3877056"/>
            <a:ext cx="3108960" cy="292608"/>
          </a:xfrm>
          <a:prstGeom prst="rect">
            <a:avLst/>
          </a:prstGeom>
          <a:noFill/>
          <a:ln/>
        </p:spPr>
        <p:txBody>
          <a:bodyPr wrap="square" lIns="0" tIns="0" rIns="0" bIns="0" rtlCol="0" anchor="ctr"/>
          <a:lstStyle/>
          <a:p>
            <a:pPr indent="0" marL="0">
              <a:buNone/>
            </a:pPr>
            <a:r>
              <a:rPr lang="en-US" sz="1500" dirty="0">
                <a:solidFill>
                  <a:srgbClr val="8496A6"/>
                </a:solidFill>
                <a:latin typeface="Courier New" pitchFamily="34" charset="0"/>
                <a:ea typeface="Courier New" pitchFamily="34" charset="-122"/>
                <a:cs typeface="Courier New" pitchFamily="34" charset="-120"/>
              </a:rPr>
              <a:t>KA01AB1284</a:t>
            </a:r>
            <a:endParaRPr lang="en-US" sz="1500" dirty="0"/>
          </a:p>
        </p:txBody>
      </p:sp>
      <p:sp>
        <p:nvSpPr>
          <p:cNvPr id="15" name="Text 13"/>
          <p:cNvSpPr txBox="1"/>
          <p:nvPr/>
        </p:nvSpPr>
        <p:spPr>
          <a:xfrm>
            <a:off x="4206240" y="3877056"/>
            <a:ext cx="1280160" cy="292608"/>
          </a:xfrm>
          <a:prstGeom prst="rect">
            <a:avLst/>
          </a:prstGeom>
          <a:noFill/>
          <a:ln/>
        </p:spPr>
        <p:txBody>
          <a:bodyPr wrap="square" lIns="0" tIns="0" rIns="0" bIns="0" rtlCol="0" anchor="ctr"/>
          <a:lstStyle/>
          <a:p>
            <a:pPr indent="0" marL="0">
              <a:buNone/>
            </a:pPr>
            <a:r>
              <a:rPr lang="en-US" sz="1100" dirty="0">
                <a:solidFill>
                  <a:srgbClr val="8496A6"/>
                </a:solidFill>
                <a:latin typeface="Courier New" pitchFamily="34" charset="0"/>
                <a:ea typeface="Courier New" pitchFamily="34" charset="-122"/>
                <a:cs typeface="Courier New" pitchFamily="34" charset="-120"/>
              </a:rPr>
              <a:t>frame 21</a:t>
            </a:r>
            <a:endParaRPr lang="en-US" sz="1100" dirty="0"/>
          </a:p>
        </p:txBody>
      </p:sp>
      <p:sp>
        <p:nvSpPr>
          <p:cNvPr id="16" name="Text 14"/>
          <p:cNvSpPr txBox="1"/>
          <p:nvPr/>
        </p:nvSpPr>
        <p:spPr>
          <a:xfrm>
            <a:off x="960120" y="4224528"/>
            <a:ext cx="3108960" cy="292608"/>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KA01AB1234</a:t>
            </a:r>
            <a:endParaRPr lang="en-US" sz="1500" dirty="0"/>
          </a:p>
        </p:txBody>
      </p:sp>
      <p:sp>
        <p:nvSpPr>
          <p:cNvPr id="17" name="Text 15"/>
          <p:cNvSpPr txBox="1"/>
          <p:nvPr/>
        </p:nvSpPr>
        <p:spPr>
          <a:xfrm>
            <a:off x="4206240" y="4224528"/>
            <a:ext cx="1280160" cy="292608"/>
          </a:xfrm>
          <a:prstGeom prst="rect">
            <a:avLst/>
          </a:prstGeom>
          <a:noFill/>
          <a:ln/>
        </p:spPr>
        <p:txBody>
          <a:bodyPr wrap="square" lIns="0" tIns="0" rIns="0" bIns="0" rtlCol="0" anchor="ctr"/>
          <a:lstStyle/>
          <a:p>
            <a:pPr indent="0" marL="0">
              <a:buNone/>
            </a:pPr>
            <a:r>
              <a:rPr lang="en-US" sz="1100" dirty="0">
                <a:solidFill>
                  <a:srgbClr val="8496A6"/>
                </a:solidFill>
                <a:latin typeface="Courier New" pitchFamily="34" charset="0"/>
                <a:ea typeface="Courier New" pitchFamily="34" charset="-122"/>
                <a:cs typeface="Courier New" pitchFamily="34" charset="-120"/>
              </a:rPr>
              <a:t>frame 24</a:t>
            </a:r>
            <a:endParaRPr lang="en-US" sz="1100" dirty="0"/>
          </a:p>
        </p:txBody>
      </p:sp>
      <p:sp>
        <p:nvSpPr>
          <p:cNvPr id="18" name="Shape 16"/>
          <p:cNvSpPr/>
          <p:nvPr/>
        </p:nvSpPr>
        <p:spPr>
          <a:xfrm>
            <a:off x="5971032" y="2331720"/>
            <a:ext cx="5577840" cy="2377440"/>
          </a:xfrm>
          <a:prstGeom prst="roundRect">
            <a:avLst>
              <a:gd name="adj" fmla="val 2308"/>
            </a:avLst>
          </a:prstGeom>
          <a:solidFill>
            <a:srgbClr val="213040"/>
          </a:solidFill>
          <a:ln w="12700">
            <a:solidFill>
              <a:srgbClr val="2E3F4E"/>
            </a:solidFill>
            <a:prstDash val="solid"/>
          </a:ln>
        </p:spPr>
      </p:sp>
      <p:sp>
        <p:nvSpPr>
          <p:cNvPr id="19" name="Text 17"/>
          <p:cNvSpPr txBox="1"/>
          <p:nvPr/>
        </p:nvSpPr>
        <p:spPr>
          <a:xfrm>
            <a:off x="6291072" y="2487168"/>
            <a:ext cx="4937760" cy="292608"/>
          </a:xfrm>
          <a:prstGeom prst="rect">
            <a:avLst/>
          </a:prstGeom>
          <a:noFill/>
          <a:ln/>
        </p:spPr>
        <p:txBody>
          <a:bodyPr wrap="square" lIns="0" tIns="0" rIns="0" bIns="0" rtlCol="0" anchor="ctr"/>
          <a:lstStyle/>
          <a:p>
            <a:pPr indent="0" marL="0">
              <a:buNone/>
            </a:pPr>
            <a:r>
              <a:rPr lang="en-US" sz="1300" b="1" dirty="0">
                <a:solidFill>
                  <a:srgbClr val="F0B23F"/>
                </a:solidFill>
                <a:latin typeface="Arial" pitchFamily="34" charset="0"/>
                <a:ea typeface="Arial" pitchFamily="34" charset="-122"/>
                <a:cs typeface="Arial" pitchFamily="34" charset="-120"/>
              </a:rPr>
              <a:t>What we do with them</a:t>
            </a:r>
            <a:endParaRPr lang="en-US" sz="1300" dirty="0"/>
          </a:p>
        </p:txBody>
      </p:sp>
      <p:sp>
        <p:nvSpPr>
          <p:cNvPr id="20" name="Text 18"/>
          <p:cNvSpPr txBox="1"/>
          <p:nvPr/>
        </p:nvSpPr>
        <p:spPr>
          <a:xfrm>
            <a:off x="6291072" y="2834640"/>
            <a:ext cx="4937760" cy="173736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We hold a vote — one character position at a time.</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And each vote is WEIGHTED by how confident the reader was about that character. A "0" read at 0.95 confidence out-votes an "O" read at 0.40 confidence.</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The winning characters form the final plate.</a:t>
            </a:r>
            <a:endParaRPr lang="en-US" sz="1350" dirty="0"/>
          </a:p>
        </p:txBody>
      </p:sp>
      <p:sp>
        <p:nvSpPr>
          <p:cNvPr id="21" name="Shape 19"/>
          <p:cNvSpPr/>
          <p:nvPr/>
        </p:nvSpPr>
        <p:spPr>
          <a:xfrm>
            <a:off x="640080" y="4937760"/>
            <a:ext cx="10911535" cy="1371600"/>
          </a:xfrm>
          <a:prstGeom prst="roundRect">
            <a:avLst>
              <a:gd name="adj" fmla="val 4000"/>
            </a:avLst>
          </a:prstGeom>
          <a:solidFill>
            <a:srgbClr val="1E2A1B"/>
          </a:solidFill>
          <a:ln w="12700">
            <a:solidFill>
              <a:srgbClr val="2E3F4E"/>
            </a:solidFill>
            <a:prstDash val="solid"/>
          </a:ln>
        </p:spPr>
      </p:sp>
      <p:sp>
        <p:nvSpPr>
          <p:cNvPr id="22" name="Text 20"/>
          <p:cNvSpPr txBox="1"/>
          <p:nvPr/>
        </p:nvSpPr>
        <p:spPr>
          <a:xfrm>
            <a:off x="1005840" y="5102352"/>
            <a:ext cx="5486400" cy="411480"/>
          </a:xfrm>
          <a:prstGeom prst="rect">
            <a:avLst/>
          </a:prstGeom>
          <a:noFill/>
          <a:ln/>
        </p:spPr>
        <p:txBody>
          <a:bodyPr wrap="square" lIns="0" tIns="0" rIns="0" bIns="0" rtlCol="0" anchor="ctr"/>
          <a:lstStyle/>
          <a:p>
            <a:pPr indent="0" marL="0">
              <a:buNone/>
            </a:pPr>
            <a:r>
              <a:rPr lang="en-US" sz="2200" b="1" dirty="0">
                <a:solidFill>
                  <a:srgbClr val="46C888"/>
                </a:solidFill>
                <a:latin typeface="Courier New" pitchFamily="34" charset="0"/>
                <a:ea typeface="Courier New" pitchFamily="34" charset="-122"/>
                <a:cs typeface="Courier New" pitchFamily="34" charset="-120"/>
              </a:rPr>
              <a:t>Result:   KA01AB1234</a:t>
            </a:r>
            <a:endParaRPr lang="en-US" sz="2200" dirty="0"/>
          </a:p>
        </p:txBody>
      </p:sp>
      <p:sp>
        <p:nvSpPr>
          <p:cNvPr id="23" name="Text 21"/>
          <p:cNvSpPr txBox="1"/>
          <p:nvPr/>
        </p:nvSpPr>
        <p:spPr>
          <a:xfrm>
            <a:off x="1005840" y="5559552"/>
            <a:ext cx="10180015" cy="640080"/>
          </a:xfrm>
          <a:prstGeom prst="rect">
            <a:avLst/>
          </a:prstGeom>
          <a:noFill/>
          <a:ln/>
        </p:spPr>
        <p:txBody>
          <a:bodyPr wrap="square" lIns="0" tIns="0" rIns="0" bIns="0" rtlCol="0" anchor="ctr"/>
          <a:lstStyle/>
          <a:p>
            <a:pPr indent="0" marL="0">
              <a:buNone/>
            </a:pPr>
            <a:r>
              <a:rPr lang="en-US" sz="1400" i="1" dirty="0">
                <a:solidFill>
                  <a:srgbClr val="BCC9D5"/>
                </a:solidFill>
                <a:latin typeface="Calibri" pitchFamily="34" charset="0"/>
                <a:ea typeface="Calibri" pitchFamily="34" charset="-122"/>
                <a:cs typeface="Calibri" pitchFamily="34" charset="-120"/>
              </a:rPr>
              <a:t>One agreed answer from fifteen imperfect ones. This is the sentence to memorise: "We never trust a single frame — we vote across every frame we got, weighted by confidence."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STEP 7 OF 9 — OUR OWN CODE</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Indian plates have a shape. We use it.</a:t>
            </a:r>
            <a:endParaRPr lang="en-US" sz="3200" dirty="0"/>
          </a:p>
        </p:txBody>
      </p:sp>
      <p:sp>
        <p:nvSpPr>
          <p:cNvPr id="4" name="Text 2"/>
          <p:cNvSpPr txBox="1"/>
          <p:nvPr/>
        </p:nvSpPr>
        <p:spPr>
          <a:xfrm>
            <a:off x="640080" y="1417320"/>
            <a:ext cx="5486400" cy="320040"/>
          </a:xfrm>
          <a:prstGeom prst="rect">
            <a:avLst/>
          </a:prstGeom>
          <a:noFill/>
          <a:ln/>
        </p:spPr>
        <p:txBody>
          <a:bodyPr wrap="square" lIns="0" tIns="0" rIns="0" bIns="0" rtlCol="0" anchor="ctr"/>
          <a:lstStyle/>
          <a:p>
            <a:pPr indent="0" marL="0">
              <a:buNone/>
            </a:pPr>
            <a:r>
              <a:rPr lang="en-US" sz="1500" dirty="0">
                <a:solidFill>
                  <a:srgbClr val="58BFD6"/>
                </a:solidFill>
                <a:latin typeface="Courier New" pitchFamily="34" charset="0"/>
                <a:ea typeface="Courier New" pitchFamily="34" charset="-122"/>
                <a:cs typeface="Courier New" pitchFamily="34" charset="-120"/>
              </a:rPr>
              <a:t>plate_grammar.py</a:t>
            </a:r>
            <a:endParaRPr lang="en-US" sz="1500" dirty="0"/>
          </a:p>
        </p:txBody>
      </p:sp>
      <p:sp>
        <p:nvSpPr>
          <p:cNvPr id="5" name="Shape 3"/>
          <p:cNvSpPr/>
          <p:nvPr/>
        </p:nvSpPr>
        <p:spPr>
          <a:xfrm>
            <a:off x="640080" y="1828800"/>
            <a:ext cx="10911535" cy="1371600"/>
          </a:xfrm>
          <a:prstGeom prst="roundRect">
            <a:avLst>
              <a:gd name="adj" fmla="val 4000"/>
            </a:avLst>
          </a:prstGeom>
          <a:solidFill>
            <a:srgbClr val="213040"/>
          </a:solidFill>
          <a:ln w="12700">
            <a:solidFill>
              <a:srgbClr val="2E3F4E"/>
            </a:solidFill>
            <a:prstDash val="solid"/>
          </a:ln>
        </p:spPr>
      </p:sp>
      <p:sp>
        <p:nvSpPr>
          <p:cNvPr id="6" name="Text 4"/>
          <p:cNvSpPr txBox="1"/>
          <p:nvPr/>
        </p:nvSpPr>
        <p:spPr>
          <a:xfrm>
            <a:off x="1005840" y="2011680"/>
            <a:ext cx="5029200" cy="457200"/>
          </a:xfrm>
          <a:prstGeom prst="rect">
            <a:avLst/>
          </a:prstGeom>
          <a:noFill/>
          <a:ln/>
        </p:spPr>
        <p:txBody>
          <a:bodyPr wrap="square" lIns="0" tIns="0" rIns="0" bIns="0" rtlCol="0" anchor="ctr"/>
          <a:lstStyle/>
          <a:p>
            <a:pPr indent="0" marL="0">
              <a:buNone/>
            </a:pPr>
            <a:r>
              <a:rPr lang="en-US" sz="2800" b="1" spc="200" kern="0" dirty="0">
                <a:solidFill>
                  <a:srgbClr val="F0B23F"/>
                </a:solidFill>
                <a:latin typeface="Courier New" pitchFamily="34" charset="0"/>
                <a:ea typeface="Courier New" pitchFamily="34" charset="-122"/>
                <a:cs typeface="Courier New" pitchFamily="34" charset="-120"/>
              </a:rPr>
              <a:t>KA  01  AB  1234</a:t>
            </a:r>
            <a:endParaRPr lang="en-US" sz="2800" dirty="0"/>
          </a:p>
        </p:txBody>
      </p:sp>
      <p:sp>
        <p:nvSpPr>
          <p:cNvPr id="7" name="Text 5"/>
          <p:cNvSpPr txBox="1"/>
          <p:nvPr/>
        </p:nvSpPr>
        <p:spPr>
          <a:xfrm>
            <a:off x="6400800" y="2011680"/>
            <a:ext cx="1371600" cy="548640"/>
          </a:xfrm>
          <a:prstGeom prst="rect">
            <a:avLst/>
          </a:prstGeom>
          <a:noFill/>
          <a:ln/>
        </p:spPr>
        <p:txBody>
          <a:bodyPr wrap="square" lIns="0" tIns="0" rIns="0" bIns="0" rtlCol="0" anchor="ctr"/>
          <a:lstStyle/>
          <a:p>
            <a:pPr indent="0" marL="0">
              <a:lnSpc>
                <a:spcPct val="110000"/>
              </a:lnSpc>
              <a:buNone/>
            </a:pPr>
            <a:r>
              <a:rPr lang="en-US" sz="1150" dirty="0">
                <a:solidFill>
                  <a:srgbClr val="8496A6"/>
                </a:solidFill>
                <a:latin typeface="Calibri" pitchFamily="34" charset="0"/>
                <a:ea typeface="Calibri" pitchFamily="34" charset="-122"/>
                <a:cs typeface="Calibri" pitchFamily="34" charset="-120"/>
              </a:rPr>
              <a:t>two letters</a:t>
            </a:r>
            <a:endParaRPr lang="en-US" sz="1150" dirty="0"/>
          </a:p>
          <a:p>
            <a:pPr indent="0" marL="0">
              <a:lnSpc>
                <a:spcPct val="110000"/>
              </a:lnSpc>
              <a:buNone/>
            </a:pPr>
            <a:r>
              <a:rPr lang="en-US" sz="1150" dirty="0">
                <a:solidFill>
                  <a:srgbClr val="8496A6"/>
                </a:solidFill>
                <a:latin typeface="Calibri" pitchFamily="34" charset="0"/>
                <a:ea typeface="Calibri" pitchFamily="34" charset="-122"/>
                <a:cs typeface="Calibri" pitchFamily="34" charset="-120"/>
              </a:rPr>
              <a:t>the state</a:t>
            </a:r>
            <a:endParaRPr lang="en-US" sz="1150" dirty="0"/>
          </a:p>
        </p:txBody>
      </p:sp>
      <p:sp>
        <p:nvSpPr>
          <p:cNvPr id="8" name="Text 6"/>
          <p:cNvSpPr txBox="1"/>
          <p:nvPr/>
        </p:nvSpPr>
        <p:spPr>
          <a:xfrm>
            <a:off x="7863840" y="2011680"/>
            <a:ext cx="1371600" cy="548640"/>
          </a:xfrm>
          <a:prstGeom prst="rect">
            <a:avLst/>
          </a:prstGeom>
          <a:noFill/>
          <a:ln/>
        </p:spPr>
        <p:txBody>
          <a:bodyPr wrap="square" lIns="0" tIns="0" rIns="0" bIns="0" rtlCol="0" anchor="ctr"/>
          <a:lstStyle/>
          <a:p>
            <a:pPr indent="0" marL="0">
              <a:lnSpc>
                <a:spcPct val="110000"/>
              </a:lnSpc>
              <a:buNone/>
            </a:pPr>
            <a:r>
              <a:rPr lang="en-US" sz="1150" dirty="0">
                <a:solidFill>
                  <a:srgbClr val="8496A6"/>
                </a:solidFill>
                <a:latin typeface="Calibri" pitchFamily="34" charset="0"/>
                <a:ea typeface="Calibri" pitchFamily="34" charset="-122"/>
                <a:cs typeface="Calibri" pitchFamily="34" charset="-120"/>
              </a:rPr>
              <a:t>1-2 digits</a:t>
            </a:r>
            <a:endParaRPr lang="en-US" sz="1150" dirty="0"/>
          </a:p>
          <a:p>
            <a:pPr indent="0" marL="0">
              <a:lnSpc>
                <a:spcPct val="110000"/>
              </a:lnSpc>
              <a:buNone/>
            </a:pPr>
            <a:r>
              <a:rPr lang="en-US" sz="1150" dirty="0">
                <a:solidFill>
                  <a:srgbClr val="8496A6"/>
                </a:solidFill>
                <a:latin typeface="Calibri" pitchFamily="34" charset="0"/>
                <a:ea typeface="Calibri" pitchFamily="34" charset="-122"/>
                <a:cs typeface="Calibri" pitchFamily="34" charset="-120"/>
              </a:rPr>
              <a:t>the district</a:t>
            </a:r>
            <a:endParaRPr lang="en-US" sz="1150" dirty="0"/>
          </a:p>
        </p:txBody>
      </p:sp>
      <p:sp>
        <p:nvSpPr>
          <p:cNvPr id="9" name="Text 7"/>
          <p:cNvSpPr txBox="1"/>
          <p:nvPr/>
        </p:nvSpPr>
        <p:spPr>
          <a:xfrm>
            <a:off x="9326880" y="2011680"/>
            <a:ext cx="1371600" cy="548640"/>
          </a:xfrm>
          <a:prstGeom prst="rect">
            <a:avLst/>
          </a:prstGeom>
          <a:noFill/>
          <a:ln/>
        </p:spPr>
        <p:txBody>
          <a:bodyPr wrap="square" lIns="0" tIns="0" rIns="0" bIns="0" rtlCol="0" anchor="ctr"/>
          <a:lstStyle/>
          <a:p>
            <a:pPr indent="0" marL="0">
              <a:lnSpc>
                <a:spcPct val="110000"/>
              </a:lnSpc>
              <a:buNone/>
            </a:pPr>
            <a:r>
              <a:rPr lang="en-US" sz="1150" dirty="0">
                <a:solidFill>
                  <a:srgbClr val="8496A6"/>
                </a:solidFill>
                <a:latin typeface="Calibri" pitchFamily="34" charset="0"/>
                <a:ea typeface="Calibri" pitchFamily="34" charset="-122"/>
                <a:cs typeface="Calibri" pitchFamily="34" charset="-120"/>
              </a:rPr>
              <a:t>1-3 letters</a:t>
            </a:r>
            <a:endParaRPr lang="en-US" sz="1150" dirty="0"/>
          </a:p>
          <a:p>
            <a:pPr indent="0" marL="0">
              <a:lnSpc>
                <a:spcPct val="110000"/>
              </a:lnSpc>
              <a:buNone/>
            </a:pPr>
            <a:r>
              <a:rPr lang="en-US" sz="1150" dirty="0">
                <a:solidFill>
                  <a:srgbClr val="8496A6"/>
                </a:solidFill>
                <a:latin typeface="Calibri" pitchFamily="34" charset="0"/>
                <a:ea typeface="Calibri" pitchFamily="34" charset="-122"/>
                <a:cs typeface="Calibri" pitchFamily="34" charset="-120"/>
              </a:rPr>
              <a:t>the series</a:t>
            </a:r>
            <a:endParaRPr lang="en-US" sz="1150" dirty="0"/>
          </a:p>
        </p:txBody>
      </p:sp>
      <p:sp>
        <p:nvSpPr>
          <p:cNvPr id="10" name="Text 8"/>
          <p:cNvSpPr txBox="1"/>
          <p:nvPr/>
        </p:nvSpPr>
        <p:spPr>
          <a:xfrm>
            <a:off x="1005840" y="2697480"/>
            <a:ext cx="10180015" cy="411480"/>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This is a fixed, legally defined shape. Any reading that does not fit it is wrong, and we can often tell exactly where.</a:t>
            </a:r>
            <a:endParaRPr lang="en-US" sz="1350" dirty="0"/>
          </a:p>
        </p:txBody>
      </p:sp>
      <p:sp>
        <p:nvSpPr>
          <p:cNvPr id="11" name="Shape 9"/>
          <p:cNvSpPr/>
          <p:nvPr/>
        </p:nvSpPr>
        <p:spPr>
          <a:xfrm>
            <a:off x="640080" y="3429000"/>
            <a:ext cx="5257800" cy="1463040"/>
          </a:xfrm>
          <a:prstGeom prst="roundRect">
            <a:avLst>
              <a:gd name="adj" fmla="val 3750"/>
            </a:avLst>
          </a:prstGeom>
          <a:solidFill>
            <a:srgbClr val="18242F"/>
          </a:solidFill>
          <a:ln w="12700">
            <a:solidFill>
              <a:srgbClr val="2E3F4E"/>
            </a:solidFill>
            <a:prstDash val="solid"/>
          </a:ln>
        </p:spPr>
      </p:sp>
      <p:sp>
        <p:nvSpPr>
          <p:cNvPr id="12" name="Text 10"/>
          <p:cNvSpPr txBox="1"/>
          <p:nvPr/>
        </p:nvSpPr>
        <p:spPr>
          <a:xfrm>
            <a:off x="960120" y="3593592"/>
            <a:ext cx="4572000" cy="292608"/>
          </a:xfrm>
          <a:prstGeom prst="rect">
            <a:avLst/>
          </a:prstGeom>
          <a:noFill/>
          <a:ln/>
        </p:spPr>
        <p:txBody>
          <a:bodyPr wrap="square" lIns="0" tIns="0" rIns="0" bIns="0" rtlCol="0" anchor="ctr"/>
          <a:lstStyle/>
          <a:p>
            <a:pPr indent="0" marL="0">
              <a:buNone/>
            </a:pPr>
            <a:r>
              <a:rPr lang="en-US" sz="1500" b="1" dirty="0">
                <a:solidFill>
                  <a:srgbClr val="46C888"/>
                </a:solidFill>
                <a:latin typeface="Arial" pitchFamily="34" charset="0"/>
                <a:ea typeface="Arial" pitchFamily="34" charset="-122"/>
                <a:cs typeface="Arial" pitchFamily="34" charset="-120"/>
              </a:rPr>
              <a:t>Repair</a:t>
            </a:r>
            <a:endParaRPr lang="en-US" sz="1500" dirty="0"/>
          </a:p>
        </p:txBody>
      </p:sp>
      <p:sp>
        <p:nvSpPr>
          <p:cNvPr id="13" name="Text 11"/>
          <p:cNvSpPr txBox="1"/>
          <p:nvPr/>
        </p:nvSpPr>
        <p:spPr>
          <a:xfrm>
            <a:off x="960120" y="3913632"/>
            <a:ext cx="4617720" cy="868680"/>
          </a:xfrm>
          <a:prstGeom prst="rect">
            <a:avLst/>
          </a:prstGeom>
          <a:noFill/>
          <a:ln/>
        </p:spPr>
        <p:txBody>
          <a:bodyPr wrap="square" lIns="0" tIns="0" rIns="0" bIns="0" rtlCol="0" anchor="ctr"/>
          <a:lstStyle/>
          <a:p>
            <a:pPr indent="0" marL="0">
              <a:lnSpc>
                <a:spcPct val="112000"/>
              </a:lnSpc>
              <a:buNone/>
            </a:pPr>
            <a:r>
              <a:rPr lang="en-US" sz="1300" dirty="0">
                <a:solidFill>
                  <a:srgbClr val="BCC9D5"/>
                </a:solidFill>
                <a:latin typeface="Calibri" pitchFamily="34" charset="0"/>
                <a:ea typeface="Calibri" pitchFamily="34" charset="-122"/>
                <a:cs typeface="Calibri" pitchFamily="34" charset="-120"/>
              </a:rPr>
              <a:t>Position 3 must be a letter. The reader gave us a "0" there. In that position a "0" is almost certainly an "O", so we correct it.</a:t>
            </a:r>
            <a:endParaRPr lang="en-US" sz="1300" dirty="0"/>
          </a:p>
        </p:txBody>
      </p:sp>
      <p:sp>
        <p:nvSpPr>
          <p:cNvPr id="14" name="Shape 12"/>
          <p:cNvSpPr/>
          <p:nvPr/>
        </p:nvSpPr>
        <p:spPr>
          <a:xfrm>
            <a:off x="6291072" y="3429000"/>
            <a:ext cx="5257800" cy="1463040"/>
          </a:xfrm>
          <a:prstGeom prst="roundRect">
            <a:avLst>
              <a:gd name="adj" fmla="val 3750"/>
            </a:avLst>
          </a:prstGeom>
          <a:solidFill>
            <a:srgbClr val="18242F"/>
          </a:solidFill>
          <a:ln w="12700">
            <a:solidFill>
              <a:srgbClr val="2E3F4E"/>
            </a:solidFill>
            <a:prstDash val="solid"/>
          </a:ln>
        </p:spPr>
      </p:sp>
      <p:sp>
        <p:nvSpPr>
          <p:cNvPr id="15" name="Text 13"/>
          <p:cNvSpPr txBox="1"/>
          <p:nvPr/>
        </p:nvSpPr>
        <p:spPr>
          <a:xfrm>
            <a:off x="6611112" y="3593592"/>
            <a:ext cx="4572000" cy="292608"/>
          </a:xfrm>
          <a:prstGeom prst="rect">
            <a:avLst/>
          </a:prstGeom>
          <a:noFill/>
          <a:ln/>
        </p:spPr>
        <p:txBody>
          <a:bodyPr wrap="square" lIns="0" tIns="0" rIns="0" bIns="0" rtlCol="0" anchor="ctr"/>
          <a:lstStyle/>
          <a:p>
            <a:pPr indent="0" marL="0">
              <a:buNone/>
            </a:pPr>
            <a:r>
              <a:rPr lang="en-US" sz="1500" b="1" dirty="0">
                <a:solidFill>
                  <a:srgbClr val="46C888"/>
                </a:solidFill>
                <a:latin typeface="Arial" pitchFamily="34" charset="0"/>
                <a:ea typeface="Arial" pitchFamily="34" charset="-122"/>
                <a:cs typeface="Arial" pitchFamily="34" charset="-120"/>
              </a:rPr>
              <a:t>Fair comparison</a:t>
            </a:r>
            <a:endParaRPr lang="en-US" sz="1500" dirty="0"/>
          </a:p>
        </p:txBody>
      </p:sp>
      <p:sp>
        <p:nvSpPr>
          <p:cNvPr id="16" name="Text 14"/>
          <p:cNvSpPr txBox="1"/>
          <p:nvPr/>
        </p:nvSpPr>
        <p:spPr>
          <a:xfrm>
            <a:off x="6611112" y="3913632"/>
            <a:ext cx="4617720" cy="868680"/>
          </a:xfrm>
          <a:prstGeom prst="rect">
            <a:avLst/>
          </a:prstGeom>
          <a:noFill/>
          <a:ln/>
        </p:spPr>
        <p:txBody>
          <a:bodyPr wrap="square" lIns="0" tIns="0" rIns="0" bIns="0" rtlCol="0" anchor="ctr"/>
          <a:lstStyle/>
          <a:p>
            <a:pPr indent="0" marL="0">
              <a:lnSpc>
                <a:spcPct val="112000"/>
              </a:lnSpc>
              <a:buNone/>
            </a:pPr>
            <a:r>
              <a:rPr lang="en-US" sz="1300" dirty="0">
                <a:solidFill>
                  <a:srgbClr val="BCC9D5"/>
                </a:solidFill>
                <a:latin typeface="Calibri" pitchFamily="34" charset="0"/>
                <a:ea typeface="Calibri" pitchFamily="34" charset="-122"/>
                <a:cs typeface="Calibri" pitchFamily="34" charset="-120"/>
              </a:rPr>
              <a:t>When comparing two plates we know which mistakes cameras really make. Those cost a quarter of a point. A random mismatch costs a full point.</a:t>
            </a:r>
            <a:endParaRPr lang="en-US" sz="1300" dirty="0"/>
          </a:p>
        </p:txBody>
      </p:sp>
      <p:sp>
        <p:nvSpPr>
          <p:cNvPr id="17" name="Text 15"/>
          <p:cNvSpPr txBox="1"/>
          <p:nvPr/>
        </p:nvSpPr>
        <p:spPr>
          <a:xfrm>
            <a:off x="640080" y="5074920"/>
            <a:ext cx="10911535" cy="457200"/>
          </a:xfrm>
          <a:prstGeom prst="rect">
            <a:avLst/>
          </a:prstGeom>
          <a:noFill/>
          <a:ln/>
        </p:spPr>
        <p:txBody>
          <a:bodyPr wrap="square" lIns="0" tIns="0" rIns="0" bIns="0" rtlCol="0" anchor="ctr"/>
          <a:lstStyle/>
          <a:p>
            <a:pPr indent="0" marL="0">
              <a:lnSpc>
                <a:spcPct val="115000"/>
              </a:lnSpc>
              <a:buNone/>
            </a:pPr>
            <a:r>
              <a:rPr lang="en-US" sz="1350" dirty="0">
                <a:solidFill>
                  <a:srgbClr val="8496A6"/>
                </a:solidFill>
                <a:latin typeface="Calibri" pitchFamily="34" charset="0"/>
                <a:ea typeface="Calibri" pitchFamily="34" charset="-122"/>
                <a:cs typeface="Calibri" pitchFamily="34" charset="-120"/>
              </a:rPr>
              <a:t>The character pairs cameras genuinely confuse:</a:t>
            </a:r>
            <a:endParaRPr lang="en-US" sz="1350" dirty="0"/>
          </a:p>
        </p:txBody>
      </p:sp>
      <p:sp>
        <p:nvSpPr>
          <p:cNvPr id="18" name="Shape 16"/>
          <p:cNvSpPr/>
          <p:nvPr/>
        </p:nvSpPr>
        <p:spPr>
          <a:xfrm>
            <a:off x="640080" y="5440680"/>
            <a:ext cx="1645920" cy="384048"/>
          </a:xfrm>
          <a:prstGeom prst="roundRect">
            <a:avLst>
              <a:gd name="adj" fmla="val 47619"/>
            </a:avLst>
          </a:prstGeom>
          <a:solidFill>
            <a:srgbClr val="213040"/>
          </a:solidFill>
          <a:ln w="12700">
            <a:solidFill>
              <a:srgbClr val="F0B23F"/>
            </a:solidFill>
            <a:prstDash val="solid"/>
          </a:ln>
        </p:spPr>
      </p:sp>
      <p:sp>
        <p:nvSpPr>
          <p:cNvPr id="19" name="Text 17"/>
          <p:cNvSpPr txBox="1"/>
          <p:nvPr/>
        </p:nvSpPr>
        <p:spPr>
          <a:xfrm>
            <a:off x="640080" y="5440680"/>
            <a:ext cx="1645920"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0 ↔ O</a:t>
            </a:r>
            <a:endParaRPr lang="en-US" sz="1150" dirty="0"/>
          </a:p>
        </p:txBody>
      </p:sp>
      <p:sp>
        <p:nvSpPr>
          <p:cNvPr id="20" name="Shape 18"/>
          <p:cNvSpPr/>
          <p:nvPr/>
        </p:nvSpPr>
        <p:spPr>
          <a:xfrm>
            <a:off x="2468880" y="5440680"/>
            <a:ext cx="1645920" cy="384048"/>
          </a:xfrm>
          <a:prstGeom prst="roundRect">
            <a:avLst>
              <a:gd name="adj" fmla="val 47619"/>
            </a:avLst>
          </a:prstGeom>
          <a:solidFill>
            <a:srgbClr val="213040"/>
          </a:solidFill>
          <a:ln w="12700">
            <a:solidFill>
              <a:srgbClr val="F0B23F"/>
            </a:solidFill>
            <a:prstDash val="solid"/>
          </a:ln>
        </p:spPr>
      </p:sp>
      <p:sp>
        <p:nvSpPr>
          <p:cNvPr id="21" name="Text 19"/>
          <p:cNvSpPr txBox="1"/>
          <p:nvPr/>
        </p:nvSpPr>
        <p:spPr>
          <a:xfrm>
            <a:off x="2468880" y="5440680"/>
            <a:ext cx="1645920"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8 ↔ B</a:t>
            </a:r>
            <a:endParaRPr lang="en-US" sz="1150" dirty="0"/>
          </a:p>
        </p:txBody>
      </p:sp>
      <p:sp>
        <p:nvSpPr>
          <p:cNvPr id="22" name="Shape 20"/>
          <p:cNvSpPr/>
          <p:nvPr/>
        </p:nvSpPr>
        <p:spPr>
          <a:xfrm>
            <a:off x="4297680" y="5440680"/>
            <a:ext cx="1645920" cy="384048"/>
          </a:xfrm>
          <a:prstGeom prst="roundRect">
            <a:avLst>
              <a:gd name="adj" fmla="val 47619"/>
            </a:avLst>
          </a:prstGeom>
          <a:solidFill>
            <a:srgbClr val="213040"/>
          </a:solidFill>
          <a:ln w="12700">
            <a:solidFill>
              <a:srgbClr val="F0B23F"/>
            </a:solidFill>
            <a:prstDash val="solid"/>
          </a:ln>
        </p:spPr>
      </p:sp>
      <p:sp>
        <p:nvSpPr>
          <p:cNvPr id="23" name="Text 21"/>
          <p:cNvSpPr txBox="1"/>
          <p:nvPr/>
        </p:nvSpPr>
        <p:spPr>
          <a:xfrm>
            <a:off x="4297680" y="5440680"/>
            <a:ext cx="1645920"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1 ↔ I</a:t>
            </a:r>
            <a:endParaRPr lang="en-US" sz="1150" dirty="0"/>
          </a:p>
        </p:txBody>
      </p:sp>
      <p:sp>
        <p:nvSpPr>
          <p:cNvPr id="24" name="Shape 22"/>
          <p:cNvSpPr/>
          <p:nvPr/>
        </p:nvSpPr>
        <p:spPr>
          <a:xfrm>
            <a:off x="6126480" y="5440680"/>
            <a:ext cx="1645920" cy="384048"/>
          </a:xfrm>
          <a:prstGeom prst="roundRect">
            <a:avLst>
              <a:gd name="adj" fmla="val 47619"/>
            </a:avLst>
          </a:prstGeom>
          <a:solidFill>
            <a:srgbClr val="213040"/>
          </a:solidFill>
          <a:ln w="12700">
            <a:solidFill>
              <a:srgbClr val="F0B23F"/>
            </a:solidFill>
            <a:prstDash val="solid"/>
          </a:ln>
        </p:spPr>
      </p:sp>
      <p:sp>
        <p:nvSpPr>
          <p:cNvPr id="25" name="Text 23"/>
          <p:cNvSpPr txBox="1"/>
          <p:nvPr/>
        </p:nvSpPr>
        <p:spPr>
          <a:xfrm>
            <a:off x="6126480" y="5440680"/>
            <a:ext cx="1645920"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5 ↔ S</a:t>
            </a:r>
            <a:endParaRPr lang="en-US" sz="1150" dirty="0"/>
          </a:p>
        </p:txBody>
      </p:sp>
      <p:sp>
        <p:nvSpPr>
          <p:cNvPr id="26" name="Shape 24"/>
          <p:cNvSpPr/>
          <p:nvPr/>
        </p:nvSpPr>
        <p:spPr>
          <a:xfrm>
            <a:off x="7955280" y="5440680"/>
            <a:ext cx="1645920" cy="384048"/>
          </a:xfrm>
          <a:prstGeom prst="roundRect">
            <a:avLst>
              <a:gd name="adj" fmla="val 47619"/>
            </a:avLst>
          </a:prstGeom>
          <a:solidFill>
            <a:srgbClr val="213040"/>
          </a:solidFill>
          <a:ln w="12700">
            <a:solidFill>
              <a:srgbClr val="F0B23F"/>
            </a:solidFill>
            <a:prstDash val="solid"/>
          </a:ln>
        </p:spPr>
      </p:sp>
      <p:sp>
        <p:nvSpPr>
          <p:cNvPr id="27" name="Text 25"/>
          <p:cNvSpPr txBox="1"/>
          <p:nvPr/>
        </p:nvSpPr>
        <p:spPr>
          <a:xfrm>
            <a:off x="7955280" y="5440680"/>
            <a:ext cx="1645920"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2 ↔ Z</a:t>
            </a:r>
            <a:endParaRPr lang="en-US" sz="1150" dirty="0"/>
          </a:p>
        </p:txBody>
      </p:sp>
      <p:sp>
        <p:nvSpPr>
          <p:cNvPr id="28" name="Shape 26"/>
          <p:cNvSpPr/>
          <p:nvPr/>
        </p:nvSpPr>
        <p:spPr>
          <a:xfrm>
            <a:off x="9784080" y="5440680"/>
            <a:ext cx="1645920" cy="384048"/>
          </a:xfrm>
          <a:prstGeom prst="roundRect">
            <a:avLst>
              <a:gd name="adj" fmla="val 47619"/>
            </a:avLst>
          </a:prstGeom>
          <a:solidFill>
            <a:srgbClr val="213040"/>
          </a:solidFill>
          <a:ln w="12700">
            <a:solidFill>
              <a:srgbClr val="F0B23F"/>
            </a:solidFill>
            <a:prstDash val="solid"/>
          </a:ln>
        </p:spPr>
      </p:sp>
      <p:sp>
        <p:nvSpPr>
          <p:cNvPr id="29" name="Text 27"/>
          <p:cNvSpPr txBox="1"/>
          <p:nvPr/>
        </p:nvSpPr>
        <p:spPr>
          <a:xfrm>
            <a:off x="9784080" y="5440680"/>
            <a:ext cx="1645920"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D ↔ O</a:t>
            </a:r>
            <a:endParaRPr lang="en-US" sz="1150" dirty="0"/>
          </a:p>
        </p:txBody>
      </p:sp>
      <p:sp>
        <p:nvSpPr>
          <p:cNvPr id="30" name="Text 28"/>
          <p:cNvSpPr txBox="1"/>
          <p:nvPr/>
        </p:nvSpPr>
        <p:spPr>
          <a:xfrm>
            <a:off x="640080" y="6035040"/>
            <a:ext cx="10911535" cy="365760"/>
          </a:xfrm>
          <a:prstGeom prst="rect">
            <a:avLst/>
          </a:prstGeom>
          <a:noFill/>
          <a:ln/>
        </p:spPr>
        <p:txBody>
          <a:bodyPr wrap="square" lIns="0" tIns="0" rIns="0" bIns="0" rtlCol="0" anchor="ctr"/>
          <a:lstStyle/>
          <a:p>
            <a:pPr indent="0" marL="0">
              <a:buNone/>
            </a:pPr>
            <a:r>
              <a:rPr lang="en-US" sz="1350" i="1" dirty="0">
                <a:solidFill>
                  <a:srgbClr val="BCC9D5"/>
                </a:solidFill>
                <a:latin typeface="Calibri" pitchFamily="34" charset="0"/>
                <a:ea typeface="Calibri" pitchFamily="34" charset="-122"/>
                <a:cs typeface="Calibri" pitchFamily="34" charset="-120"/>
              </a:rPr>
              <a:t>So "KA01AB1234" and "KA0IAB1234" are treated as a near-miss of the same vehicle, not two different vehicles.</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STEP 8 OF 9</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Announce it on a noticeboard</a:t>
            </a:r>
            <a:endParaRPr lang="en-US" sz="3200" dirty="0"/>
          </a:p>
        </p:txBody>
      </p:sp>
      <p:sp>
        <p:nvSpPr>
          <p:cNvPr id="4" name="Text 2"/>
          <p:cNvSpPr txBox="1"/>
          <p:nvPr/>
        </p:nvSpPr>
        <p:spPr>
          <a:xfrm>
            <a:off x="640080" y="1417320"/>
            <a:ext cx="5486400" cy="320040"/>
          </a:xfrm>
          <a:prstGeom prst="rect">
            <a:avLst/>
          </a:prstGeom>
          <a:noFill/>
          <a:ln/>
        </p:spPr>
        <p:txBody>
          <a:bodyPr wrap="square" lIns="0" tIns="0" rIns="0" bIns="0" rtlCol="0" anchor="ctr"/>
          <a:lstStyle/>
          <a:p>
            <a:pPr indent="0" marL="0">
              <a:buNone/>
            </a:pPr>
            <a:r>
              <a:rPr lang="en-US" sz="1500" dirty="0">
                <a:solidFill>
                  <a:srgbClr val="58BFD6"/>
                </a:solidFill>
                <a:latin typeface="Courier New" pitchFamily="34" charset="0"/>
                <a:ea typeface="Courier New" pitchFamily="34" charset="-122"/>
                <a:cs typeface="Courier New" pitchFamily="34" charset="-120"/>
              </a:rPr>
              <a:t>core/bus.py</a:t>
            </a:r>
            <a:endParaRPr lang="en-US" sz="1500" dirty="0"/>
          </a:p>
        </p:txBody>
      </p:sp>
      <p:sp>
        <p:nvSpPr>
          <p:cNvPr id="5" name="Text 3"/>
          <p:cNvSpPr txBox="1"/>
          <p:nvPr/>
        </p:nvSpPr>
        <p:spPr>
          <a:xfrm>
            <a:off x="640080" y="1847088"/>
            <a:ext cx="10911535" cy="59436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When a vehicle finally leaves the frame, its sighting is finished. The camera program does NOT save it to the database itself. Instead it pins a note to a noticeboard: "sighting completed, here are the details."</a:t>
            </a:r>
            <a:endParaRPr lang="en-US" sz="1600" dirty="0"/>
          </a:p>
        </p:txBody>
      </p:sp>
      <p:sp>
        <p:nvSpPr>
          <p:cNvPr id="6" name="Shape 4"/>
          <p:cNvSpPr/>
          <p:nvPr/>
        </p:nvSpPr>
        <p:spPr>
          <a:xfrm>
            <a:off x="640080" y="2578608"/>
            <a:ext cx="5257800" cy="1938528"/>
          </a:xfrm>
          <a:prstGeom prst="roundRect">
            <a:avLst>
              <a:gd name="adj" fmla="val 2830"/>
            </a:avLst>
          </a:prstGeom>
          <a:solidFill>
            <a:srgbClr val="18242F"/>
          </a:solidFill>
          <a:ln w="12700">
            <a:solidFill>
              <a:srgbClr val="2E3F4E"/>
            </a:solidFill>
            <a:prstDash val="solid"/>
          </a:ln>
        </p:spPr>
      </p:sp>
      <p:sp>
        <p:nvSpPr>
          <p:cNvPr id="7" name="Text 5"/>
          <p:cNvSpPr txBox="1"/>
          <p:nvPr/>
        </p:nvSpPr>
        <p:spPr>
          <a:xfrm>
            <a:off x="960120" y="2743200"/>
            <a:ext cx="4572000" cy="292608"/>
          </a:xfrm>
          <a:prstGeom prst="rect">
            <a:avLst/>
          </a:prstGeom>
          <a:noFill/>
          <a:ln/>
        </p:spPr>
        <p:txBody>
          <a:bodyPr wrap="square" lIns="0" tIns="0" rIns="0" bIns="0" rtlCol="0" anchor="ctr"/>
          <a:lstStyle/>
          <a:p>
            <a:pPr indent="0" marL="0">
              <a:buNone/>
            </a:pPr>
            <a:r>
              <a:rPr lang="en-US" sz="1500" b="1" dirty="0">
                <a:solidFill>
                  <a:srgbClr val="8496A6"/>
                </a:solidFill>
                <a:latin typeface="Arial" pitchFamily="34" charset="0"/>
                <a:ea typeface="Arial" pitchFamily="34" charset="-122"/>
                <a:cs typeface="Arial" pitchFamily="34" charset="-120"/>
              </a:rPr>
              <a:t>That sounds like extra work</a:t>
            </a:r>
            <a:endParaRPr lang="en-US" sz="1500" dirty="0"/>
          </a:p>
        </p:txBody>
      </p:sp>
      <p:sp>
        <p:nvSpPr>
          <p:cNvPr id="8" name="Text 6"/>
          <p:cNvSpPr txBox="1"/>
          <p:nvPr/>
        </p:nvSpPr>
        <p:spPr>
          <a:xfrm>
            <a:off x="960120" y="3108960"/>
            <a:ext cx="4617720" cy="1371600"/>
          </a:xfrm>
          <a:prstGeom prst="rect">
            <a:avLst/>
          </a:prstGeom>
          <a:noFill/>
          <a:ln/>
        </p:spPr>
        <p:txBody>
          <a:bodyPr wrap="square" lIns="0" tIns="0" rIns="0" bIns="0" rtlCol="0" anchor="ctr"/>
          <a:lstStyle/>
          <a:p>
            <a:pPr indent="0" marL="0">
              <a:lnSpc>
                <a:spcPct val="112000"/>
              </a:lnSpc>
              <a:buNone/>
            </a:pPr>
            <a:r>
              <a:rPr lang="en-US" sz="1300" dirty="0">
                <a:solidFill>
                  <a:srgbClr val="BCC9D5"/>
                </a:solidFill>
                <a:latin typeface="Calibri" pitchFamily="34" charset="0"/>
                <a:ea typeface="Calibri" pitchFamily="34" charset="-122"/>
                <a:cs typeface="Calibri" pitchFamily="34" charset="-120"/>
              </a:rPr>
              <a:t>It is one extra step. A separate listener reads the noticeboard and writes to the database.</a:t>
            </a:r>
            <a:endParaRPr lang="en-US" sz="1300" dirty="0"/>
          </a:p>
          <a:p>
            <a:pPr indent="0" marL="0">
              <a:lnSpc>
                <a:spcPct val="112000"/>
              </a:lnSpc>
              <a:buNone/>
            </a:pPr>
            <a:endParaRPr lang="en-US" sz="1300" dirty="0"/>
          </a:p>
          <a:p>
            <a:pPr indent="0" marL="0">
              <a:lnSpc>
                <a:spcPct val="112000"/>
              </a:lnSpc>
              <a:buNone/>
            </a:pPr>
            <a:r>
              <a:rPr lang="en-US" sz="1300" dirty="0">
                <a:solidFill>
                  <a:srgbClr val="BCC9D5"/>
                </a:solidFill>
                <a:latin typeface="Calibri" pitchFamily="34" charset="0"/>
                <a:ea typeface="Calibri" pitchFamily="34" charset="-122"/>
                <a:cs typeface="Calibri" pitchFamily="34" charset="-120"/>
              </a:rPr>
              <a:t>So why bother?</a:t>
            </a:r>
            <a:endParaRPr lang="en-US" sz="1300" dirty="0"/>
          </a:p>
        </p:txBody>
      </p:sp>
      <p:sp>
        <p:nvSpPr>
          <p:cNvPr id="9" name="Shape 7"/>
          <p:cNvSpPr/>
          <p:nvPr/>
        </p:nvSpPr>
        <p:spPr>
          <a:xfrm>
            <a:off x="6291072" y="2578608"/>
            <a:ext cx="5257800" cy="1938528"/>
          </a:xfrm>
          <a:prstGeom prst="roundRect">
            <a:avLst>
              <a:gd name="adj" fmla="val 2830"/>
            </a:avLst>
          </a:prstGeom>
          <a:solidFill>
            <a:srgbClr val="213040"/>
          </a:solidFill>
          <a:ln w="12700">
            <a:solidFill>
              <a:srgbClr val="2E3F4E"/>
            </a:solidFill>
            <a:prstDash val="solid"/>
          </a:ln>
        </p:spPr>
      </p:sp>
      <p:sp>
        <p:nvSpPr>
          <p:cNvPr id="10" name="Text 8"/>
          <p:cNvSpPr txBox="1"/>
          <p:nvPr/>
        </p:nvSpPr>
        <p:spPr>
          <a:xfrm>
            <a:off x="6611112" y="2743200"/>
            <a:ext cx="4572000" cy="292608"/>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Because it is our scaling story</a:t>
            </a:r>
            <a:endParaRPr lang="en-US" sz="1500" dirty="0"/>
          </a:p>
        </p:txBody>
      </p:sp>
      <p:sp>
        <p:nvSpPr>
          <p:cNvPr id="11" name="Text 9"/>
          <p:cNvSpPr txBox="1"/>
          <p:nvPr/>
        </p:nvSpPr>
        <p:spPr>
          <a:xfrm>
            <a:off x="6611112" y="3108960"/>
            <a:ext cx="4617720" cy="1371600"/>
          </a:xfrm>
          <a:prstGeom prst="rect">
            <a:avLst/>
          </a:prstGeom>
          <a:noFill/>
          <a:ln/>
        </p:spPr>
        <p:txBody>
          <a:bodyPr wrap="square" lIns="0" tIns="0" rIns="0" bIns="0" rtlCol="0" anchor="ctr"/>
          <a:lstStyle/>
          <a:p>
            <a:pPr indent="0" marL="0">
              <a:lnSpc>
                <a:spcPct val="112000"/>
              </a:lnSpc>
              <a:buNone/>
            </a:pPr>
            <a:r>
              <a:rPr lang="en-US" sz="1300" dirty="0">
                <a:solidFill>
                  <a:srgbClr val="BCC9D5"/>
                </a:solidFill>
                <a:latin typeface="Calibri" pitchFamily="34" charset="0"/>
                <a:ea typeface="Calibri" pitchFamily="34" charset="-122"/>
                <a:cs typeface="Calibri" pitchFamily="34" charset="-120"/>
              </a:rPr>
              <a:t>The camera program has no idea a database even exists. It just announces.</a:t>
            </a:r>
            <a:endParaRPr lang="en-US" sz="1300" dirty="0"/>
          </a:p>
          <a:p>
            <a:pPr indent="0" marL="0">
              <a:lnSpc>
                <a:spcPct val="112000"/>
              </a:lnSpc>
              <a:buNone/>
            </a:pPr>
            <a:endParaRPr lang="en-US" sz="1300" dirty="0"/>
          </a:p>
          <a:p>
            <a:pPr indent="0" marL="0">
              <a:lnSpc>
                <a:spcPct val="112000"/>
              </a:lnSpc>
              <a:buNone/>
            </a:pPr>
            <a:r>
              <a:rPr lang="en-US" sz="1300" dirty="0">
                <a:solidFill>
                  <a:srgbClr val="BCC9D5"/>
                </a:solidFill>
                <a:latin typeface="Calibri" pitchFamily="34" charset="0"/>
                <a:ea typeface="Calibri" pitchFamily="34" charset="-122"/>
                <a:cs typeface="Calibri" pitchFamily="34" charset="-120"/>
              </a:rPr>
              <a:t>Swap the in-memory noticeboard for Kafka — the industrial version used by companies handling millions of events a second — and you run 500 cameras.</a:t>
            </a:r>
            <a:endParaRPr lang="en-US" sz="1300" dirty="0"/>
          </a:p>
        </p:txBody>
      </p:sp>
      <p:sp>
        <p:nvSpPr>
          <p:cNvPr id="12" name="Shape 10"/>
          <p:cNvSpPr/>
          <p:nvPr/>
        </p:nvSpPr>
        <p:spPr>
          <a:xfrm>
            <a:off x="640080" y="4681728"/>
            <a:ext cx="10911535" cy="1783080"/>
          </a:xfrm>
          <a:prstGeom prst="roundRect">
            <a:avLst>
              <a:gd name="adj" fmla="val 3077"/>
            </a:avLst>
          </a:prstGeom>
          <a:solidFill>
            <a:srgbClr val="1E2A1B"/>
          </a:solidFill>
          <a:ln w="12700">
            <a:solidFill>
              <a:srgbClr val="2E3F4E"/>
            </a:solidFill>
            <a:prstDash val="solid"/>
          </a:ln>
        </p:spPr>
      </p:sp>
      <p:sp>
        <p:nvSpPr>
          <p:cNvPr id="13" name="Text 11"/>
          <p:cNvSpPr txBox="1"/>
          <p:nvPr/>
        </p:nvSpPr>
        <p:spPr>
          <a:xfrm>
            <a:off x="1005840" y="4846320"/>
            <a:ext cx="7315200" cy="365760"/>
          </a:xfrm>
          <a:prstGeom prst="rect">
            <a:avLst/>
          </a:prstGeom>
          <a:noFill/>
          <a:ln/>
        </p:spPr>
        <p:txBody>
          <a:bodyPr wrap="square" lIns="0" tIns="0" rIns="0" bIns="0" rtlCol="0" anchor="ctr"/>
          <a:lstStyle/>
          <a:p>
            <a:pPr indent="0" marL="0">
              <a:buNone/>
            </a:pPr>
            <a:r>
              <a:rPr lang="en-US" sz="1800" b="1" dirty="0">
                <a:solidFill>
                  <a:srgbClr val="46C888"/>
                </a:solidFill>
                <a:latin typeface="Arial" pitchFamily="34" charset="0"/>
                <a:ea typeface="Arial" pitchFamily="34" charset="-122"/>
                <a:cs typeface="Arial" pitchFamily="34" charset="-120"/>
              </a:rPr>
              <a:t>And nothing else in the codebase changes.</a:t>
            </a:r>
            <a:endParaRPr lang="en-US" sz="1800" dirty="0"/>
          </a:p>
        </p:txBody>
      </p:sp>
      <p:sp>
        <p:nvSpPr>
          <p:cNvPr id="14" name="Text 12"/>
          <p:cNvSpPr txBox="1"/>
          <p:nvPr/>
        </p:nvSpPr>
        <p:spPr>
          <a:xfrm>
            <a:off x="1005840" y="5257800"/>
            <a:ext cx="10180015" cy="1097280"/>
          </a:xfrm>
          <a:prstGeom prst="rect">
            <a:avLst/>
          </a:prstGeom>
          <a:noFill/>
          <a:ln/>
        </p:spPr>
        <p:txBody>
          <a:bodyPr wrap="square" lIns="0" tIns="0" rIns="0" bIns="0" rtlCol="0" anchor="ctr"/>
          <a:lstStyle/>
          <a:p>
            <a:pPr indent="0" marL="0">
              <a:lnSpc>
                <a:spcPct val="112000"/>
              </a:lnSpc>
              <a:buNone/>
            </a:pPr>
            <a:r>
              <a:rPr lang="en-US" sz="1350" dirty="0">
                <a:solidFill>
                  <a:srgbClr val="BCC9D5"/>
                </a:solidFill>
                <a:latin typeface="Calibri" pitchFamily="34" charset="0"/>
                <a:ea typeface="Calibri" pitchFamily="34" charset="-122"/>
                <a:cs typeface="Calibri" pitchFamily="34" charset="-120"/>
              </a:rPr>
              <a:t>Not the camera code. Not the database code. Not the listener — its instructions are written to work identically whether the note came from memory or from Kafka.</a:t>
            </a:r>
            <a:endParaRPr lang="en-US" sz="1350" dirty="0"/>
          </a:p>
          <a:p>
            <a:pPr indent="0" marL="0">
              <a:lnSpc>
                <a:spcPct val="112000"/>
              </a:lnSpc>
              <a:buNone/>
            </a:pPr>
            <a:endParaRPr lang="en-US" sz="1350" dirty="0"/>
          </a:p>
          <a:p>
            <a:pPr indent="0" marL="0">
              <a:lnSpc>
                <a:spcPct val="112000"/>
              </a:lnSpc>
              <a:buNone/>
            </a:pPr>
            <a:r>
              <a:rPr lang="en-US" sz="1350" dirty="0">
                <a:solidFill>
                  <a:srgbClr val="BCC9D5"/>
                </a:solidFill>
                <a:latin typeface="Calibri" pitchFamily="34" charset="0"/>
                <a:ea typeface="Calibri" pitchFamily="34" charset="-122"/>
                <a:cs typeface="Calibri" pitchFamily="34" charset="-120"/>
              </a:rPr>
              <a:t>That is 106 lines of code that turn "it could scale" from a claim on a slide into something you can point at in the repository.</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STEP 9 OF 9</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Save it — and the live pass is done</a:t>
            </a:r>
            <a:endParaRPr lang="en-US" sz="3200" dirty="0"/>
          </a:p>
        </p:txBody>
      </p:sp>
      <p:sp>
        <p:nvSpPr>
          <p:cNvPr id="4" name="Shape 2"/>
          <p:cNvSpPr/>
          <p:nvPr/>
        </p:nvSpPr>
        <p:spPr>
          <a:xfrm>
            <a:off x="640080" y="1572768"/>
            <a:ext cx="10911535" cy="694944"/>
          </a:xfrm>
          <a:prstGeom prst="roundRect">
            <a:avLst>
              <a:gd name="adj" fmla="val 7895"/>
            </a:avLst>
          </a:prstGeom>
          <a:solidFill>
            <a:srgbClr val="18242F"/>
          </a:solidFill>
          <a:ln w="12700">
            <a:solidFill>
              <a:srgbClr val="2E3F4E"/>
            </a:solidFill>
            <a:prstDash val="solid"/>
          </a:ln>
        </p:spPr>
      </p:sp>
      <p:sp>
        <p:nvSpPr>
          <p:cNvPr id="5" name="Text 3"/>
          <p:cNvSpPr txBox="1"/>
          <p:nvPr/>
        </p:nvSpPr>
        <p:spPr>
          <a:xfrm>
            <a:off x="960120" y="1572768"/>
            <a:ext cx="3108960" cy="694944"/>
          </a:xfrm>
          <a:prstGeom prst="rect">
            <a:avLst/>
          </a:prstGeom>
          <a:noFill/>
          <a:ln/>
        </p:spPr>
        <p:txBody>
          <a:bodyPr wrap="square" lIns="0" tIns="0" rIns="0" bIns="0" rtlCol="0" anchor="ctr"/>
          <a:lstStyle/>
          <a:p>
            <a:pPr indent="0" marL="0">
              <a:buNone/>
            </a:pPr>
            <a:r>
              <a:rPr lang="en-US" sz="1400" b="1" dirty="0">
                <a:solidFill>
                  <a:srgbClr val="58BFD6"/>
                </a:solidFill>
                <a:latin typeface="Courier New" pitchFamily="34" charset="0"/>
                <a:ea typeface="Courier New" pitchFamily="34" charset="-122"/>
                <a:cs typeface="Courier New" pitchFamily="34" charset="-120"/>
              </a:rPr>
              <a:t>camera_worker.py</a:t>
            </a:r>
            <a:endParaRPr lang="en-US" sz="1400" dirty="0"/>
          </a:p>
        </p:txBody>
      </p:sp>
      <p:sp>
        <p:nvSpPr>
          <p:cNvPr id="6" name="Text 4"/>
          <p:cNvSpPr txBox="1"/>
          <p:nvPr/>
        </p:nvSpPr>
        <p:spPr>
          <a:xfrm>
            <a:off x="4297680" y="1572768"/>
            <a:ext cx="6888175" cy="694944"/>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finishes the sighting and announces it</a:t>
            </a:r>
            <a:endParaRPr lang="en-US" sz="1350" dirty="0"/>
          </a:p>
        </p:txBody>
      </p:sp>
      <p:sp>
        <p:nvSpPr>
          <p:cNvPr id="7" name="Text 5"/>
          <p:cNvSpPr txBox="1"/>
          <p:nvPr/>
        </p:nvSpPr>
        <p:spPr>
          <a:xfrm>
            <a:off x="2103120" y="2276856"/>
            <a:ext cx="457200" cy="146304"/>
          </a:xfrm>
          <a:prstGeom prst="rect">
            <a:avLst/>
          </a:prstGeom>
          <a:noFill/>
          <a:ln/>
        </p:spPr>
        <p:txBody>
          <a:bodyPr wrap="square" lIns="0" tIns="0" rIns="0" bIns="0" rtlCol="0" anchor="ctr"/>
          <a:lstStyle/>
          <a:p>
            <a:pPr algn="ctr" indent="0" marL="0">
              <a:buNone/>
            </a:pPr>
            <a:r>
              <a:rPr lang="en-US" sz="1000" dirty="0">
                <a:solidFill>
                  <a:srgbClr val="F0B23F"/>
                </a:solidFill>
                <a:latin typeface="Arial" pitchFamily="34" charset="0"/>
                <a:ea typeface="Arial" pitchFamily="34" charset="-122"/>
                <a:cs typeface="Arial" pitchFamily="34" charset="-120"/>
              </a:rPr>
              <a:t>▼</a:t>
            </a:r>
            <a:endParaRPr lang="en-US" sz="1000" dirty="0"/>
          </a:p>
        </p:txBody>
      </p:sp>
      <p:sp>
        <p:nvSpPr>
          <p:cNvPr id="8" name="Shape 6"/>
          <p:cNvSpPr/>
          <p:nvPr/>
        </p:nvSpPr>
        <p:spPr>
          <a:xfrm>
            <a:off x="640080" y="2432304"/>
            <a:ext cx="10911535" cy="694944"/>
          </a:xfrm>
          <a:prstGeom prst="roundRect">
            <a:avLst>
              <a:gd name="adj" fmla="val 7895"/>
            </a:avLst>
          </a:prstGeom>
          <a:solidFill>
            <a:srgbClr val="18242F"/>
          </a:solidFill>
          <a:ln w="12700">
            <a:solidFill>
              <a:srgbClr val="2E3F4E"/>
            </a:solidFill>
            <a:prstDash val="solid"/>
          </a:ln>
        </p:spPr>
      </p:sp>
      <p:sp>
        <p:nvSpPr>
          <p:cNvPr id="9" name="Text 7"/>
          <p:cNvSpPr txBox="1"/>
          <p:nvPr/>
        </p:nvSpPr>
        <p:spPr>
          <a:xfrm>
            <a:off x="960120" y="2432304"/>
            <a:ext cx="3108960" cy="694944"/>
          </a:xfrm>
          <a:prstGeom prst="rect">
            <a:avLst/>
          </a:prstGeom>
          <a:noFill/>
          <a:ln/>
        </p:spPr>
        <p:txBody>
          <a:bodyPr wrap="square" lIns="0" tIns="0" rIns="0" bIns="0" rtlCol="0" anchor="ctr"/>
          <a:lstStyle/>
          <a:p>
            <a:pPr indent="0" marL="0">
              <a:buNone/>
            </a:pPr>
            <a:r>
              <a:rPr lang="en-US" sz="1400" b="1" dirty="0">
                <a:solidFill>
                  <a:srgbClr val="F0B23F"/>
                </a:solidFill>
                <a:latin typeface="Courier New" pitchFamily="34" charset="0"/>
                <a:ea typeface="Courier New" pitchFamily="34" charset="-122"/>
                <a:cs typeface="Courier New" pitchFamily="34" charset="-120"/>
              </a:rPr>
              <a:t>bus.py</a:t>
            </a:r>
            <a:endParaRPr lang="en-US" sz="1400" dirty="0"/>
          </a:p>
        </p:txBody>
      </p:sp>
      <p:sp>
        <p:nvSpPr>
          <p:cNvPr id="10" name="Text 8"/>
          <p:cNvSpPr txBox="1"/>
          <p:nvPr/>
        </p:nvSpPr>
        <p:spPr>
          <a:xfrm>
            <a:off x="4297680" y="2432304"/>
            <a:ext cx="6888175" cy="694944"/>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the noticeboard carries the note</a:t>
            </a:r>
            <a:endParaRPr lang="en-US" sz="1350" dirty="0"/>
          </a:p>
        </p:txBody>
      </p:sp>
      <p:sp>
        <p:nvSpPr>
          <p:cNvPr id="11" name="Text 9"/>
          <p:cNvSpPr txBox="1"/>
          <p:nvPr/>
        </p:nvSpPr>
        <p:spPr>
          <a:xfrm>
            <a:off x="2103120" y="3136392"/>
            <a:ext cx="457200" cy="146304"/>
          </a:xfrm>
          <a:prstGeom prst="rect">
            <a:avLst/>
          </a:prstGeom>
          <a:noFill/>
          <a:ln/>
        </p:spPr>
        <p:txBody>
          <a:bodyPr wrap="square" lIns="0" tIns="0" rIns="0" bIns="0" rtlCol="0" anchor="ctr"/>
          <a:lstStyle/>
          <a:p>
            <a:pPr algn="ctr" indent="0" marL="0">
              <a:buNone/>
            </a:pPr>
            <a:r>
              <a:rPr lang="en-US" sz="1000" dirty="0">
                <a:solidFill>
                  <a:srgbClr val="F0B23F"/>
                </a:solidFill>
                <a:latin typeface="Arial" pitchFamily="34" charset="0"/>
                <a:ea typeface="Arial" pitchFamily="34" charset="-122"/>
                <a:cs typeface="Arial" pitchFamily="34" charset="-120"/>
              </a:rPr>
              <a:t>▼</a:t>
            </a:r>
            <a:endParaRPr lang="en-US" sz="1000" dirty="0"/>
          </a:p>
        </p:txBody>
      </p:sp>
      <p:sp>
        <p:nvSpPr>
          <p:cNvPr id="12" name="Shape 10"/>
          <p:cNvSpPr/>
          <p:nvPr/>
        </p:nvSpPr>
        <p:spPr>
          <a:xfrm>
            <a:off x="640080" y="3291840"/>
            <a:ext cx="10911535" cy="694944"/>
          </a:xfrm>
          <a:prstGeom prst="roundRect">
            <a:avLst>
              <a:gd name="adj" fmla="val 7895"/>
            </a:avLst>
          </a:prstGeom>
          <a:solidFill>
            <a:srgbClr val="18242F"/>
          </a:solidFill>
          <a:ln w="12700">
            <a:solidFill>
              <a:srgbClr val="2E3F4E"/>
            </a:solidFill>
            <a:prstDash val="solid"/>
          </a:ln>
        </p:spPr>
      </p:sp>
      <p:sp>
        <p:nvSpPr>
          <p:cNvPr id="13" name="Text 11"/>
          <p:cNvSpPr txBox="1"/>
          <p:nvPr/>
        </p:nvSpPr>
        <p:spPr>
          <a:xfrm>
            <a:off x="960120" y="3291840"/>
            <a:ext cx="3108960" cy="694944"/>
          </a:xfrm>
          <a:prstGeom prst="rect">
            <a:avLst/>
          </a:prstGeom>
          <a:noFill/>
          <a:ln/>
        </p:spPr>
        <p:txBody>
          <a:bodyPr wrap="square" lIns="0" tIns="0" rIns="0" bIns="0" rtlCol="0" anchor="ctr"/>
          <a:lstStyle/>
          <a:p>
            <a:pPr indent="0" marL="0">
              <a:buNone/>
            </a:pPr>
            <a:r>
              <a:rPr lang="en-US" sz="1400" b="1" dirty="0">
                <a:solidFill>
                  <a:srgbClr val="F0B23F"/>
                </a:solidFill>
                <a:latin typeface="Courier New" pitchFamily="34" charset="0"/>
                <a:ea typeface="Courier New" pitchFamily="34" charset="-122"/>
                <a:cs typeface="Courier New" pitchFamily="34" charset="-120"/>
              </a:rPr>
              <a:t>subscriber.py</a:t>
            </a:r>
            <a:endParaRPr lang="en-US" sz="1400" dirty="0"/>
          </a:p>
        </p:txBody>
      </p:sp>
      <p:sp>
        <p:nvSpPr>
          <p:cNvPr id="14" name="Text 12"/>
          <p:cNvSpPr txBox="1"/>
          <p:nvPr/>
        </p:nvSpPr>
        <p:spPr>
          <a:xfrm>
            <a:off x="4297680" y="3291840"/>
            <a:ext cx="6888175" cy="694944"/>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listens, picks it up</a:t>
            </a:r>
            <a:endParaRPr lang="en-US" sz="1350" dirty="0"/>
          </a:p>
        </p:txBody>
      </p:sp>
      <p:sp>
        <p:nvSpPr>
          <p:cNvPr id="15" name="Text 13"/>
          <p:cNvSpPr txBox="1"/>
          <p:nvPr/>
        </p:nvSpPr>
        <p:spPr>
          <a:xfrm>
            <a:off x="2103120" y="3995928"/>
            <a:ext cx="457200" cy="146304"/>
          </a:xfrm>
          <a:prstGeom prst="rect">
            <a:avLst/>
          </a:prstGeom>
          <a:noFill/>
          <a:ln/>
        </p:spPr>
        <p:txBody>
          <a:bodyPr wrap="square" lIns="0" tIns="0" rIns="0" bIns="0" rtlCol="0" anchor="ctr"/>
          <a:lstStyle/>
          <a:p>
            <a:pPr algn="ctr" indent="0" marL="0">
              <a:buNone/>
            </a:pPr>
            <a:r>
              <a:rPr lang="en-US" sz="1000" dirty="0">
                <a:solidFill>
                  <a:srgbClr val="F0B23F"/>
                </a:solidFill>
                <a:latin typeface="Arial" pitchFamily="34" charset="0"/>
                <a:ea typeface="Arial" pitchFamily="34" charset="-122"/>
                <a:cs typeface="Arial" pitchFamily="34" charset="-120"/>
              </a:rPr>
              <a:t>▼</a:t>
            </a:r>
            <a:endParaRPr lang="en-US" sz="1000" dirty="0"/>
          </a:p>
        </p:txBody>
      </p:sp>
      <p:sp>
        <p:nvSpPr>
          <p:cNvPr id="16" name="Shape 14"/>
          <p:cNvSpPr/>
          <p:nvPr/>
        </p:nvSpPr>
        <p:spPr>
          <a:xfrm>
            <a:off x="640080" y="4151376"/>
            <a:ext cx="10911535" cy="694944"/>
          </a:xfrm>
          <a:prstGeom prst="roundRect">
            <a:avLst>
              <a:gd name="adj" fmla="val 7895"/>
            </a:avLst>
          </a:prstGeom>
          <a:solidFill>
            <a:srgbClr val="18242F"/>
          </a:solidFill>
          <a:ln w="12700">
            <a:solidFill>
              <a:srgbClr val="2E3F4E"/>
            </a:solidFill>
            <a:prstDash val="solid"/>
          </a:ln>
        </p:spPr>
      </p:sp>
      <p:sp>
        <p:nvSpPr>
          <p:cNvPr id="17" name="Text 15"/>
          <p:cNvSpPr txBox="1"/>
          <p:nvPr/>
        </p:nvSpPr>
        <p:spPr>
          <a:xfrm>
            <a:off x="960120" y="4151376"/>
            <a:ext cx="3108960" cy="694944"/>
          </a:xfrm>
          <a:prstGeom prst="rect">
            <a:avLst/>
          </a:prstGeom>
          <a:noFill/>
          <a:ln/>
        </p:spPr>
        <p:txBody>
          <a:bodyPr wrap="square" lIns="0" tIns="0" rIns="0" bIns="0" rtlCol="0" anchor="ctr"/>
          <a:lstStyle/>
          <a:p>
            <a:pPr indent="0" marL="0">
              <a:buNone/>
            </a:pPr>
            <a:r>
              <a:rPr lang="en-US" sz="1400" b="1" dirty="0">
                <a:solidFill>
                  <a:srgbClr val="46C888"/>
                </a:solidFill>
                <a:latin typeface="Courier New" pitchFamily="34" charset="0"/>
                <a:ea typeface="Courier New" pitchFamily="34" charset="-122"/>
                <a:cs typeface="Courier New" pitchFamily="34" charset="-120"/>
              </a:rPr>
              <a:t>repository.py</a:t>
            </a:r>
            <a:endParaRPr lang="en-US" sz="1400" dirty="0"/>
          </a:p>
        </p:txBody>
      </p:sp>
      <p:sp>
        <p:nvSpPr>
          <p:cNvPr id="18" name="Text 16"/>
          <p:cNvSpPr txBox="1"/>
          <p:nvPr/>
        </p:nvSpPr>
        <p:spPr>
          <a:xfrm>
            <a:off x="4297680" y="4151376"/>
            <a:ext cx="6888175" cy="694944"/>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the only file allowed to write to the database</a:t>
            </a:r>
            <a:endParaRPr lang="en-US" sz="1350" dirty="0"/>
          </a:p>
        </p:txBody>
      </p:sp>
      <p:sp>
        <p:nvSpPr>
          <p:cNvPr id="19" name="Text 17"/>
          <p:cNvSpPr txBox="1"/>
          <p:nvPr/>
        </p:nvSpPr>
        <p:spPr>
          <a:xfrm>
            <a:off x="2103120" y="4855464"/>
            <a:ext cx="457200" cy="146304"/>
          </a:xfrm>
          <a:prstGeom prst="rect">
            <a:avLst/>
          </a:prstGeom>
          <a:noFill/>
          <a:ln/>
        </p:spPr>
        <p:txBody>
          <a:bodyPr wrap="square" lIns="0" tIns="0" rIns="0" bIns="0" rtlCol="0" anchor="ctr"/>
          <a:lstStyle/>
          <a:p>
            <a:pPr algn="ctr" indent="0" marL="0">
              <a:buNone/>
            </a:pPr>
            <a:r>
              <a:rPr lang="en-US" sz="1000" dirty="0">
                <a:solidFill>
                  <a:srgbClr val="F0B23F"/>
                </a:solidFill>
                <a:latin typeface="Arial" pitchFamily="34" charset="0"/>
                <a:ea typeface="Arial" pitchFamily="34" charset="-122"/>
                <a:cs typeface="Arial" pitchFamily="34" charset="-120"/>
              </a:rPr>
              <a:t>▼</a:t>
            </a:r>
            <a:endParaRPr lang="en-US" sz="1000" dirty="0"/>
          </a:p>
        </p:txBody>
      </p:sp>
      <p:sp>
        <p:nvSpPr>
          <p:cNvPr id="20" name="Shape 18"/>
          <p:cNvSpPr/>
          <p:nvPr/>
        </p:nvSpPr>
        <p:spPr>
          <a:xfrm>
            <a:off x="640080" y="5010912"/>
            <a:ext cx="10911535" cy="694944"/>
          </a:xfrm>
          <a:prstGeom prst="roundRect">
            <a:avLst>
              <a:gd name="adj" fmla="val 7895"/>
            </a:avLst>
          </a:prstGeom>
          <a:solidFill>
            <a:srgbClr val="18242F"/>
          </a:solidFill>
          <a:ln w="12700">
            <a:solidFill>
              <a:srgbClr val="2E3F4E"/>
            </a:solidFill>
            <a:prstDash val="solid"/>
          </a:ln>
        </p:spPr>
      </p:sp>
      <p:sp>
        <p:nvSpPr>
          <p:cNvPr id="21" name="Text 19"/>
          <p:cNvSpPr txBox="1"/>
          <p:nvPr/>
        </p:nvSpPr>
        <p:spPr>
          <a:xfrm>
            <a:off x="960120" y="5010912"/>
            <a:ext cx="3108960" cy="694944"/>
          </a:xfrm>
          <a:prstGeom prst="rect">
            <a:avLst/>
          </a:prstGeom>
          <a:noFill/>
          <a:ln/>
        </p:spPr>
        <p:txBody>
          <a:bodyPr wrap="square" lIns="0" tIns="0" rIns="0" bIns="0" rtlCol="0" anchor="ctr"/>
          <a:lstStyle/>
          <a:p>
            <a:pPr indent="0" marL="0">
              <a:buNone/>
            </a:pPr>
            <a:r>
              <a:rPr lang="en-US" sz="1400" b="1" dirty="0">
                <a:solidFill>
                  <a:srgbClr val="46C888"/>
                </a:solidFill>
                <a:latin typeface="Courier New" pitchFamily="34" charset="0"/>
                <a:ea typeface="Courier New" pitchFamily="34" charset="-122"/>
                <a:cs typeface="Courier New" pitchFamily="34" charset="-120"/>
              </a:rPr>
              <a:t>data/netra.db</a:t>
            </a:r>
            <a:endParaRPr lang="en-US" sz="1400" dirty="0"/>
          </a:p>
        </p:txBody>
      </p:sp>
      <p:sp>
        <p:nvSpPr>
          <p:cNvPr id="22" name="Text 20"/>
          <p:cNvSpPr txBox="1"/>
          <p:nvPr/>
        </p:nvSpPr>
        <p:spPr>
          <a:xfrm>
            <a:off x="4297680" y="5010912"/>
            <a:ext cx="6888175" cy="694944"/>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one new row</a:t>
            </a:r>
            <a:endParaRPr lang="en-US" sz="1350" dirty="0"/>
          </a:p>
        </p:txBody>
      </p:sp>
      <p:sp>
        <p:nvSpPr>
          <p:cNvPr id="23" name="Shape 21"/>
          <p:cNvSpPr/>
          <p:nvPr/>
        </p:nvSpPr>
        <p:spPr>
          <a:xfrm>
            <a:off x="640080" y="5870448"/>
            <a:ext cx="10911535" cy="658368"/>
          </a:xfrm>
          <a:prstGeom prst="roundRect">
            <a:avLst>
              <a:gd name="adj" fmla="val 8333"/>
            </a:avLst>
          </a:prstGeom>
          <a:solidFill>
            <a:srgbClr val="213040"/>
          </a:solidFill>
          <a:ln w="12700">
            <a:solidFill>
              <a:srgbClr val="2E3F4E"/>
            </a:solidFill>
            <a:prstDash val="solid"/>
          </a:ln>
        </p:spPr>
      </p:sp>
      <p:sp>
        <p:nvSpPr>
          <p:cNvPr id="24" name="Text 22"/>
          <p:cNvSpPr txBox="1"/>
          <p:nvPr/>
        </p:nvSpPr>
        <p:spPr>
          <a:xfrm>
            <a:off x="1005840" y="5870448"/>
            <a:ext cx="10180015" cy="658368"/>
          </a:xfrm>
          <a:prstGeom prst="rect">
            <a:avLst/>
          </a:prstGeom>
          <a:noFill/>
          <a:ln/>
        </p:spPr>
        <p:txBody>
          <a:bodyPr wrap="square" lIns="0" tIns="0" rIns="0" bIns="0" rtlCol="0" anchor="ctr"/>
          <a:lstStyle/>
          <a:p>
            <a:pPr indent="0" marL="0">
              <a:buNone/>
            </a:pPr>
            <a:r>
              <a:rPr lang="en-US" sz="1300" i="1" dirty="0">
                <a:solidFill>
                  <a:srgbClr val="BCC9D5"/>
                </a:solidFill>
                <a:latin typeface="Calibri" pitchFamily="34" charset="0"/>
                <a:ea typeface="Calibri" pitchFamily="34" charset="-122"/>
                <a:cs typeface="Calibri" pitchFamily="34" charset="-120"/>
              </a:rPr>
              <a:t>One rule we kept: no other file in the whole project writes to the database. If you want to know how something is stored, there is exactly one place to look.</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60A0E"/>
        </a:solidFill>
      </p:bgPr>
    </p:bg>
    <p:spTree>
      <p:nvGrpSpPr>
        <p:cNvPr id="1" name=""/>
        <p:cNvGrpSpPr/>
        <p:nvPr/>
      </p:nvGrpSpPr>
      <p:grpSpPr>
        <a:xfrm>
          <a:off x="0" y="0"/>
          <a:ext cx="0" cy="0"/>
          <a:chOff x="0" y="0"/>
          <a:chExt cx="0" cy="0"/>
        </a:xfrm>
      </p:grpSpPr>
      <p:sp>
        <p:nvSpPr>
          <p:cNvPr id="2" name="Text 0"/>
          <p:cNvSpPr txBox="1"/>
          <p:nvPr/>
        </p:nvSpPr>
        <p:spPr>
          <a:xfrm>
            <a:off x="640080" y="1325880"/>
            <a:ext cx="5394960" cy="365760"/>
          </a:xfrm>
          <a:prstGeom prst="rect">
            <a:avLst/>
          </a:prstGeom>
          <a:noFill/>
          <a:ln/>
        </p:spPr>
        <p:txBody>
          <a:bodyPr wrap="square" lIns="0" tIns="0" rIns="0" bIns="0" rtlCol="0" anchor="ctr"/>
          <a:lstStyle/>
          <a:p>
            <a:pPr indent="0" marL="0">
              <a:buNone/>
            </a:pPr>
            <a:r>
              <a:rPr lang="en-US" sz="1200" b="1" spc="250" kern="0" dirty="0">
                <a:solidFill>
                  <a:srgbClr val="F0B23F"/>
                </a:solidFill>
                <a:latin typeface="Arial" pitchFamily="34" charset="0"/>
                <a:ea typeface="Arial" pitchFamily="34" charset="-122"/>
                <a:cs typeface="Arial" pitchFamily="34" charset="-120"/>
              </a:rPr>
              <a:t>Part 5</a:t>
            </a:r>
            <a:endParaRPr lang="en-US" sz="1200" dirty="0"/>
          </a:p>
        </p:txBody>
      </p:sp>
      <p:sp>
        <p:nvSpPr>
          <p:cNvPr id="3" name="Text 1"/>
          <p:cNvSpPr txBox="1"/>
          <p:nvPr/>
        </p:nvSpPr>
        <p:spPr>
          <a:xfrm>
            <a:off x="640080" y="1783080"/>
            <a:ext cx="7315200" cy="2011680"/>
          </a:xfrm>
          <a:prstGeom prst="rect">
            <a:avLst/>
          </a:prstGeom>
          <a:noFill/>
          <a:ln/>
        </p:spPr>
        <p:txBody>
          <a:bodyPr wrap="square" lIns="0" tIns="0" rIns="0" bIns="0" rtlCol="0" anchor="ctr"/>
          <a:lstStyle/>
          <a:p>
            <a:pPr indent="0" marL="0">
              <a:lnSpc>
                <a:spcPct val="95000"/>
              </a:lnSpc>
              <a:buNone/>
            </a:pPr>
            <a:r>
              <a:rPr lang="en-US" sz="5000" b="1" dirty="0">
                <a:solidFill>
                  <a:srgbClr val="FFFFFF"/>
                </a:solidFill>
                <a:latin typeface="Arial" pitchFamily="34" charset="0"/>
                <a:ea typeface="Arial" pitchFamily="34" charset="-122"/>
                <a:cs typeface="Arial" pitchFamily="34" charset="-120"/>
              </a:rPr>
              <a:t>The heart</a:t>
            </a:r>
            <a:endParaRPr lang="en-US" sz="5000" dirty="0"/>
          </a:p>
          <a:p>
            <a:pPr indent="0" marL="0">
              <a:lnSpc>
                <a:spcPct val="95000"/>
              </a:lnSpc>
              <a:buNone/>
            </a:pPr>
            <a:r>
              <a:rPr lang="en-US" sz="5000" b="1" dirty="0">
                <a:solidFill>
                  <a:srgbClr val="FFFFFF"/>
                </a:solidFill>
                <a:latin typeface="Arial" pitchFamily="34" charset="0"/>
                <a:ea typeface="Arial" pitchFamily="34" charset="-122"/>
                <a:cs typeface="Arial" pitchFamily="34" charset="-120"/>
              </a:rPr>
              <a:t>of the project</a:t>
            </a:r>
            <a:endParaRPr lang="en-US" sz="5000" dirty="0"/>
          </a:p>
        </p:txBody>
      </p:sp>
      <p:sp>
        <p:nvSpPr>
          <p:cNvPr id="4" name="Text 2"/>
          <p:cNvSpPr txBox="1"/>
          <p:nvPr/>
        </p:nvSpPr>
        <p:spPr>
          <a:xfrm>
            <a:off x="640080" y="3977640"/>
            <a:ext cx="7680960" cy="1188720"/>
          </a:xfrm>
          <a:prstGeom prst="rect">
            <a:avLst/>
          </a:prstGeom>
          <a:noFill/>
          <a:ln/>
        </p:spPr>
        <p:txBody>
          <a:bodyPr wrap="square" lIns="0" tIns="0" rIns="0" bIns="0" rtlCol="0" anchor="ctr"/>
          <a:lstStyle/>
          <a:p>
            <a:pPr indent="0" marL="0">
              <a:lnSpc>
                <a:spcPct val="125000"/>
              </a:lnSpc>
              <a:buNone/>
            </a:pPr>
            <a:r>
              <a:rPr lang="en-US" sz="1700" dirty="0">
                <a:solidFill>
                  <a:srgbClr val="BCC9D5"/>
                </a:solidFill>
                <a:latin typeface="Calibri" pitchFamily="34" charset="0"/>
                <a:ea typeface="Calibri" pitchFamily="34" charset="-122"/>
                <a:cs typeface="Calibri" pitchFamily="34" charset="-120"/>
              </a:rPr>
              <a:t>Everything so far exists inside one camera.</a:t>
            </a:r>
            <a:endParaRPr lang="en-US" sz="1700" dirty="0"/>
          </a:p>
          <a:p>
            <a:pPr indent="0" marL="0">
              <a:lnSpc>
                <a:spcPct val="125000"/>
              </a:lnSpc>
              <a:buNone/>
            </a:pPr>
            <a:r>
              <a:rPr lang="en-US" sz="1700" dirty="0">
                <a:solidFill>
                  <a:srgbClr val="BCC9D5"/>
                </a:solidFill>
                <a:latin typeface="Calibri" pitchFamily="34" charset="0"/>
                <a:ea typeface="Calibri" pitchFamily="34" charset="-122"/>
                <a:cs typeface="Calibri" pitchFamily="34" charset="-120"/>
              </a:rPr>
              <a:t>Now we cross between cameras — and this is the part</a:t>
            </a:r>
            <a:endParaRPr lang="en-US" sz="1700" dirty="0"/>
          </a:p>
          <a:p>
            <a:pPr indent="0" marL="0">
              <a:lnSpc>
                <a:spcPct val="125000"/>
              </a:lnSpc>
              <a:buNone/>
            </a:pPr>
            <a:r>
              <a:rPr lang="en-US" sz="1700" dirty="0">
                <a:solidFill>
                  <a:srgbClr val="BCC9D5"/>
                </a:solidFill>
                <a:latin typeface="Calibri" pitchFamily="34" charset="0"/>
                <a:ea typeface="Calibri" pitchFamily="34" charset="-122"/>
                <a:cs typeface="Calibri" pitchFamily="34" charset="-120"/>
              </a:rPr>
              <a:t>that is genuinely ours.</a:t>
            </a:r>
            <a:endParaRPr lang="en-US" sz="1700" dirty="0"/>
          </a:p>
        </p:txBody>
      </p:sp>
      <p:sp>
        <p:nvSpPr>
          <p:cNvPr id="5" name="Text 3"/>
          <p:cNvSpPr txBox="1"/>
          <p:nvPr/>
        </p:nvSpPr>
        <p:spPr>
          <a:xfrm>
            <a:off x="640080" y="5349240"/>
            <a:ext cx="5486400" cy="365760"/>
          </a:xfrm>
          <a:prstGeom prst="rect">
            <a:avLst/>
          </a:prstGeom>
          <a:noFill/>
          <a:ln/>
        </p:spPr>
        <p:txBody>
          <a:bodyPr wrap="square" lIns="0" tIns="0" rIns="0" bIns="0" rtlCol="0" anchor="ctr"/>
          <a:lstStyle/>
          <a:p>
            <a:pPr indent="0" marL="0">
              <a:buNone/>
            </a:pPr>
            <a:r>
              <a:rPr lang="en-US" sz="1600" dirty="0">
                <a:solidFill>
                  <a:srgbClr val="58BFD6"/>
                </a:solidFill>
                <a:latin typeface="Courier New" pitchFamily="34" charset="0"/>
                <a:ea typeface="Courier New" pitchFamily="34" charset="-122"/>
                <a:cs typeface="Courier New" pitchFamily="34" charset="-120"/>
              </a:rPr>
              <a:t>identity/resolver.py</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5 — THE CORE</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The one question the system has to answer</a:t>
            </a:r>
            <a:endParaRPr lang="en-US" sz="3200" dirty="0"/>
          </a:p>
        </p:txBody>
      </p:sp>
      <p:sp>
        <p:nvSpPr>
          <p:cNvPr id="4" name="Shape 2"/>
          <p:cNvSpPr/>
          <p:nvPr/>
        </p:nvSpPr>
        <p:spPr>
          <a:xfrm>
            <a:off x="640080" y="1691640"/>
            <a:ext cx="10911535" cy="1371600"/>
          </a:xfrm>
          <a:prstGeom prst="roundRect">
            <a:avLst>
              <a:gd name="adj" fmla="val 4000"/>
            </a:avLst>
          </a:prstGeom>
          <a:solidFill>
            <a:srgbClr val="213040"/>
          </a:solidFill>
          <a:ln w="12700">
            <a:solidFill>
              <a:srgbClr val="2E3F4E"/>
            </a:solidFill>
            <a:prstDash val="solid"/>
          </a:ln>
        </p:spPr>
      </p:sp>
      <p:sp>
        <p:nvSpPr>
          <p:cNvPr id="5" name="Text 3"/>
          <p:cNvSpPr txBox="1"/>
          <p:nvPr/>
        </p:nvSpPr>
        <p:spPr>
          <a:xfrm>
            <a:off x="1005840" y="1691640"/>
            <a:ext cx="10180015" cy="1371600"/>
          </a:xfrm>
          <a:prstGeom prst="rect">
            <a:avLst/>
          </a:prstGeom>
          <a:noFill/>
          <a:ln/>
        </p:spPr>
        <p:txBody>
          <a:bodyPr wrap="square" lIns="0" tIns="0" rIns="0" bIns="0" rtlCol="0" anchor="ctr"/>
          <a:lstStyle/>
          <a:p>
            <a:pPr indent="0" marL="0">
              <a:lnSpc>
                <a:spcPct val="130000"/>
              </a:lnSpc>
              <a:buNone/>
            </a:pPr>
            <a:r>
              <a:rPr lang="en-US" sz="2100" b="1" dirty="0">
                <a:solidFill>
                  <a:srgbClr val="F0B23F"/>
                </a:solidFill>
                <a:latin typeface="Arial" pitchFamily="34" charset="0"/>
                <a:ea typeface="Arial" pitchFamily="34" charset="-122"/>
                <a:cs typeface="Arial" pitchFamily="34" charset="-120"/>
              </a:rPr>
              <a:t>Camera 1 saw a vehicle at 10:02.  Camera 3 saw a vehicle at 10:09.</a:t>
            </a:r>
            <a:endParaRPr lang="en-US" sz="2100" dirty="0"/>
          </a:p>
          <a:p>
            <a:pPr indent="0" marL="0">
              <a:lnSpc>
                <a:spcPct val="130000"/>
              </a:lnSpc>
              <a:buNone/>
            </a:pPr>
            <a:r>
              <a:rPr lang="en-US" sz="2100" b="1" dirty="0">
                <a:solidFill>
                  <a:srgbClr val="F0B23F"/>
                </a:solidFill>
                <a:latin typeface="Arial" pitchFamily="34" charset="0"/>
                <a:ea typeface="Arial" pitchFamily="34" charset="-122"/>
                <a:cs typeface="Arial" pitchFamily="34" charset="-120"/>
              </a:rPr>
              <a:t>Same vehicle, or two different vehicles?</a:t>
            </a:r>
            <a:endParaRPr lang="en-US" sz="2100" dirty="0"/>
          </a:p>
        </p:txBody>
      </p:sp>
      <p:sp>
        <p:nvSpPr>
          <p:cNvPr id="6" name="Text 4"/>
          <p:cNvSpPr txBox="1"/>
          <p:nvPr/>
        </p:nvSpPr>
        <p:spPr>
          <a:xfrm>
            <a:off x="640080" y="3291840"/>
            <a:ext cx="10911535" cy="457200"/>
          </a:xfrm>
          <a:prstGeom prst="rect">
            <a:avLst/>
          </a:prstGeom>
          <a:noFill/>
          <a:ln/>
        </p:spPr>
        <p:txBody>
          <a:bodyPr wrap="square" lIns="0" tIns="0" rIns="0" bIns="0" rtlCol="0" anchor="ctr"/>
          <a:lstStyle/>
          <a:p>
            <a:pPr indent="0" marL="0">
              <a:lnSpc>
                <a:spcPct val="115000"/>
              </a:lnSpc>
              <a:buNone/>
            </a:pPr>
            <a:r>
              <a:rPr lang="en-US" sz="1500" dirty="0">
                <a:solidFill>
                  <a:srgbClr val="BCC9D5"/>
                </a:solidFill>
                <a:latin typeface="Calibri" pitchFamily="34" charset="0"/>
                <a:ea typeface="Calibri" pitchFamily="34" charset="-122"/>
                <a:cs typeface="Calibri" pitchFamily="34" charset="-120"/>
              </a:rPr>
              <a:t>We use three signals. They are not equal — and the difference between them is the whole design.</a:t>
            </a:r>
            <a:endParaRPr lang="en-US" sz="1500" dirty="0"/>
          </a:p>
        </p:txBody>
      </p:sp>
      <p:sp>
        <p:nvSpPr>
          <p:cNvPr id="7" name="Shape 5"/>
          <p:cNvSpPr/>
          <p:nvPr/>
        </p:nvSpPr>
        <p:spPr>
          <a:xfrm>
            <a:off x="640080" y="3794760"/>
            <a:ext cx="3392424" cy="1554480"/>
          </a:xfrm>
          <a:prstGeom prst="roundRect">
            <a:avLst>
              <a:gd name="adj" fmla="val 3529"/>
            </a:avLst>
          </a:prstGeom>
          <a:solidFill>
            <a:srgbClr val="18242F"/>
          </a:solidFill>
          <a:ln w="12700">
            <a:solidFill>
              <a:srgbClr val="2E3F4E"/>
            </a:solidFill>
            <a:prstDash val="solid"/>
          </a:ln>
        </p:spPr>
      </p:sp>
      <p:sp>
        <p:nvSpPr>
          <p:cNvPr id="8" name="Shape 6"/>
          <p:cNvSpPr/>
          <p:nvPr/>
        </p:nvSpPr>
        <p:spPr>
          <a:xfrm>
            <a:off x="896112" y="4023360"/>
            <a:ext cx="502920" cy="502920"/>
          </a:xfrm>
          <a:prstGeom prst="ellipse">
            <a:avLst/>
          </a:prstGeom>
          <a:solidFill>
            <a:srgbClr val="F0B23F"/>
          </a:solidFill>
          <a:ln w="12700">
            <a:solidFill>
              <a:srgbClr val="F0B23F"/>
            </a:solidFill>
            <a:prstDash val="solid"/>
          </a:ln>
        </p:spPr>
      </p:sp>
      <p:sp>
        <p:nvSpPr>
          <p:cNvPr id="9" name="Text 7"/>
          <p:cNvSpPr txBox="1"/>
          <p:nvPr/>
        </p:nvSpPr>
        <p:spPr>
          <a:xfrm>
            <a:off x="896112" y="4023360"/>
            <a:ext cx="502920" cy="50292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1</a:t>
            </a:r>
            <a:endParaRPr lang="en-US" sz="1500" dirty="0"/>
          </a:p>
        </p:txBody>
      </p:sp>
      <p:sp>
        <p:nvSpPr>
          <p:cNvPr id="10" name="Text 8"/>
          <p:cNvSpPr txBox="1"/>
          <p:nvPr/>
        </p:nvSpPr>
        <p:spPr>
          <a:xfrm>
            <a:off x="1554480" y="4041648"/>
            <a:ext cx="2286000" cy="3200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The plate</a:t>
            </a:r>
            <a:endParaRPr lang="en-US" sz="1700" dirty="0"/>
          </a:p>
        </p:txBody>
      </p:sp>
      <p:sp>
        <p:nvSpPr>
          <p:cNvPr id="11" name="Text 9"/>
          <p:cNvSpPr txBox="1"/>
          <p:nvPr/>
        </p:nvSpPr>
        <p:spPr>
          <a:xfrm>
            <a:off x="896112" y="4709160"/>
            <a:ext cx="2926080" cy="502920"/>
          </a:xfrm>
          <a:prstGeom prst="rect">
            <a:avLst/>
          </a:prstGeom>
          <a:noFill/>
          <a:ln/>
        </p:spPr>
        <p:txBody>
          <a:bodyPr wrap="square" lIns="0" tIns="0" rIns="0" bIns="0" rtlCol="0" anchor="ctr"/>
          <a:lstStyle/>
          <a:p>
            <a:pPr indent="0" marL="0">
              <a:buNone/>
            </a:pPr>
            <a:r>
              <a:rPr lang="en-US" sz="1350" dirty="0">
                <a:solidFill>
                  <a:srgbClr val="58BFD6"/>
                </a:solidFill>
                <a:latin typeface="Calibri" pitchFamily="34" charset="0"/>
                <a:ea typeface="Calibri" pitchFamily="34" charset="-122"/>
                <a:cs typeface="Calibri" pitchFamily="34" charset="-120"/>
              </a:rPr>
              <a:t>The main evidence</a:t>
            </a:r>
            <a:endParaRPr lang="en-US" sz="1350" dirty="0"/>
          </a:p>
        </p:txBody>
      </p:sp>
      <p:sp>
        <p:nvSpPr>
          <p:cNvPr id="12" name="Shape 10"/>
          <p:cNvSpPr/>
          <p:nvPr/>
        </p:nvSpPr>
        <p:spPr>
          <a:xfrm>
            <a:off x="4398264" y="3794760"/>
            <a:ext cx="3392424" cy="1554480"/>
          </a:xfrm>
          <a:prstGeom prst="roundRect">
            <a:avLst>
              <a:gd name="adj" fmla="val 3529"/>
            </a:avLst>
          </a:prstGeom>
          <a:solidFill>
            <a:srgbClr val="18242F"/>
          </a:solidFill>
          <a:ln w="12700">
            <a:solidFill>
              <a:srgbClr val="2E3F4E"/>
            </a:solidFill>
            <a:prstDash val="solid"/>
          </a:ln>
        </p:spPr>
      </p:sp>
      <p:sp>
        <p:nvSpPr>
          <p:cNvPr id="13" name="Shape 11"/>
          <p:cNvSpPr/>
          <p:nvPr/>
        </p:nvSpPr>
        <p:spPr>
          <a:xfrm>
            <a:off x="4654296" y="4023360"/>
            <a:ext cx="502920" cy="502920"/>
          </a:xfrm>
          <a:prstGeom prst="ellipse">
            <a:avLst/>
          </a:prstGeom>
          <a:solidFill>
            <a:srgbClr val="F0B23F"/>
          </a:solidFill>
          <a:ln w="12700">
            <a:solidFill>
              <a:srgbClr val="F0B23F"/>
            </a:solidFill>
            <a:prstDash val="solid"/>
          </a:ln>
        </p:spPr>
      </p:sp>
      <p:sp>
        <p:nvSpPr>
          <p:cNvPr id="14" name="Text 12"/>
          <p:cNvSpPr txBox="1"/>
          <p:nvPr/>
        </p:nvSpPr>
        <p:spPr>
          <a:xfrm>
            <a:off x="4654296" y="4023360"/>
            <a:ext cx="502920" cy="50292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2</a:t>
            </a:r>
            <a:endParaRPr lang="en-US" sz="1500" dirty="0"/>
          </a:p>
        </p:txBody>
      </p:sp>
      <p:sp>
        <p:nvSpPr>
          <p:cNvPr id="15" name="Text 13"/>
          <p:cNvSpPr txBox="1"/>
          <p:nvPr/>
        </p:nvSpPr>
        <p:spPr>
          <a:xfrm>
            <a:off x="5312664" y="4041648"/>
            <a:ext cx="2286000" cy="3200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The look</a:t>
            </a:r>
            <a:endParaRPr lang="en-US" sz="1700" dirty="0"/>
          </a:p>
        </p:txBody>
      </p:sp>
      <p:sp>
        <p:nvSpPr>
          <p:cNvPr id="16" name="Text 14"/>
          <p:cNvSpPr txBox="1"/>
          <p:nvPr/>
        </p:nvSpPr>
        <p:spPr>
          <a:xfrm>
            <a:off x="4654296" y="4709160"/>
            <a:ext cx="2926080" cy="502920"/>
          </a:xfrm>
          <a:prstGeom prst="rect">
            <a:avLst/>
          </a:prstGeom>
          <a:noFill/>
          <a:ln/>
        </p:spPr>
        <p:txBody>
          <a:bodyPr wrap="square" lIns="0" tIns="0" rIns="0" bIns="0" rtlCol="0" anchor="ctr"/>
          <a:lstStyle/>
          <a:p>
            <a:pPr indent="0" marL="0">
              <a:buNone/>
            </a:pPr>
            <a:r>
              <a:rPr lang="en-US" sz="1350" dirty="0">
                <a:solidFill>
                  <a:srgbClr val="58BFD6"/>
                </a:solidFill>
                <a:latin typeface="Calibri" pitchFamily="34" charset="0"/>
                <a:ea typeface="Calibri" pitchFamily="34" charset="-122"/>
                <a:cs typeface="Calibri" pitchFamily="34" charset="-120"/>
              </a:rPr>
              <a:t>Backup evidence</a:t>
            </a:r>
            <a:endParaRPr lang="en-US" sz="1350" dirty="0"/>
          </a:p>
        </p:txBody>
      </p:sp>
      <p:sp>
        <p:nvSpPr>
          <p:cNvPr id="17" name="Shape 15"/>
          <p:cNvSpPr/>
          <p:nvPr/>
        </p:nvSpPr>
        <p:spPr>
          <a:xfrm>
            <a:off x="8156448" y="3794760"/>
            <a:ext cx="3392424" cy="1554480"/>
          </a:xfrm>
          <a:prstGeom prst="roundRect">
            <a:avLst>
              <a:gd name="adj" fmla="val 3529"/>
            </a:avLst>
          </a:prstGeom>
          <a:solidFill>
            <a:srgbClr val="213040"/>
          </a:solidFill>
          <a:ln w="12700">
            <a:solidFill>
              <a:srgbClr val="2E3F4E"/>
            </a:solidFill>
            <a:prstDash val="solid"/>
          </a:ln>
        </p:spPr>
      </p:sp>
      <p:sp>
        <p:nvSpPr>
          <p:cNvPr id="18" name="Shape 16"/>
          <p:cNvSpPr/>
          <p:nvPr/>
        </p:nvSpPr>
        <p:spPr>
          <a:xfrm>
            <a:off x="8412480" y="4023360"/>
            <a:ext cx="502920" cy="502920"/>
          </a:xfrm>
          <a:prstGeom prst="ellipse">
            <a:avLst/>
          </a:prstGeom>
          <a:solidFill>
            <a:srgbClr val="F0B23F"/>
          </a:solidFill>
          <a:ln w="12700">
            <a:solidFill>
              <a:srgbClr val="F0B23F"/>
            </a:solidFill>
            <a:prstDash val="solid"/>
          </a:ln>
        </p:spPr>
      </p:sp>
      <p:sp>
        <p:nvSpPr>
          <p:cNvPr id="19" name="Text 17"/>
          <p:cNvSpPr txBox="1"/>
          <p:nvPr/>
        </p:nvSpPr>
        <p:spPr>
          <a:xfrm>
            <a:off x="8412480" y="4023360"/>
            <a:ext cx="502920" cy="50292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3</a:t>
            </a:r>
            <a:endParaRPr lang="en-US" sz="1500" dirty="0"/>
          </a:p>
        </p:txBody>
      </p:sp>
      <p:sp>
        <p:nvSpPr>
          <p:cNvPr id="20" name="Text 18"/>
          <p:cNvSpPr txBox="1"/>
          <p:nvPr/>
        </p:nvSpPr>
        <p:spPr>
          <a:xfrm>
            <a:off x="9070848" y="4041648"/>
            <a:ext cx="2286000" cy="3200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Physics</a:t>
            </a:r>
            <a:endParaRPr lang="en-US" sz="1700" dirty="0"/>
          </a:p>
        </p:txBody>
      </p:sp>
      <p:sp>
        <p:nvSpPr>
          <p:cNvPr id="21" name="Text 19"/>
          <p:cNvSpPr txBox="1"/>
          <p:nvPr/>
        </p:nvSpPr>
        <p:spPr>
          <a:xfrm>
            <a:off x="8412480" y="4709160"/>
            <a:ext cx="2926080" cy="502920"/>
          </a:xfrm>
          <a:prstGeom prst="rect">
            <a:avLst/>
          </a:prstGeom>
          <a:noFill/>
          <a:ln/>
        </p:spPr>
        <p:txBody>
          <a:bodyPr wrap="square" lIns="0" tIns="0" rIns="0" bIns="0" rtlCol="0" anchor="ctr"/>
          <a:lstStyle/>
          <a:p>
            <a:pPr indent="0" marL="0">
              <a:buNone/>
            </a:pPr>
            <a:r>
              <a:rPr lang="en-US" sz="1350" dirty="0">
                <a:solidFill>
                  <a:srgbClr val="F0B23F"/>
                </a:solidFill>
                <a:latin typeface="Calibri" pitchFamily="34" charset="0"/>
                <a:ea typeface="Calibri" pitchFamily="34" charset="-122"/>
                <a:cs typeface="Calibri" pitchFamily="34" charset="-120"/>
              </a:rPr>
              <a:t>A veto — it can say NO</a:t>
            </a:r>
            <a:endParaRPr lang="en-US" sz="1350" dirty="0"/>
          </a:p>
        </p:txBody>
      </p:sp>
      <p:sp>
        <p:nvSpPr>
          <p:cNvPr id="22" name="Shape 20"/>
          <p:cNvSpPr/>
          <p:nvPr/>
        </p:nvSpPr>
        <p:spPr>
          <a:xfrm>
            <a:off x="640080" y="5532120"/>
            <a:ext cx="10911535" cy="914400"/>
          </a:xfrm>
          <a:prstGeom prst="roundRect">
            <a:avLst>
              <a:gd name="adj" fmla="val 6000"/>
            </a:avLst>
          </a:prstGeom>
          <a:solidFill>
            <a:srgbClr val="1E2A1B"/>
          </a:solidFill>
          <a:ln w="12700">
            <a:solidFill>
              <a:srgbClr val="2E3F4E"/>
            </a:solidFill>
            <a:prstDash val="solid"/>
          </a:ln>
        </p:spPr>
      </p:sp>
      <p:sp>
        <p:nvSpPr>
          <p:cNvPr id="23" name="Text 21"/>
          <p:cNvSpPr txBox="1"/>
          <p:nvPr/>
        </p:nvSpPr>
        <p:spPr>
          <a:xfrm>
            <a:off x="1005840" y="5532120"/>
            <a:ext cx="10180015" cy="914400"/>
          </a:xfrm>
          <a:prstGeom prst="rect">
            <a:avLst/>
          </a:prstGeom>
          <a:noFill/>
          <a:ln/>
        </p:spPr>
        <p:txBody>
          <a:bodyPr wrap="square" lIns="0" tIns="0" rIns="0" bIns="0" rtlCol="0" anchor="ctr"/>
          <a:lstStyle/>
          <a:p>
            <a:pPr indent="0" marL="0">
              <a:buNone/>
            </a:pPr>
            <a:r>
              <a:rPr lang="en-US" sz="1700" b="1" dirty="0">
                <a:solidFill>
                  <a:srgbClr val="46C888"/>
                </a:solidFill>
                <a:latin typeface="Arial" pitchFamily="34" charset="0"/>
                <a:ea typeface="Arial" pitchFamily="34" charset="-122"/>
                <a:cs typeface="Arial" pitchFamily="34" charset="-120"/>
              </a:rPr>
              <a:t>Most systems only ever match. Ours can also refuse — and it shows you what it refused.</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5 — THE TWO EVIDENCE SIGNALS</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Signal 1: the plate.  Signal 2: the look.</a:t>
            </a:r>
            <a:endParaRPr lang="en-US" sz="3200" dirty="0"/>
          </a:p>
        </p:txBody>
      </p:sp>
      <p:sp>
        <p:nvSpPr>
          <p:cNvPr id="4" name="Shape 2"/>
          <p:cNvSpPr/>
          <p:nvPr/>
        </p:nvSpPr>
        <p:spPr>
          <a:xfrm>
            <a:off x="640080" y="1691640"/>
            <a:ext cx="5257800" cy="2286000"/>
          </a:xfrm>
          <a:prstGeom prst="roundRect">
            <a:avLst>
              <a:gd name="adj" fmla="val 2400"/>
            </a:avLst>
          </a:prstGeom>
          <a:solidFill>
            <a:srgbClr val="18242F"/>
          </a:solidFill>
          <a:ln w="12700">
            <a:solidFill>
              <a:srgbClr val="2E3F4E"/>
            </a:solidFill>
            <a:prstDash val="solid"/>
          </a:ln>
        </p:spPr>
      </p:sp>
      <p:sp>
        <p:nvSpPr>
          <p:cNvPr id="5" name="Shape 3"/>
          <p:cNvSpPr/>
          <p:nvPr/>
        </p:nvSpPr>
        <p:spPr>
          <a:xfrm>
            <a:off x="960120" y="1874520"/>
            <a:ext cx="502920" cy="502920"/>
          </a:xfrm>
          <a:prstGeom prst="ellipse">
            <a:avLst/>
          </a:prstGeom>
          <a:solidFill>
            <a:srgbClr val="F0B23F"/>
          </a:solidFill>
          <a:ln w="12700">
            <a:solidFill>
              <a:srgbClr val="F0B23F"/>
            </a:solidFill>
            <a:prstDash val="solid"/>
          </a:ln>
        </p:spPr>
      </p:sp>
      <p:sp>
        <p:nvSpPr>
          <p:cNvPr id="6" name="Text 4"/>
          <p:cNvSpPr txBox="1"/>
          <p:nvPr/>
        </p:nvSpPr>
        <p:spPr>
          <a:xfrm>
            <a:off x="960120" y="1874520"/>
            <a:ext cx="502920" cy="50292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600200" y="1901952"/>
            <a:ext cx="3657600" cy="320040"/>
          </a:xfrm>
          <a:prstGeom prst="rect">
            <a:avLst/>
          </a:prstGeom>
          <a:noFill/>
          <a:ln/>
        </p:spPr>
        <p:txBody>
          <a:bodyPr wrap="square" lIns="0" tIns="0" rIns="0" bIns="0" rtlCol="0" anchor="ctr"/>
          <a:lstStyle/>
          <a:p>
            <a:pPr indent="0" marL="0">
              <a:buNone/>
            </a:pPr>
            <a:r>
              <a:rPr lang="en-US" sz="1800" b="1" dirty="0">
                <a:solidFill>
                  <a:srgbClr val="58BFD6"/>
                </a:solidFill>
                <a:latin typeface="Arial" pitchFamily="34" charset="0"/>
                <a:ea typeface="Arial" pitchFamily="34" charset="-122"/>
                <a:cs typeface="Arial" pitchFamily="34" charset="-120"/>
              </a:rPr>
              <a:t>The plate</a:t>
            </a:r>
            <a:endParaRPr lang="en-US" sz="1800" dirty="0"/>
          </a:p>
        </p:txBody>
      </p:sp>
      <p:sp>
        <p:nvSpPr>
          <p:cNvPr id="8" name="Text 6"/>
          <p:cNvSpPr txBox="1"/>
          <p:nvPr/>
        </p:nvSpPr>
        <p:spPr>
          <a:xfrm>
            <a:off x="960120" y="2514600"/>
            <a:ext cx="4617720" cy="137160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We compare the two voted plates using the confusion-aware scoring from step 7 — so a camera's honest mistakes do not count as a different vehicle.</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This is the strongest signal we have. A full plate match is very hard to get by accident.</a:t>
            </a:r>
            <a:endParaRPr lang="en-US" sz="1350" dirty="0"/>
          </a:p>
        </p:txBody>
      </p:sp>
      <p:sp>
        <p:nvSpPr>
          <p:cNvPr id="9" name="Shape 7"/>
          <p:cNvSpPr/>
          <p:nvPr/>
        </p:nvSpPr>
        <p:spPr>
          <a:xfrm>
            <a:off x="6291072" y="1691640"/>
            <a:ext cx="5257800" cy="2286000"/>
          </a:xfrm>
          <a:prstGeom prst="roundRect">
            <a:avLst>
              <a:gd name="adj" fmla="val 2400"/>
            </a:avLst>
          </a:prstGeom>
          <a:solidFill>
            <a:srgbClr val="18242F"/>
          </a:solidFill>
          <a:ln w="12700">
            <a:solidFill>
              <a:srgbClr val="2E3F4E"/>
            </a:solidFill>
            <a:prstDash val="solid"/>
          </a:ln>
        </p:spPr>
      </p:sp>
      <p:sp>
        <p:nvSpPr>
          <p:cNvPr id="10" name="Shape 8"/>
          <p:cNvSpPr/>
          <p:nvPr/>
        </p:nvSpPr>
        <p:spPr>
          <a:xfrm>
            <a:off x="6611112" y="1874520"/>
            <a:ext cx="502920" cy="502920"/>
          </a:xfrm>
          <a:prstGeom prst="ellipse">
            <a:avLst/>
          </a:prstGeom>
          <a:solidFill>
            <a:srgbClr val="F0B23F"/>
          </a:solidFill>
          <a:ln w="12700">
            <a:solidFill>
              <a:srgbClr val="F0B23F"/>
            </a:solidFill>
            <a:prstDash val="solid"/>
          </a:ln>
        </p:spPr>
      </p:sp>
      <p:sp>
        <p:nvSpPr>
          <p:cNvPr id="11" name="Text 9"/>
          <p:cNvSpPr txBox="1"/>
          <p:nvPr/>
        </p:nvSpPr>
        <p:spPr>
          <a:xfrm>
            <a:off x="6611112" y="1874520"/>
            <a:ext cx="502920" cy="50292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7251192" y="1901952"/>
            <a:ext cx="3657600" cy="320040"/>
          </a:xfrm>
          <a:prstGeom prst="rect">
            <a:avLst/>
          </a:prstGeom>
          <a:noFill/>
          <a:ln/>
        </p:spPr>
        <p:txBody>
          <a:bodyPr wrap="square" lIns="0" tIns="0" rIns="0" bIns="0" rtlCol="0" anchor="ctr"/>
          <a:lstStyle/>
          <a:p>
            <a:pPr indent="0" marL="0">
              <a:buNone/>
            </a:pPr>
            <a:r>
              <a:rPr lang="en-US" sz="1800" b="1" dirty="0">
                <a:solidFill>
                  <a:srgbClr val="58BFD6"/>
                </a:solidFill>
                <a:latin typeface="Arial" pitchFamily="34" charset="0"/>
                <a:ea typeface="Arial" pitchFamily="34" charset="-122"/>
                <a:cs typeface="Arial" pitchFamily="34" charset="-120"/>
              </a:rPr>
              <a:t>The look</a:t>
            </a:r>
            <a:endParaRPr lang="en-US" sz="1800" dirty="0"/>
          </a:p>
        </p:txBody>
      </p:sp>
      <p:sp>
        <p:nvSpPr>
          <p:cNvPr id="13" name="Text 11"/>
          <p:cNvSpPr txBox="1"/>
          <p:nvPr/>
        </p:nvSpPr>
        <p:spPr>
          <a:xfrm>
            <a:off x="6611112" y="2514600"/>
            <a:ext cx="4617720" cy="137160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The rough colour and shape of the vehicle body.</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This is deliberately WEAK evidence. Thousands of white cars exist. It can support a plate match, but on its own it proves nothing — and we treat it that way.</a:t>
            </a:r>
            <a:endParaRPr lang="en-US" sz="1350" dirty="0"/>
          </a:p>
        </p:txBody>
      </p:sp>
      <p:sp>
        <p:nvSpPr>
          <p:cNvPr id="14" name="Shape 12"/>
          <p:cNvSpPr/>
          <p:nvPr/>
        </p:nvSpPr>
        <p:spPr>
          <a:xfrm>
            <a:off x="640080" y="4206240"/>
            <a:ext cx="10911535" cy="2057400"/>
          </a:xfrm>
          <a:prstGeom prst="roundRect">
            <a:avLst>
              <a:gd name="adj" fmla="val 2667"/>
            </a:avLst>
          </a:prstGeom>
          <a:solidFill>
            <a:srgbClr val="213040"/>
          </a:solidFill>
          <a:ln w="12700">
            <a:solidFill>
              <a:srgbClr val="2E3F4E"/>
            </a:solidFill>
            <a:prstDash val="solid"/>
          </a:ln>
        </p:spPr>
      </p:sp>
      <p:sp>
        <p:nvSpPr>
          <p:cNvPr id="15" name="Text 13"/>
          <p:cNvSpPr txBox="1"/>
          <p:nvPr/>
        </p:nvSpPr>
        <p:spPr>
          <a:xfrm>
            <a:off x="1005840" y="4389120"/>
            <a:ext cx="6400800" cy="320040"/>
          </a:xfrm>
          <a:prstGeom prst="rect">
            <a:avLst/>
          </a:prstGeom>
          <a:noFill/>
          <a:ln/>
        </p:spPr>
        <p:txBody>
          <a:bodyPr wrap="square" lIns="0" tIns="0" rIns="0" bIns="0" rtlCol="0" anchor="ctr"/>
          <a:lstStyle/>
          <a:p>
            <a:pPr indent="0" marL="0">
              <a:buNone/>
            </a:pPr>
            <a:r>
              <a:rPr lang="en-US" sz="1600" b="1" dirty="0">
                <a:solidFill>
                  <a:srgbClr val="F0B23F"/>
                </a:solidFill>
                <a:latin typeface="Arial" pitchFamily="34" charset="0"/>
                <a:ea typeface="Arial" pitchFamily="34" charset="-122"/>
                <a:cs typeface="Arial" pitchFamily="34" charset="-120"/>
              </a:rPr>
              <a:t>An important honesty setting</a:t>
            </a:r>
            <a:endParaRPr lang="en-US" sz="1600" dirty="0"/>
          </a:p>
        </p:txBody>
      </p:sp>
      <p:sp>
        <p:nvSpPr>
          <p:cNvPr id="16" name="Text 14"/>
          <p:cNvSpPr txBox="1"/>
          <p:nvPr/>
        </p:nvSpPr>
        <p:spPr>
          <a:xfrm>
            <a:off x="1005840" y="4754880"/>
            <a:ext cx="10180015" cy="137160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In our configuration we require a plate before we will claim two sightings are the same vehicle. Appearance alone is never enough.</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We found this the hard way. In an early run, the appearance score sat higher than our accept threshold, and the system happily merged nine unrelated sightings into one "vehicle". We lowered the plateless limit and made a plate compulsory. That bug is why the rule exists.</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60A0E"/>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5 — THE SIGNAL THAT CAN SAY NO</a:t>
            </a:r>
            <a:endParaRPr lang="en-US" sz="1100" dirty="0"/>
          </a:p>
        </p:txBody>
      </p:sp>
      <p:sp>
        <p:nvSpPr>
          <p:cNvPr id="3" name="Text 1"/>
          <p:cNvSpPr txBox="1"/>
          <p:nvPr/>
        </p:nvSpPr>
        <p:spPr>
          <a:xfrm>
            <a:off x="640080" y="777240"/>
            <a:ext cx="822960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Signal 3: physics</a:t>
            </a:r>
            <a:endParaRPr lang="en-US" sz="3800" dirty="0"/>
          </a:p>
        </p:txBody>
      </p:sp>
      <p:sp>
        <p:nvSpPr>
          <p:cNvPr id="4" name="Text 2"/>
          <p:cNvSpPr txBox="1"/>
          <p:nvPr/>
        </p:nvSpPr>
        <p:spPr>
          <a:xfrm>
            <a:off x="640080" y="1600200"/>
            <a:ext cx="10911535" cy="45720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Plate and look are evidence FOR a match. Physics is different — it is a constraint that can overrule both.</a:t>
            </a:r>
            <a:endParaRPr lang="en-US" sz="1600" dirty="0"/>
          </a:p>
        </p:txBody>
      </p:sp>
      <p:sp>
        <p:nvSpPr>
          <p:cNvPr id="5" name="Shape 3"/>
          <p:cNvSpPr/>
          <p:nvPr/>
        </p:nvSpPr>
        <p:spPr>
          <a:xfrm>
            <a:off x="640080" y="2148840"/>
            <a:ext cx="10911535" cy="2286000"/>
          </a:xfrm>
          <a:prstGeom prst="roundRect">
            <a:avLst>
              <a:gd name="adj" fmla="val 2400"/>
            </a:avLst>
          </a:prstGeom>
          <a:solidFill>
            <a:srgbClr val="18242F"/>
          </a:solidFill>
          <a:ln w="12700">
            <a:solidFill>
              <a:srgbClr val="2E3F4E"/>
            </a:solidFill>
            <a:prstDash val="solid"/>
          </a:ln>
        </p:spPr>
      </p:sp>
      <p:sp>
        <p:nvSpPr>
          <p:cNvPr id="6" name="Text 4"/>
          <p:cNvSpPr txBox="1"/>
          <p:nvPr/>
        </p:nvSpPr>
        <p:spPr>
          <a:xfrm>
            <a:off x="1005840" y="2331720"/>
            <a:ext cx="6400800" cy="320040"/>
          </a:xfrm>
          <a:prstGeom prst="rect">
            <a:avLst/>
          </a:prstGeom>
          <a:noFill/>
          <a:ln/>
        </p:spPr>
        <p:txBody>
          <a:bodyPr wrap="square" lIns="0" tIns="0" rIns="0" bIns="0" rtlCol="0" anchor="ctr"/>
          <a:lstStyle/>
          <a:p>
            <a:pPr indent="0" marL="0">
              <a:buNone/>
            </a:pPr>
            <a:r>
              <a:rPr lang="en-US" sz="1600" b="1" dirty="0">
                <a:solidFill>
                  <a:srgbClr val="F0B23F"/>
                </a:solidFill>
                <a:latin typeface="Arial" pitchFamily="34" charset="0"/>
                <a:ea typeface="Arial" pitchFamily="34" charset="-122"/>
                <a:cs typeface="Arial" pitchFamily="34" charset="-120"/>
              </a:rPr>
              <a:t>The example to use on stage</a:t>
            </a:r>
            <a:endParaRPr lang="en-US" sz="1600" dirty="0"/>
          </a:p>
        </p:txBody>
      </p:sp>
      <p:sp>
        <p:nvSpPr>
          <p:cNvPr id="7" name="Text 5"/>
          <p:cNvSpPr txBox="1"/>
          <p:nvPr/>
        </p:nvSpPr>
        <p:spPr>
          <a:xfrm>
            <a:off x="1097280" y="2743200"/>
            <a:ext cx="6400800" cy="320040"/>
          </a:xfrm>
          <a:prstGeom prst="rect">
            <a:avLst/>
          </a:prstGeom>
          <a:noFill/>
          <a:ln/>
        </p:spPr>
        <p:txBody>
          <a:bodyPr wrap="square" lIns="0" tIns="0" rIns="0" bIns="0" rtlCol="0" anchor="ctr"/>
          <a:lstStyle/>
          <a:p>
            <a:pPr indent="0" marL="0">
              <a:buNone/>
            </a:pPr>
            <a:r>
              <a:rPr lang="en-US" sz="1400" dirty="0">
                <a:solidFill>
                  <a:srgbClr val="BCC9D5"/>
                </a:solidFill>
                <a:latin typeface="Calibri" pitchFamily="34" charset="0"/>
                <a:ea typeface="Calibri" pitchFamily="34" charset="-122"/>
                <a:cs typeface="Calibri" pitchFamily="34" charset="-120"/>
              </a:rPr>
              <a:t>Two sightings, plates match perfectly</a:t>
            </a:r>
            <a:endParaRPr lang="en-US" sz="1400" dirty="0"/>
          </a:p>
        </p:txBody>
      </p:sp>
      <p:sp>
        <p:nvSpPr>
          <p:cNvPr id="8" name="Text 6"/>
          <p:cNvSpPr txBox="1"/>
          <p:nvPr/>
        </p:nvSpPr>
        <p:spPr>
          <a:xfrm>
            <a:off x="7680960" y="2743200"/>
            <a:ext cx="3200400" cy="320040"/>
          </a:xfrm>
          <a:prstGeom prst="rect">
            <a:avLst/>
          </a:prstGeom>
          <a:noFill/>
          <a:ln/>
        </p:spPr>
        <p:txBody>
          <a:bodyPr wrap="square" lIns="0" tIns="0" rIns="0" bIns="0" rtlCol="0" anchor="ctr"/>
          <a:lstStyle/>
          <a:p>
            <a:pPr indent="0" marL="0">
              <a:buNone/>
            </a:pPr>
            <a:r>
              <a:rPr lang="en-US" sz="1400" b="1" dirty="0">
                <a:solidFill>
                  <a:srgbClr val="46C888"/>
                </a:solidFill>
                <a:latin typeface="Courier New" pitchFamily="34" charset="0"/>
                <a:ea typeface="Courier New" pitchFamily="34" charset="-122"/>
                <a:cs typeface="Courier New" pitchFamily="34" charset="-120"/>
              </a:rPr>
              <a:t>score 1.00</a:t>
            </a:r>
            <a:endParaRPr lang="en-US" sz="1400" dirty="0"/>
          </a:p>
        </p:txBody>
      </p:sp>
      <p:sp>
        <p:nvSpPr>
          <p:cNvPr id="9" name="Text 7"/>
          <p:cNvSpPr txBox="1"/>
          <p:nvPr/>
        </p:nvSpPr>
        <p:spPr>
          <a:xfrm>
            <a:off x="1097280" y="3145536"/>
            <a:ext cx="6400800" cy="320040"/>
          </a:xfrm>
          <a:prstGeom prst="rect">
            <a:avLst/>
          </a:prstGeom>
          <a:noFill/>
          <a:ln/>
        </p:spPr>
        <p:txBody>
          <a:bodyPr wrap="square" lIns="0" tIns="0" rIns="0" bIns="0" rtlCol="0" anchor="ctr"/>
          <a:lstStyle/>
          <a:p>
            <a:pPr indent="0" marL="0">
              <a:buNone/>
            </a:pPr>
            <a:r>
              <a:rPr lang="en-US" sz="1400" dirty="0">
                <a:solidFill>
                  <a:srgbClr val="BCC9D5"/>
                </a:solidFill>
                <a:latin typeface="Calibri" pitchFamily="34" charset="0"/>
                <a:ea typeface="Calibri" pitchFamily="34" charset="-122"/>
                <a:cs typeface="Calibri" pitchFamily="34" charset="-120"/>
              </a:rPr>
              <a:t>Distance between the two cameras</a:t>
            </a:r>
            <a:endParaRPr lang="en-US" sz="1400" dirty="0"/>
          </a:p>
        </p:txBody>
      </p:sp>
      <p:sp>
        <p:nvSpPr>
          <p:cNvPr id="10" name="Text 8"/>
          <p:cNvSpPr txBox="1"/>
          <p:nvPr/>
        </p:nvSpPr>
        <p:spPr>
          <a:xfrm>
            <a:off x="7680960" y="3145536"/>
            <a:ext cx="3200400" cy="320040"/>
          </a:xfrm>
          <a:prstGeom prst="rect">
            <a:avLst/>
          </a:prstGeom>
          <a:noFill/>
          <a:ln/>
        </p:spPr>
        <p:txBody>
          <a:bodyPr wrap="square" lIns="0" tIns="0" rIns="0" bIns="0" rtlCol="0" anchor="ctr"/>
          <a:lstStyle/>
          <a:p>
            <a:pPr indent="0" marL="0">
              <a:buNone/>
            </a:pPr>
            <a:r>
              <a:rPr lang="en-US" sz="1400" b="1" dirty="0">
                <a:solidFill>
                  <a:srgbClr val="BCC9D5"/>
                </a:solidFill>
                <a:latin typeface="Courier New" pitchFamily="34" charset="0"/>
                <a:ea typeface="Courier New" pitchFamily="34" charset="-122"/>
                <a:cs typeface="Courier New" pitchFamily="34" charset="-120"/>
              </a:rPr>
              <a:t>4 kilometres</a:t>
            </a:r>
            <a:endParaRPr lang="en-US" sz="1400" dirty="0"/>
          </a:p>
        </p:txBody>
      </p:sp>
      <p:sp>
        <p:nvSpPr>
          <p:cNvPr id="11" name="Text 9"/>
          <p:cNvSpPr txBox="1"/>
          <p:nvPr/>
        </p:nvSpPr>
        <p:spPr>
          <a:xfrm>
            <a:off x="1097280" y="3547872"/>
            <a:ext cx="6400800" cy="320040"/>
          </a:xfrm>
          <a:prstGeom prst="rect">
            <a:avLst/>
          </a:prstGeom>
          <a:noFill/>
          <a:ln/>
        </p:spPr>
        <p:txBody>
          <a:bodyPr wrap="square" lIns="0" tIns="0" rIns="0" bIns="0" rtlCol="0" anchor="ctr"/>
          <a:lstStyle/>
          <a:p>
            <a:pPr indent="0" marL="0">
              <a:buNone/>
            </a:pPr>
            <a:r>
              <a:rPr lang="en-US" sz="1400" dirty="0">
                <a:solidFill>
                  <a:srgbClr val="BCC9D5"/>
                </a:solidFill>
                <a:latin typeface="Calibri" pitchFamily="34" charset="0"/>
                <a:ea typeface="Calibri" pitchFamily="34" charset="-122"/>
                <a:cs typeface="Calibri" pitchFamily="34" charset="-120"/>
              </a:rPr>
              <a:t>Time between the two sightings</a:t>
            </a:r>
            <a:endParaRPr lang="en-US" sz="1400" dirty="0"/>
          </a:p>
        </p:txBody>
      </p:sp>
      <p:sp>
        <p:nvSpPr>
          <p:cNvPr id="12" name="Text 10"/>
          <p:cNvSpPr txBox="1"/>
          <p:nvPr/>
        </p:nvSpPr>
        <p:spPr>
          <a:xfrm>
            <a:off x="7680960" y="3547872"/>
            <a:ext cx="3200400" cy="320040"/>
          </a:xfrm>
          <a:prstGeom prst="rect">
            <a:avLst/>
          </a:prstGeom>
          <a:noFill/>
          <a:ln/>
        </p:spPr>
        <p:txBody>
          <a:bodyPr wrap="square" lIns="0" tIns="0" rIns="0" bIns="0" rtlCol="0" anchor="ctr"/>
          <a:lstStyle/>
          <a:p>
            <a:pPr indent="0" marL="0">
              <a:buNone/>
            </a:pPr>
            <a:r>
              <a:rPr lang="en-US" sz="1400" b="1" dirty="0">
                <a:solidFill>
                  <a:srgbClr val="BCC9D5"/>
                </a:solidFill>
                <a:latin typeface="Courier New" pitchFamily="34" charset="0"/>
                <a:ea typeface="Courier New" pitchFamily="34" charset="-122"/>
                <a:cs typeface="Courier New" pitchFamily="34" charset="-120"/>
              </a:rPr>
              <a:t>30 seconds</a:t>
            </a:r>
            <a:endParaRPr lang="en-US" sz="1400" dirty="0"/>
          </a:p>
        </p:txBody>
      </p:sp>
      <p:sp>
        <p:nvSpPr>
          <p:cNvPr id="13" name="Text 11"/>
          <p:cNvSpPr txBox="1"/>
          <p:nvPr/>
        </p:nvSpPr>
        <p:spPr>
          <a:xfrm>
            <a:off x="1097280" y="3950208"/>
            <a:ext cx="6400800" cy="320040"/>
          </a:xfrm>
          <a:prstGeom prst="rect">
            <a:avLst/>
          </a:prstGeom>
          <a:noFill/>
          <a:ln/>
        </p:spPr>
        <p:txBody>
          <a:bodyPr wrap="square" lIns="0" tIns="0" rIns="0" bIns="0" rtlCol="0" anchor="ctr"/>
          <a:lstStyle/>
          <a:p>
            <a:pPr indent="0" marL="0">
              <a:buNone/>
            </a:pPr>
            <a:r>
              <a:rPr lang="en-US" sz="1400" dirty="0">
                <a:solidFill>
                  <a:srgbClr val="BCC9D5"/>
                </a:solidFill>
                <a:latin typeface="Calibri" pitchFamily="34" charset="0"/>
                <a:ea typeface="Calibri" pitchFamily="34" charset="-122"/>
                <a:cs typeface="Calibri" pitchFamily="34" charset="-120"/>
              </a:rPr>
              <a:t>Speed that would require</a:t>
            </a:r>
            <a:endParaRPr lang="en-US" sz="1400" dirty="0"/>
          </a:p>
        </p:txBody>
      </p:sp>
      <p:sp>
        <p:nvSpPr>
          <p:cNvPr id="14" name="Text 12"/>
          <p:cNvSpPr txBox="1"/>
          <p:nvPr/>
        </p:nvSpPr>
        <p:spPr>
          <a:xfrm>
            <a:off x="7680960" y="3950208"/>
            <a:ext cx="3200400" cy="320040"/>
          </a:xfrm>
          <a:prstGeom prst="rect">
            <a:avLst/>
          </a:prstGeom>
          <a:noFill/>
          <a:ln/>
        </p:spPr>
        <p:txBody>
          <a:bodyPr wrap="square" lIns="0" tIns="0" rIns="0" bIns="0" rtlCol="0" anchor="ctr"/>
          <a:lstStyle/>
          <a:p>
            <a:pPr indent="0" marL="0">
              <a:buNone/>
            </a:pPr>
            <a:r>
              <a:rPr lang="en-US" sz="1400" b="1" dirty="0">
                <a:solidFill>
                  <a:srgbClr val="EC6055"/>
                </a:solidFill>
                <a:latin typeface="Courier New" pitchFamily="34" charset="0"/>
                <a:ea typeface="Courier New" pitchFamily="34" charset="-122"/>
                <a:cs typeface="Courier New" pitchFamily="34" charset="-120"/>
              </a:rPr>
              <a:t>480 km/h</a:t>
            </a:r>
            <a:endParaRPr lang="en-US" sz="1400" dirty="0"/>
          </a:p>
        </p:txBody>
      </p:sp>
      <p:sp>
        <p:nvSpPr>
          <p:cNvPr id="15" name="Shape 13"/>
          <p:cNvSpPr/>
          <p:nvPr/>
        </p:nvSpPr>
        <p:spPr>
          <a:xfrm>
            <a:off x="640080" y="4617720"/>
            <a:ext cx="10911535" cy="1051560"/>
          </a:xfrm>
          <a:prstGeom prst="roundRect">
            <a:avLst>
              <a:gd name="adj" fmla="val 5217"/>
            </a:avLst>
          </a:prstGeom>
          <a:solidFill>
            <a:srgbClr val="2A1A18"/>
          </a:solidFill>
          <a:ln w="12700">
            <a:solidFill>
              <a:srgbClr val="2E3F4E"/>
            </a:solidFill>
            <a:prstDash val="solid"/>
          </a:ln>
        </p:spPr>
      </p:sp>
      <p:sp>
        <p:nvSpPr>
          <p:cNvPr id="16" name="Text 14"/>
          <p:cNvSpPr txBox="1"/>
          <p:nvPr/>
        </p:nvSpPr>
        <p:spPr>
          <a:xfrm>
            <a:off x="1005840" y="4617720"/>
            <a:ext cx="10180015" cy="1051560"/>
          </a:xfrm>
          <a:prstGeom prst="rect">
            <a:avLst/>
          </a:prstGeom>
          <a:noFill/>
          <a:ln/>
        </p:spPr>
        <p:txBody>
          <a:bodyPr wrap="square" lIns="0" tIns="0" rIns="0" bIns="0" rtlCol="0" anchor="ctr"/>
          <a:lstStyle/>
          <a:p>
            <a:pPr indent="0" marL="0">
              <a:buNone/>
            </a:pPr>
            <a:r>
              <a:rPr lang="en-US" sz="1700" b="1" dirty="0">
                <a:solidFill>
                  <a:srgbClr val="EC6055"/>
                </a:solidFill>
                <a:latin typeface="Arial" pitchFamily="34" charset="0"/>
                <a:ea typeface="Arial" pitchFamily="34" charset="-122"/>
                <a:cs typeface="Arial" pitchFamily="34" charset="-120"/>
              </a:rPr>
              <a:t>REJECTED. No car does 480 km/h. It cannot have been the same vehicle, however well the plates matched.</a:t>
            </a:r>
            <a:endParaRPr lang="en-US" sz="1700" dirty="0"/>
          </a:p>
        </p:txBody>
      </p:sp>
      <p:sp>
        <p:nvSpPr>
          <p:cNvPr id="17" name="Text 15"/>
          <p:cNvSpPr txBox="1"/>
          <p:nvPr/>
        </p:nvSpPr>
        <p:spPr>
          <a:xfrm>
            <a:off x="640080" y="5852160"/>
            <a:ext cx="10911535" cy="548640"/>
          </a:xfrm>
          <a:prstGeom prst="rect">
            <a:avLst/>
          </a:prstGeom>
          <a:noFill/>
          <a:ln/>
        </p:spPr>
        <p:txBody>
          <a:bodyPr wrap="square" lIns="0" tIns="0" rIns="0" bIns="0" rtlCol="0" anchor="ctr"/>
          <a:lstStyle/>
          <a:p>
            <a:pPr indent="0" marL="0">
              <a:lnSpc>
                <a:spcPct val="115000"/>
              </a:lnSpc>
              <a:buNone/>
            </a:pPr>
            <a:r>
              <a:rPr lang="en-US" sz="1350" dirty="0">
                <a:solidFill>
                  <a:srgbClr val="8496A6"/>
                </a:solidFill>
                <a:latin typeface="Calibri" pitchFamily="34" charset="0"/>
                <a:ea typeface="Calibri" pitchFamily="34" charset="-122"/>
                <a:cs typeface="Calibri" pitchFamily="34" charset="-120"/>
              </a:rPr>
              <a:t>Where do the distances come from? configs/city_graph.yaml — our map of which cameras connect to which, how far apart they are, and the normal speed of each road.</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5 — AFTER THE MATCHING</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Turn confirmed links into a journey</a:t>
            </a:r>
            <a:endParaRPr lang="en-US" sz="3200" dirty="0"/>
          </a:p>
        </p:txBody>
      </p:sp>
      <p:sp>
        <p:nvSpPr>
          <p:cNvPr id="4" name="Text 2"/>
          <p:cNvSpPr txBox="1"/>
          <p:nvPr/>
        </p:nvSpPr>
        <p:spPr>
          <a:xfrm>
            <a:off x="640080" y="1417320"/>
            <a:ext cx="5486400" cy="320040"/>
          </a:xfrm>
          <a:prstGeom prst="rect">
            <a:avLst/>
          </a:prstGeom>
          <a:noFill/>
          <a:ln/>
        </p:spPr>
        <p:txBody>
          <a:bodyPr wrap="square" lIns="0" tIns="0" rIns="0" bIns="0" rtlCol="0" anchor="ctr"/>
          <a:lstStyle/>
          <a:p>
            <a:pPr indent="0" marL="0">
              <a:buNone/>
            </a:pPr>
            <a:r>
              <a:rPr lang="en-US" sz="1500" dirty="0">
                <a:solidFill>
                  <a:srgbClr val="58BFD6"/>
                </a:solidFill>
                <a:latin typeface="Courier New" pitchFamily="34" charset="0"/>
                <a:ea typeface="Courier New" pitchFamily="34" charset="-122"/>
                <a:cs typeface="Courier New" pitchFamily="34" charset="-120"/>
              </a:rPr>
              <a:t>trajectory/engine.py</a:t>
            </a:r>
            <a:endParaRPr lang="en-US" sz="1500" dirty="0"/>
          </a:p>
        </p:txBody>
      </p:sp>
      <p:sp>
        <p:nvSpPr>
          <p:cNvPr id="5" name="Text 3"/>
          <p:cNvSpPr txBox="1"/>
          <p:nvPr/>
        </p:nvSpPr>
        <p:spPr>
          <a:xfrm>
            <a:off x="640080" y="1847088"/>
            <a:ext cx="10911535" cy="45720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Once we know which sightings belong together, we string them into one journey and work out everything measurable about it.</a:t>
            </a:r>
            <a:endParaRPr lang="en-US" sz="1600" dirty="0"/>
          </a:p>
        </p:txBody>
      </p:sp>
      <p:sp>
        <p:nvSpPr>
          <p:cNvPr id="6" name="Shape 4"/>
          <p:cNvSpPr/>
          <p:nvPr/>
        </p:nvSpPr>
        <p:spPr>
          <a:xfrm>
            <a:off x="640080" y="2423160"/>
            <a:ext cx="10911535" cy="658368"/>
          </a:xfrm>
          <a:prstGeom prst="roundRect">
            <a:avLst>
              <a:gd name="adj" fmla="val 8333"/>
            </a:avLst>
          </a:prstGeom>
          <a:solidFill>
            <a:srgbClr val="18242F"/>
          </a:solidFill>
          <a:ln w="12700">
            <a:solidFill>
              <a:srgbClr val="2E3F4E"/>
            </a:solidFill>
            <a:prstDash val="solid"/>
          </a:ln>
        </p:spPr>
      </p:sp>
      <p:sp>
        <p:nvSpPr>
          <p:cNvPr id="7" name="Text 5"/>
          <p:cNvSpPr txBox="1"/>
          <p:nvPr/>
        </p:nvSpPr>
        <p:spPr>
          <a:xfrm>
            <a:off x="960120" y="2423160"/>
            <a:ext cx="1828800" cy="658368"/>
          </a:xfrm>
          <a:prstGeom prst="rect">
            <a:avLst/>
          </a:prstGeom>
          <a:noFill/>
          <a:ln/>
        </p:spPr>
        <p:txBody>
          <a:bodyPr wrap="square" lIns="0" tIns="0" rIns="0" bIns="0" rtlCol="0" anchor="ctr"/>
          <a:lstStyle/>
          <a:p>
            <a:pPr indent="0" marL="0">
              <a:buNone/>
            </a:pPr>
            <a:r>
              <a:rPr lang="en-US" sz="1400" b="1" dirty="0">
                <a:solidFill>
                  <a:srgbClr val="F0B23F"/>
                </a:solidFill>
                <a:latin typeface="Arial" pitchFamily="34" charset="0"/>
                <a:ea typeface="Arial" pitchFamily="34" charset="-122"/>
                <a:cs typeface="Arial" pitchFamily="34" charset="-120"/>
              </a:rPr>
              <a:t>Route</a:t>
            </a:r>
            <a:endParaRPr lang="en-US" sz="1400" dirty="0"/>
          </a:p>
        </p:txBody>
      </p:sp>
      <p:sp>
        <p:nvSpPr>
          <p:cNvPr id="8" name="Text 6"/>
          <p:cNvSpPr txBox="1"/>
          <p:nvPr/>
        </p:nvSpPr>
        <p:spPr>
          <a:xfrm>
            <a:off x="2926080" y="2423160"/>
            <a:ext cx="8259775" cy="658368"/>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CAM01 → CAM02 → CAM03</a:t>
            </a:r>
            <a:endParaRPr lang="en-US" sz="1350" dirty="0"/>
          </a:p>
        </p:txBody>
      </p:sp>
      <p:sp>
        <p:nvSpPr>
          <p:cNvPr id="9" name="Shape 7"/>
          <p:cNvSpPr/>
          <p:nvPr/>
        </p:nvSpPr>
        <p:spPr>
          <a:xfrm>
            <a:off x="640080" y="3200400"/>
            <a:ext cx="10911535" cy="658368"/>
          </a:xfrm>
          <a:prstGeom prst="roundRect">
            <a:avLst>
              <a:gd name="adj" fmla="val 8333"/>
            </a:avLst>
          </a:prstGeom>
          <a:solidFill>
            <a:srgbClr val="18242F"/>
          </a:solidFill>
          <a:ln w="12700">
            <a:solidFill>
              <a:srgbClr val="2E3F4E"/>
            </a:solidFill>
            <a:prstDash val="solid"/>
          </a:ln>
        </p:spPr>
      </p:sp>
      <p:sp>
        <p:nvSpPr>
          <p:cNvPr id="10" name="Text 8"/>
          <p:cNvSpPr txBox="1"/>
          <p:nvPr/>
        </p:nvSpPr>
        <p:spPr>
          <a:xfrm>
            <a:off x="960120" y="3200400"/>
            <a:ext cx="1828800" cy="658368"/>
          </a:xfrm>
          <a:prstGeom prst="rect">
            <a:avLst/>
          </a:prstGeom>
          <a:noFill/>
          <a:ln/>
        </p:spPr>
        <p:txBody>
          <a:bodyPr wrap="square" lIns="0" tIns="0" rIns="0" bIns="0" rtlCol="0" anchor="ctr"/>
          <a:lstStyle/>
          <a:p>
            <a:pPr indent="0" marL="0">
              <a:buNone/>
            </a:pPr>
            <a:r>
              <a:rPr lang="en-US" sz="1400" b="1" dirty="0">
                <a:solidFill>
                  <a:srgbClr val="F0B23F"/>
                </a:solidFill>
                <a:latin typeface="Arial" pitchFamily="34" charset="0"/>
                <a:ea typeface="Arial" pitchFamily="34" charset="-122"/>
                <a:cs typeface="Arial" pitchFamily="34" charset="-120"/>
              </a:rPr>
              <a:t>Each leg</a:t>
            </a:r>
            <a:endParaRPr lang="en-US" sz="1400" dirty="0"/>
          </a:p>
        </p:txBody>
      </p:sp>
      <p:sp>
        <p:nvSpPr>
          <p:cNvPr id="11" name="Text 9"/>
          <p:cNvSpPr txBox="1"/>
          <p:nvPr/>
        </p:nvSpPr>
        <p:spPr>
          <a:xfrm>
            <a:off x="2926080" y="3200400"/>
            <a:ext cx="8259775" cy="658368"/>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when it left, when it arrived, how long, how far, how fast</a:t>
            </a:r>
            <a:endParaRPr lang="en-US" sz="1350" dirty="0"/>
          </a:p>
        </p:txBody>
      </p:sp>
      <p:sp>
        <p:nvSpPr>
          <p:cNvPr id="12" name="Shape 10"/>
          <p:cNvSpPr/>
          <p:nvPr/>
        </p:nvSpPr>
        <p:spPr>
          <a:xfrm>
            <a:off x="640080" y="3977640"/>
            <a:ext cx="10911535" cy="658368"/>
          </a:xfrm>
          <a:prstGeom prst="roundRect">
            <a:avLst>
              <a:gd name="adj" fmla="val 8333"/>
            </a:avLst>
          </a:prstGeom>
          <a:solidFill>
            <a:srgbClr val="18242F"/>
          </a:solidFill>
          <a:ln w="12700">
            <a:solidFill>
              <a:srgbClr val="2E3F4E"/>
            </a:solidFill>
            <a:prstDash val="solid"/>
          </a:ln>
        </p:spPr>
      </p:sp>
      <p:sp>
        <p:nvSpPr>
          <p:cNvPr id="13" name="Text 11"/>
          <p:cNvSpPr txBox="1"/>
          <p:nvPr/>
        </p:nvSpPr>
        <p:spPr>
          <a:xfrm>
            <a:off x="960120" y="3977640"/>
            <a:ext cx="1828800" cy="658368"/>
          </a:xfrm>
          <a:prstGeom prst="rect">
            <a:avLst/>
          </a:prstGeom>
          <a:noFill/>
          <a:ln/>
        </p:spPr>
        <p:txBody>
          <a:bodyPr wrap="square" lIns="0" tIns="0" rIns="0" bIns="0" rtlCol="0" anchor="ctr"/>
          <a:lstStyle/>
          <a:p>
            <a:pPr indent="0" marL="0">
              <a:buNone/>
            </a:pPr>
            <a:r>
              <a:rPr lang="en-US" sz="1400" b="1" dirty="0">
                <a:solidFill>
                  <a:srgbClr val="F0B23F"/>
                </a:solidFill>
                <a:latin typeface="Arial" pitchFamily="34" charset="0"/>
                <a:ea typeface="Arial" pitchFamily="34" charset="-122"/>
                <a:cs typeface="Arial" pitchFamily="34" charset="-120"/>
              </a:rPr>
              <a:t>Totals</a:t>
            </a:r>
            <a:endParaRPr lang="en-US" sz="1400" dirty="0"/>
          </a:p>
        </p:txBody>
      </p:sp>
      <p:sp>
        <p:nvSpPr>
          <p:cNvPr id="14" name="Text 12"/>
          <p:cNvSpPr txBox="1"/>
          <p:nvPr/>
        </p:nvSpPr>
        <p:spPr>
          <a:xfrm>
            <a:off x="2926080" y="3977640"/>
            <a:ext cx="8259775" cy="658368"/>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total distance, total time, average speed</a:t>
            </a:r>
            <a:endParaRPr lang="en-US" sz="1350" dirty="0"/>
          </a:p>
        </p:txBody>
      </p:sp>
      <p:sp>
        <p:nvSpPr>
          <p:cNvPr id="15" name="Shape 13"/>
          <p:cNvSpPr/>
          <p:nvPr/>
        </p:nvSpPr>
        <p:spPr>
          <a:xfrm>
            <a:off x="640080" y="4754880"/>
            <a:ext cx="10911535" cy="658368"/>
          </a:xfrm>
          <a:prstGeom prst="roundRect">
            <a:avLst>
              <a:gd name="adj" fmla="val 8333"/>
            </a:avLst>
          </a:prstGeom>
          <a:solidFill>
            <a:srgbClr val="18242F"/>
          </a:solidFill>
          <a:ln w="12700">
            <a:solidFill>
              <a:srgbClr val="2E3F4E"/>
            </a:solidFill>
            <a:prstDash val="solid"/>
          </a:ln>
        </p:spPr>
      </p:sp>
      <p:sp>
        <p:nvSpPr>
          <p:cNvPr id="16" name="Text 14"/>
          <p:cNvSpPr txBox="1"/>
          <p:nvPr/>
        </p:nvSpPr>
        <p:spPr>
          <a:xfrm>
            <a:off x="960120" y="4754880"/>
            <a:ext cx="1828800" cy="658368"/>
          </a:xfrm>
          <a:prstGeom prst="rect">
            <a:avLst/>
          </a:prstGeom>
          <a:noFill/>
          <a:ln/>
        </p:spPr>
        <p:txBody>
          <a:bodyPr wrap="square" lIns="0" tIns="0" rIns="0" bIns="0" rtlCol="0" anchor="ctr"/>
          <a:lstStyle/>
          <a:p>
            <a:pPr indent="0" marL="0">
              <a:buNone/>
            </a:pPr>
            <a:r>
              <a:rPr lang="en-US" sz="1400" b="1" dirty="0">
                <a:solidFill>
                  <a:srgbClr val="F0B23F"/>
                </a:solidFill>
                <a:latin typeface="Arial" pitchFamily="34" charset="0"/>
                <a:ea typeface="Arial" pitchFamily="34" charset="-122"/>
                <a:cs typeface="Arial" pitchFamily="34" charset="-120"/>
              </a:rPr>
              <a:t>Confidence</a:t>
            </a:r>
            <a:endParaRPr lang="en-US" sz="1400" dirty="0"/>
          </a:p>
        </p:txBody>
      </p:sp>
      <p:sp>
        <p:nvSpPr>
          <p:cNvPr id="17" name="Text 15"/>
          <p:cNvSpPr txBox="1"/>
          <p:nvPr/>
        </p:nvSpPr>
        <p:spPr>
          <a:xfrm>
            <a:off x="2926080" y="4754880"/>
            <a:ext cx="8259775" cy="658368"/>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the score of the WEAKEST link in the chain — a journey is only as trustworthy as its shakiest step</a:t>
            </a:r>
            <a:endParaRPr lang="en-US" sz="1350" dirty="0"/>
          </a:p>
        </p:txBody>
      </p:sp>
      <p:sp>
        <p:nvSpPr>
          <p:cNvPr id="18" name="Shape 16"/>
          <p:cNvSpPr/>
          <p:nvPr/>
        </p:nvSpPr>
        <p:spPr>
          <a:xfrm>
            <a:off x="640080" y="5623560"/>
            <a:ext cx="10911535" cy="914400"/>
          </a:xfrm>
          <a:prstGeom prst="roundRect">
            <a:avLst>
              <a:gd name="adj" fmla="val 6000"/>
            </a:avLst>
          </a:prstGeom>
          <a:solidFill>
            <a:srgbClr val="1E2A1B"/>
          </a:solidFill>
          <a:ln w="12700">
            <a:solidFill>
              <a:srgbClr val="2E3F4E"/>
            </a:solidFill>
            <a:prstDash val="solid"/>
          </a:ln>
        </p:spPr>
      </p:sp>
      <p:sp>
        <p:nvSpPr>
          <p:cNvPr id="19" name="Text 17"/>
          <p:cNvSpPr txBox="1"/>
          <p:nvPr/>
        </p:nvSpPr>
        <p:spPr>
          <a:xfrm>
            <a:off x="1005840" y="5742432"/>
            <a:ext cx="7315200" cy="292608"/>
          </a:xfrm>
          <a:prstGeom prst="rect">
            <a:avLst/>
          </a:prstGeom>
          <a:noFill/>
          <a:ln/>
        </p:spPr>
        <p:txBody>
          <a:bodyPr wrap="square" lIns="0" tIns="0" rIns="0" bIns="0" rtlCol="0" anchor="ctr"/>
          <a:lstStyle/>
          <a:p>
            <a:pPr indent="0" marL="0">
              <a:buNone/>
            </a:pPr>
            <a:r>
              <a:rPr lang="en-US" sz="1500" b="1" dirty="0">
                <a:solidFill>
                  <a:srgbClr val="46C888"/>
                </a:solidFill>
                <a:latin typeface="Arial" pitchFamily="34" charset="0"/>
                <a:ea typeface="Arial" pitchFamily="34" charset="-122"/>
                <a:cs typeface="Arial" pitchFamily="34" charset="-120"/>
              </a:rPr>
              <a:t>Coverage gaps — a free bonus we did not plan for</a:t>
            </a:r>
            <a:endParaRPr lang="en-US" sz="1500" dirty="0"/>
          </a:p>
        </p:txBody>
      </p:sp>
      <p:sp>
        <p:nvSpPr>
          <p:cNvPr id="20" name="Text 18"/>
          <p:cNvSpPr txBox="1"/>
          <p:nvPr/>
        </p:nvSpPr>
        <p:spPr>
          <a:xfrm>
            <a:off x="1005840" y="6053328"/>
            <a:ext cx="10180015" cy="457200"/>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If the road map says a vehicle MUST have driven past Camera 2, but Camera 2 recorded nothing, we flag it. That is a broken or badly-aimed camera, found automatically. It is a camera fault, not a traffic one — and we say so on screen.</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6 — THE TRAFFIC NUMBERS</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Congestion from time taken, not cars counted</a:t>
            </a:r>
            <a:endParaRPr lang="en-US" sz="3200" dirty="0"/>
          </a:p>
        </p:txBody>
      </p:sp>
      <p:sp>
        <p:nvSpPr>
          <p:cNvPr id="4" name="Text 2"/>
          <p:cNvSpPr txBox="1"/>
          <p:nvPr/>
        </p:nvSpPr>
        <p:spPr>
          <a:xfrm>
            <a:off x="640080" y="1417320"/>
            <a:ext cx="5486400" cy="320040"/>
          </a:xfrm>
          <a:prstGeom prst="rect">
            <a:avLst/>
          </a:prstGeom>
          <a:noFill/>
          <a:ln/>
        </p:spPr>
        <p:txBody>
          <a:bodyPr wrap="square" lIns="0" tIns="0" rIns="0" bIns="0" rtlCol="0" anchor="ctr"/>
          <a:lstStyle/>
          <a:p>
            <a:pPr indent="0" marL="0">
              <a:buNone/>
            </a:pPr>
            <a:r>
              <a:rPr lang="en-US" sz="1500" dirty="0">
                <a:solidFill>
                  <a:srgbClr val="58BFD6"/>
                </a:solidFill>
                <a:latin typeface="Courier New" pitchFamily="34" charset="0"/>
                <a:ea typeface="Courier New" pitchFamily="34" charset="-122"/>
                <a:cs typeface="Courier New" pitchFamily="34" charset="-120"/>
              </a:rPr>
              <a:t>analytics/metrics.py</a:t>
            </a:r>
            <a:endParaRPr lang="en-US" sz="1500" dirty="0"/>
          </a:p>
        </p:txBody>
      </p:sp>
      <p:sp>
        <p:nvSpPr>
          <p:cNvPr id="5" name="Shape 3"/>
          <p:cNvSpPr/>
          <p:nvPr/>
        </p:nvSpPr>
        <p:spPr>
          <a:xfrm>
            <a:off x="640080" y="1874520"/>
            <a:ext cx="5257800" cy="1920240"/>
          </a:xfrm>
          <a:prstGeom prst="roundRect">
            <a:avLst>
              <a:gd name="adj" fmla="val 2857"/>
            </a:avLst>
          </a:prstGeom>
          <a:solidFill>
            <a:srgbClr val="18242F"/>
          </a:solidFill>
          <a:ln w="12700">
            <a:solidFill>
              <a:srgbClr val="2E3F4E"/>
            </a:solidFill>
            <a:prstDash val="solid"/>
          </a:ln>
        </p:spPr>
      </p:sp>
      <p:sp>
        <p:nvSpPr>
          <p:cNvPr id="6" name="Text 4"/>
          <p:cNvSpPr txBox="1"/>
          <p:nvPr/>
        </p:nvSpPr>
        <p:spPr>
          <a:xfrm>
            <a:off x="960120" y="2057400"/>
            <a:ext cx="4572000" cy="292608"/>
          </a:xfrm>
          <a:prstGeom prst="rect">
            <a:avLst/>
          </a:prstGeom>
          <a:noFill/>
          <a:ln/>
        </p:spPr>
        <p:txBody>
          <a:bodyPr wrap="square" lIns="0" tIns="0" rIns="0" bIns="0" rtlCol="0" anchor="ctr"/>
          <a:lstStyle/>
          <a:p>
            <a:pPr indent="0" marL="0">
              <a:buNone/>
            </a:pPr>
            <a:r>
              <a:rPr lang="en-US" sz="1500" b="1" dirty="0">
                <a:solidFill>
                  <a:srgbClr val="8496A6"/>
                </a:solidFill>
                <a:latin typeface="Arial" pitchFamily="34" charset="0"/>
                <a:ea typeface="Arial" pitchFamily="34" charset="-122"/>
                <a:cs typeface="Arial" pitchFamily="34" charset="-120"/>
              </a:rPr>
              <a:t>The usual way</a:t>
            </a:r>
            <a:endParaRPr lang="en-US" sz="1500" dirty="0"/>
          </a:p>
        </p:txBody>
      </p:sp>
      <p:sp>
        <p:nvSpPr>
          <p:cNvPr id="7" name="Text 5"/>
          <p:cNvSpPr txBox="1"/>
          <p:nvPr/>
        </p:nvSpPr>
        <p:spPr>
          <a:xfrm>
            <a:off x="960120" y="2395728"/>
            <a:ext cx="4617720" cy="128016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Count the cars. Many cars = jam.</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But a six-lane road with many cars can be moving perfectly. And an empty road blocked by one broken-down lorry is a total jam. Counting gets both of these wrong.</a:t>
            </a:r>
            <a:endParaRPr lang="en-US" sz="1350" dirty="0"/>
          </a:p>
        </p:txBody>
      </p:sp>
      <p:sp>
        <p:nvSpPr>
          <p:cNvPr id="8" name="Shape 6"/>
          <p:cNvSpPr/>
          <p:nvPr/>
        </p:nvSpPr>
        <p:spPr>
          <a:xfrm>
            <a:off x="6291072" y="1874520"/>
            <a:ext cx="5257800" cy="1920240"/>
          </a:xfrm>
          <a:prstGeom prst="roundRect">
            <a:avLst>
              <a:gd name="adj" fmla="val 2857"/>
            </a:avLst>
          </a:prstGeom>
          <a:solidFill>
            <a:srgbClr val="213040"/>
          </a:solidFill>
          <a:ln w="12700">
            <a:solidFill>
              <a:srgbClr val="2E3F4E"/>
            </a:solidFill>
            <a:prstDash val="solid"/>
          </a:ln>
        </p:spPr>
      </p:sp>
      <p:sp>
        <p:nvSpPr>
          <p:cNvPr id="9" name="Text 7"/>
          <p:cNvSpPr txBox="1"/>
          <p:nvPr/>
        </p:nvSpPr>
        <p:spPr>
          <a:xfrm>
            <a:off x="6611112" y="2057400"/>
            <a:ext cx="4572000" cy="292608"/>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Our way</a:t>
            </a:r>
            <a:endParaRPr lang="en-US" sz="1500" dirty="0"/>
          </a:p>
        </p:txBody>
      </p:sp>
      <p:sp>
        <p:nvSpPr>
          <p:cNvPr id="10" name="Text 8"/>
          <p:cNvSpPr txBox="1"/>
          <p:nvPr/>
        </p:nvSpPr>
        <p:spPr>
          <a:xfrm>
            <a:off x="6611112" y="2395728"/>
            <a:ext cx="4617720" cy="1325880"/>
          </a:xfrm>
          <a:prstGeom prst="rect">
            <a:avLst/>
          </a:prstGeom>
          <a:noFill/>
          <a:ln/>
        </p:spPr>
        <p:txBody>
          <a:bodyPr wrap="square" lIns="0" tIns="0" rIns="0" bIns="0" rtlCol="0" anchor="ctr"/>
          <a:lstStyle/>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We already know exactly how long real vehicles took to get from Camera 1 to Camera 2. We compare that against how long the road normally takes.</a:t>
            </a:r>
            <a:endParaRPr lang="en-US" sz="1350" dirty="0"/>
          </a:p>
          <a:p>
            <a:pPr indent="0" marL="0">
              <a:lnSpc>
                <a:spcPct val="115000"/>
              </a:lnSpc>
              <a:buNone/>
            </a:pPr>
            <a:endParaRPr lang="en-US" sz="1350" dirty="0"/>
          </a:p>
          <a:p>
            <a:pPr indent="0" marL="0">
              <a:lnSpc>
                <a:spcPct val="115000"/>
              </a:lnSpc>
              <a:buNone/>
            </a:pPr>
            <a:r>
              <a:rPr lang="en-US" sz="1350" dirty="0">
                <a:solidFill>
                  <a:srgbClr val="BCC9D5"/>
                </a:solidFill>
                <a:latin typeface="Calibri" pitchFamily="34" charset="0"/>
                <a:ea typeface="Calibri" pitchFamily="34" charset="-122"/>
                <a:cs typeface="Calibri" pitchFamily="34" charset="-120"/>
              </a:rPr>
              <a:t>Taking twice as long as usual IS congestion, by definition.</a:t>
            </a:r>
            <a:endParaRPr lang="en-US" sz="1350" dirty="0"/>
          </a:p>
        </p:txBody>
      </p:sp>
      <p:sp>
        <p:nvSpPr>
          <p:cNvPr id="11" name="Shape 9"/>
          <p:cNvSpPr/>
          <p:nvPr/>
        </p:nvSpPr>
        <p:spPr>
          <a:xfrm>
            <a:off x="640080" y="4023360"/>
            <a:ext cx="10911535" cy="1234440"/>
          </a:xfrm>
          <a:prstGeom prst="roundRect">
            <a:avLst>
              <a:gd name="adj" fmla="val 4444"/>
            </a:avLst>
          </a:prstGeom>
          <a:solidFill>
            <a:srgbClr val="18242F"/>
          </a:solidFill>
          <a:ln w="12700">
            <a:solidFill>
              <a:srgbClr val="2E3F4E"/>
            </a:solidFill>
            <a:prstDash val="solid"/>
          </a:ln>
        </p:spPr>
      </p:sp>
      <p:sp>
        <p:nvSpPr>
          <p:cNvPr id="12" name="Text 10"/>
          <p:cNvSpPr txBox="1"/>
          <p:nvPr/>
        </p:nvSpPr>
        <p:spPr>
          <a:xfrm>
            <a:off x="1005840" y="4187952"/>
            <a:ext cx="6400800" cy="292608"/>
          </a:xfrm>
          <a:prstGeom prst="rect">
            <a:avLst/>
          </a:prstGeom>
          <a:noFill/>
          <a:ln/>
        </p:spPr>
        <p:txBody>
          <a:bodyPr wrap="square" lIns="0" tIns="0" rIns="0" bIns="0" rtlCol="0" anchor="ctr"/>
          <a:lstStyle/>
          <a:p>
            <a:pPr indent="0" marL="0">
              <a:buNone/>
            </a:pPr>
            <a:r>
              <a:rPr lang="en-US" sz="1500" b="1" dirty="0">
                <a:solidFill>
                  <a:srgbClr val="46C888"/>
                </a:solidFill>
                <a:latin typeface="Arial" pitchFamily="34" charset="0"/>
                <a:ea typeface="Arial" pitchFamily="34" charset="-122"/>
                <a:cs typeface="Arial" pitchFamily="34" charset="-120"/>
              </a:rPr>
              <a:t>Where "normally" comes from</a:t>
            </a:r>
            <a:endParaRPr lang="en-US" sz="1500" dirty="0"/>
          </a:p>
        </p:txBody>
      </p:sp>
      <p:sp>
        <p:nvSpPr>
          <p:cNvPr id="13" name="Text 11"/>
          <p:cNvSpPr txBox="1"/>
          <p:nvPr/>
        </p:nvSpPr>
        <p:spPr>
          <a:xfrm>
            <a:off x="1005840" y="4526280"/>
            <a:ext cx="10180015" cy="640080"/>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Not from a guess. We take all the trips we have actually measured on that road and use the fastest 15% of them as "free flow". The road tells us its own normal speed.</a:t>
            </a:r>
            <a:endParaRPr lang="en-US" sz="1350" dirty="0"/>
          </a:p>
        </p:txBody>
      </p:sp>
      <p:sp>
        <p:nvSpPr>
          <p:cNvPr id="14" name="Text 12"/>
          <p:cNvSpPr txBox="1"/>
          <p:nvPr/>
        </p:nvSpPr>
        <p:spPr>
          <a:xfrm>
            <a:off x="640080" y="5486400"/>
            <a:ext cx="10911535" cy="73152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Also produced here: which camera pairs vehicles travel between most (origin to destination), and how healthy each camera is — how many vehicles it saw versus how many plates it managed to read.</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6 — ALERTS</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Watchlist alerts — worded carefully on purpose</a:t>
            </a:r>
            <a:endParaRPr lang="en-US" sz="3200" dirty="0"/>
          </a:p>
        </p:txBody>
      </p:sp>
      <p:sp>
        <p:nvSpPr>
          <p:cNvPr id="4" name="Text 2"/>
          <p:cNvSpPr txBox="1"/>
          <p:nvPr/>
        </p:nvSpPr>
        <p:spPr>
          <a:xfrm>
            <a:off x="640080" y="1417320"/>
            <a:ext cx="7315200" cy="320040"/>
          </a:xfrm>
          <a:prstGeom prst="rect">
            <a:avLst/>
          </a:prstGeom>
          <a:noFill/>
          <a:ln/>
        </p:spPr>
        <p:txBody>
          <a:bodyPr wrap="square" lIns="0" tIns="0" rIns="0" bIns="0" rtlCol="0" anchor="ctr"/>
          <a:lstStyle/>
          <a:p>
            <a:pPr indent="0" marL="0">
              <a:buNone/>
            </a:pPr>
            <a:r>
              <a:rPr lang="en-US" sz="1400" dirty="0">
                <a:solidFill>
                  <a:srgbClr val="58BFD6"/>
                </a:solidFill>
                <a:latin typeface="Courier New" pitchFamily="34" charset="0"/>
                <a:ea typeface="Courier New" pitchFamily="34" charset="-122"/>
                <a:cs typeface="Courier New" pitchFamily="34" charset="-120"/>
              </a:rPr>
              <a:t>analytics/alerts.py  ·  configs/watchlist.yaml</a:t>
            </a:r>
            <a:endParaRPr lang="en-US" sz="1400" dirty="0"/>
          </a:p>
        </p:txBody>
      </p:sp>
      <p:sp>
        <p:nvSpPr>
          <p:cNvPr id="5" name="Text 3"/>
          <p:cNvSpPr txBox="1"/>
          <p:nvPr/>
        </p:nvSpPr>
        <p:spPr>
          <a:xfrm>
            <a:off x="640080" y="1874520"/>
            <a:ext cx="10911535" cy="45720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You put plates of interest in a settings file. When one is seen, the dashboard raises an alert.</a:t>
            </a:r>
            <a:endParaRPr lang="en-US" sz="1600" dirty="0"/>
          </a:p>
        </p:txBody>
      </p:sp>
      <p:sp>
        <p:nvSpPr>
          <p:cNvPr id="6" name="Shape 4"/>
          <p:cNvSpPr/>
          <p:nvPr/>
        </p:nvSpPr>
        <p:spPr>
          <a:xfrm>
            <a:off x="640080" y="2377440"/>
            <a:ext cx="10911535" cy="1371600"/>
          </a:xfrm>
          <a:prstGeom prst="roundRect">
            <a:avLst>
              <a:gd name="adj" fmla="val 4000"/>
            </a:avLst>
          </a:prstGeom>
          <a:solidFill>
            <a:srgbClr val="213040"/>
          </a:solidFill>
          <a:ln w="12700">
            <a:solidFill>
              <a:srgbClr val="2E3F4E"/>
            </a:solidFill>
            <a:prstDash val="solid"/>
          </a:ln>
        </p:spPr>
      </p:sp>
      <p:sp>
        <p:nvSpPr>
          <p:cNvPr id="7" name="Text 5"/>
          <p:cNvSpPr txBox="1"/>
          <p:nvPr/>
        </p:nvSpPr>
        <p:spPr>
          <a:xfrm>
            <a:off x="1005840" y="2542032"/>
            <a:ext cx="10180015" cy="384048"/>
          </a:xfrm>
          <a:prstGeom prst="rect">
            <a:avLst/>
          </a:prstGeom>
          <a:noFill/>
          <a:ln/>
        </p:spPr>
        <p:txBody>
          <a:bodyPr wrap="square" lIns="0" tIns="0" rIns="0" bIns="0" rtlCol="0" anchor="ctr"/>
          <a:lstStyle/>
          <a:p>
            <a:pPr indent="0" marL="0">
              <a:buNone/>
            </a:pPr>
            <a:r>
              <a:rPr lang="en-US" sz="1900" b="1" dirty="0">
                <a:solidFill>
                  <a:srgbClr val="F0B23F"/>
                </a:solidFill>
                <a:latin typeface="Arial" pitchFamily="34" charset="0"/>
                <a:ea typeface="Arial" pitchFamily="34" charset="-122"/>
                <a:cs typeface="Arial" pitchFamily="34" charset="-120"/>
              </a:rPr>
              <a:t>"possible watchlist match 01AB12334 at CAM01"</a:t>
            </a:r>
            <a:endParaRPr lang="en-US" sz="1900" dirty="0"/>
          </a:p>
        </p:txBody>
      </p:sp>
      <p:sp>
        <p:nvSpPr>
          <p:cNvPr id="8" name="Text 6"/>
          <p:cNvSpPr txBox="1"/>
          <p:nvPr/>
        </p:nvSpPr>
        <p:spPr>
          <a:xfrm>
            <a:off x="1005840" y="2971800"/>
            <a:ext cx="10180015" cy="384048"/>
          </a:xfrm>
          <a:prstGeom prst="rect">
            <a:avLst/>
          </a:prstGeom>
          <a:noFill/>
          <a:ln/>
        </p:spPr>
        <p:txBody>
          <a:bodyPr wrap="square" lIns="0" tIns="0" rIns="0" bIns="0" rtlCol="0" anchor="ctr"/>
          <a:lstStyle/>
          <a:p>
            <a:pPr indent="0" marL="0">
              <a:buNone/>
            </a:pPr>
            <a:r>
              <a:rPr lang="en-US" sz="1500" dirty="0">
                <a:solidFill>
                  <a:srgbClr val="BCC9D5"/>
                </a:solidFill>
                <a:latin typeface="Calibri" pitchFamily="34" charset="0"/>
                <a:ea typeface="Calibri" pitchFamily="34" charset="-122"/>
                <a:cs typeface="Calibri" pitchFamily="34" charset="-120"/>
              </a:rPr>
              <a:t>"Plate similarity 1.00. Flagged for human review, not confirmed."</a:t>
            </a:r>
            <a:endParaRPr lang="en-US" sz="1500" dirty="0"/>
          </a:p>
        </p:txBody>
      </p:sp>
      <p:sp>
        <p:nvSpPr>
          <p:cNvPr id="9" name="Text 7"/>
          <p:cNvSpPr txBox="1"/>
          <p:nvPr/>
        </p:nvSpPr>
        <p:spPr>
          <a:xfrm>
            <a:off x="1005840" y="3337560"/>
            <a:ext cx="10180015" cy="320040"/>
          </a:xfrm>
          <a:prstGeom prst="rect">
            <a:avLst/>
          </a:prstGeom>
          <a:noFill/>
          <a:ln/>
        </p:spPr>
        <p:txBody>
          <a:bodyPr wrap="square" lIns="0" tIns="0" rIns="0" bIns="0" rtlCol="0" anchor="ctr"/>
          <a:lstStyle/>
          <a:p>
            <a:pPr indent="0" marL="0">
              <a:buNone/>
            </a:pPr>
            <a:r>
              <a:rPr lang="en-US" sz="1200" i="1" dirty="0">
                <a:solidFill>
                  <a:srgbClr val="8496A6"/>
                </a:solidFill>
                <a:latin typeface="Calibri" pitchFamily="34" charset="0"/>
                <a:ea typeface="Calibri" pitchFamily="34" charset="-122"/>
                <a:cs typeface="Calibri" pitchFamily="34" charset="-120"/>
              </a:rPr>
              <a:t>— the actual text our system prints</a:t>
            </a:r>
            <a:endParaRPr lang="en-US" sz="1200" dirty="0"/>
          </a:p>
        </p:txBody>
      </p:sp>
      <p:sp>
        <p:nvSpPr>
          <p:cNvPr id="10" name="Shape 8"/>
          <p:cNvSpPr/>
          <p:nvPr/>
        </p:nvSpPr>
        <p:spPr>
          <a:xfrm>
            <a:off x="640080" y="4023360"/>
            <a:ext cx="10911535" cy="2194560"/>
          </a:xfrm>
          <a:prstGeom prst="roundRect">
            <a:avLst>
              <a:gd name="adj" fmla="val 2500"/>
            </a:avLst>
          </a:prstGeom>
          <a:solidFill>
            <a:srgbClr val="18242F"/>
          </a:solidFill>
          <a:ln w="12700">
            <a:solidFill>
              <a:srgbClr val="2E3F4E"/>
            </a:solidFill>
            <a:prstDash val="solid"/>
          </a:ln>
        </p:spPr>
      </p:sp>
      <p:sp>
        <p:nvSpPr>
          <p:cNvPr id="11" name="Text 9"/>
          <p:cNvSpPr txBox="1"/>
          <p:nvPr/>
        </p:nvSpPr>
        <p:spPr>
          <a:xfrm>
            <a:off x="1005840" y="4206240"/>
            <a:ext cx="7315200" cy="320040"/>
          </a:xfrm>
          <a:prstGeom prst="rect">
            <a:avLst/>
          </a:prstGeom>
          <a:noFill/>
          <a:ln/>
        </p:spPr>
        <p:txBody>
          <a:bodyPr wrap="square" lIns="0" tIns="0" rIns="0" bIns="0" rtlCol="0" anchor="ctr"/>
          <a:lstStyle/>
          <a:p>
            <a:pPr indent="0" marL="0">
              <a:buNone/>
            </a:pPr>
            <a:r>
              <a:rPr lang="en-US" sz="1600" b="1" dirty="0">
                <a:solidFill>
                  <a:srgbClr val="46C888"/>
                </a:solidFill>
                <a:latin typeface="Arial" pitchFamily="34" charset="0"/>
                <a:ea typeface="Arial" pitchFamily="34" charset="-122"/>
                <a:cs typeface="Arial" pitchFamily="34" charset="-120"/>
              </a:rPr>
              <a:t>Read those words again. Every one of them is deliberate.</a:t>
            </a:r>
            <a:endParaRPr lang="en-US" sz="1600" dirty="0"/>
          </a:p>
        </p:txBody>
      </p:sp>
      <p:sp>
        <p:nvSpPr>
          <p:cNvPr id="12" name="Text 10"/>
          <p:cNvSpPr txBox="1"/>
          <p:nvPr/>
        </p:nvSpPr>
        <p:spPr>
          <a:xfrm>
            <a:off x="1005840" y="4617720"/>
            <a:ext cx="10180015" cy="146304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400" dirty="0">
                <a:solidFill>
                  <a:srgbClr val="BCC9D5"/>
                </a:solidFill>
                <a:latin typeface="Calibri" pitchFamily="34" charset="0"/>
                <a:ea typeface="Calibri" pitchFamily="34" charset="-122"/>
                <a:cs typeface="Calibri" pitchFamily="34" charset="-120"/>
              </a:rPr>
              <a:t>"possible" — because a camera reading is evidence, not proof.</a:t>
            </a:r>
            <a:endParaRPr lang="en-US" sz="1400" dirty="0"/>
          </a:p>
          <a:p>
            <a:pPr marL="342900" indent="-342900">
              <a:lnSpc>
                <a:spcPct val="110000"/>
              </a:lnSpc>
              <a:spcAft>
                <a:spcPts val="700"/>
              </a:spcAft>
              <a:buSzPct val="100000"/>
              <a:buChar char="•"/>
            </a:pPr>
            <a:r>
              <a:rPr lang="en-US" sz="1400" dirty="0">
                <a:solidFill>
                  <a:srgbClr val="BCC9D5"/>
                </a:solidFill>
                <a:latin typeface="Calibri" pitchFamily="34" charset="0"/>
                <a:ea typeface="Calibri" pitchFamily="34" charset="-122"/>
                <a:cs typeface="Calibri" pitchFamily="34" charset="-120"/>
              </a:rPr>
              <a:t>"flagged for human review" — because a person decides, not the software.</a:t>
            </a:r>
            <a:endParaRPr lang="en-US" sz="1400" dirty="0"/>
          </a:p>
          <a:p>
            <a:pPr marL="342900" indent="-342900">
              <a:lnSpc>
                <a:spcPct val="110000"/>
              </a:lnSpc>
              <a:spcAft>
                <a:spcPts val="700"/>
              </a:spcAft>
              <a:buSzPct val="100000"/>
              <a:buChar char="•"/>
            </a:pPr>
            <a:r>
              <a:rPr lang="en-US" sz="1400" dirty="0">
                <a:solidFill>
                  <a:srgbClr val="BCC9D5"/>
                </a:solidFill>
                <a:latin typeface="Calibri" pitchFamily="34" charset="0"/>
                <a:ea typeface="Calibri" pitchFamily="34" charset="-122"/>
                <a:cs typeface="Calibri" pitchFamily="34" charset="-120"/>
              </a:rPr>
              <a:t>"not confirmed" — because we never let the screen imply more certainty than we have.</a:t>
            </a:r>
            <a:endParaRPr lang="en-US" sz="1400" dirty="0"/>
          </a:p>
          <a:p>
            <a:pPr marL="342900" indent="-342900">
              <a:lnSpc>
                <a:spcPct val="110000"/>
              </a:lnSpc>
              <a:spcAft>
                <a:spcPts val="700"/>
              </a:spcAft>
              <a:buSzPct val="100000"/>
              <a:buChar char="•"/>
            </a:pPr>
            <a:r>
              <a:rPr lang="en-US" sz="1400" dirty="0">
                <a:solidFill>
                  <a:srgbClr val="BCC9D5"/>
                </a:solidFill>
                <a:latin typeface="Calibri" pitchFamily="34" charset="0"/>
                <a:ea typeface="Calibri" pitchFamily="34" charset="-122"/>
                <a:cs typeface="Calibri" pitchFamily="34" charset="-120"/>
              </a:rPr>
              <a:t>This is a system that may one day be pointed at real people. The wording is a design decision, not decoration.</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60A0E"/>
        </a:solidFill>
      </p:bgPr>
    </p:bg>
    <p:spTree>
      <p:nvGrpSpPr>
        <p:cNvPr id="1" name=""/>
        <p:cNvGrpSpPr/>
        <p:nvPr/>
      </p:nvGrpSpPr>
      <p:grpSpPr>
        <a:xfrm>
          <a:off x="0" y="0"/>
          <a:ext cx="0" cy="0"/>
          <a:chOff x="0" y="0"/>
          <a:chExt cx="0" cy="0"/>
        </a:xfrm>
      </p:grpSpPr>
      <p:sp>
        <p:nvSpPr>
          <p:cNvPr id="2" name="Text 0"/>
          <p:cNvSpPr txBox="1"/>
          <p:nvPr/>
        </p:nvSpPr>
        <p:spPr>
          <a:xfrm>
            <a:off x="640080" y="1325880"/>
            <a:ext cx="5394960" cy="365760"/>
          </a:xfrm>
          <a:prstGeom prst="rect">
            <a:avLst/>
          </a:prstGeom>
          <a:noFill/>
          <a:ln/>
        </p:spPr>
        <p:txBody>
          <a:bodyPr wrap="square" lIns="0" tIns="0" rIns="0" bIns="0" rtlCol="0" anchor="ctr"/>
          <a:lstStyle/>
          <a:p>
            <a:pPr indent="0" marL="0">
              <a:buNone/>
            </a:pPr>
            <a:r>
              <a:rPr lang="en-US" sz="1200" b="1" spc="250" kern="0" dirty="0">
                <a:solidFill>
                  <a:srgbClr val="F0B23F"/>
                </a:solidFill>
                <a:latin typeface="Arial" pitchFamily="34" charset="0"/>
                <a:ea typeface="Arial" pitchFamily="34" charset="-122"/>
                <a:cs typeface="Arial" pitchFamily="34" charset="-120"/>
              </a:rPr>
              <a:t>Part 7</a:t>
            </a:r>
            <a:endParaRPr lang="en-US" sz="1200" dirty="0"/>
          </a:p>
        </p:txBody>
      </p:sp>
      <p:sp>
        <p:nvSpPr>
          <p:cNvPr id="3" name="Text 1"/>
          <p:cNvSpPr txBox="1"/>
          <p:nvPr/>
        </p:nvSpPr>
        <p:spPr>
          <a:xfrm>
            <a:off x="640080" y="1783080"/>
            <a:ext cx="7315200" cy="2011680"/>
          </a:xfrm>
          <a:prstGeom prst="rect">
            <a:avLst/>
          </a:prstGeom>
          <a:noFill/>
          <a:ln/>
        </p:spPr>
        <p:txBody>
          <a:bodyPr wrap="square" lIns="0" tIns="0" rIns="0" bIns="0" rtlCol="0" anchor="ctr"/>
          <a:lstStyle/>
          <a:p>
            <a:pPr indent="0" marL="0">
              <a:lnSpc>
                <a:spcPct val="95000"/>
              </a:lnSpc>
              <a:buNone/>
            </a:pPr>
            <a:r>
              <a:rPr lang="en-US" sz="5000" b="1" dirty="0">
                <a:solidFill>
                  <a:srgbClr val="FFFFFF"/>
                </a:solidFill>
                <a:latin typeface="Arial" pitchFamily="34" charset="0"/>
                <a:ea typeface="Arial" pitchFamily="34" charset="-122"/>
                <a:cs typeface="Arial" pitchFamily="34" charset="-120"/>
              </a:rPr>
              <a:t>Getting it</a:t>
            </a:r>
            <a:endParaRPr lang="en-US" sz="5000" dirty="0"/>
          </a:p>
          <a:p>
            <a:pPr indent="0" marL="0">
              <a:lnSpc>
                <a:spcPct val="95000"/>
              </a:lnSpc>
              <a:buNone/>
            </a:pPr>
            <a:r>
              <a:rPr lang="en-US" sz="5000" b="1" dirty="0">
                <a:solidFill>
                  <a:srgbClr val="FFFFFF"/>
                </a:solidFill>
                <a:latin typeface="Arial" pitchFamily="34" charset="0"/>
                <a:ea typeface="Arial" pitchFamily="34" charset="-122"/>
                <a:cs typeface="Arial" pitchFamily="34" charset="-120"/>
              </a:rPr>
              <a:t>onto a screen</a:t>
            </a:r>
            <a:endParaRPr lang="en-US" sz="5000" dirty="0"/>
          </a:p>
        </p:txBody>
      </p:sp>
      <p:sp>
        <p:nvSpPr>
          <p:cNvPr id="4" name="Text 2"/>
          <p:cNvSpPr txBox="1"/>
          <p:nvPr/>
        </p:nvSpPr>
        <p:spPr>
          <a:xfrm>
            <a:off x="640080" y="4023360"/>
            <a:ext cx="6949440" cy="1097280"/>
          </a:xfrm>
          <a:prstGeom prst="rect">
            <a:avLst/>
          </a:prstGeom>
          <a:noFill/>
          <a:ln/>
        </p:spPr>
        <p:txBody>
          <a:bodyPr wrap="square" lIns="0" tIns="0" rIns="0" bIns="0" rtlCol="0" anchor="ctr"/>
          <a:lstStyle/>
          <a:p>
            <a:pPr indent="0" marL="0">
              <a:lnSpc>
                <a:spcPct val="125000"/>
              </a:lnSpc>
              <a:buNone/>
            </a:pPr>
            <a:r>
              <a:rPr lang="en-US" sz="1700" dirty="0">
                <a:solidFill>
                  <a:srgbClr val="BCC9D5"/>
                </a:solidFill>
                <a:latin typeface="Calibri" pitchFamily="34" charset="0"/>
                <a:ea typeface="Calibri" pitchFamily="34" charset="-122"/>
                <a:cs typeface="Calibri" pitchFamily="34" charset="-120"/>
              </a:rPr>
              <a:t>All the answers now sit in a database file. Nobody can see a database file. This part turns it into something a human can look at.</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7 — THE BACKEND</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The 15 doors, and who knocks on them</a:t>
            </a:r>
            <a:endParaRPr lang="en-US" sz="3200" dirty="0"/>
          </a:p>
        </p:txBody>
      </p:sp>
      <p:sp>
        <p:nvSpPr>
          <p:cNvPr id="4" name="Text 2"/>
          <p:cNvSpPr txBox="1"/>
          <p:nvPr/>
        </p:nvSpPr>
        <p:spPr>
          <a:xfrm>
            <a:off x="640080" y="1389888"/>
            <a:ext cx="10515600" cy="320040"/>
          </a:xfrm>
          <a:prstGeom prst="rect">
            <a:avLst/>
          </a:prstGeom>
          <a:noFill/>
          <a:ln/>
        </p:spPr>
        <p:txBody>
          <a:bodyPr wrap="square" lIns="0" tIns="0" rIns="0" bIns="0" rtlCol="0" anchor="ctr"/>
          <a:lstStyle/>
          <a:p>
            <a:pPr indent="0" marL="0">
              <a:buNone/>
            </a:pPr>
            <a:r>
              <a:rPr lang="en-US" sz="1300" dirty="0">
                <a:solidFill>
                  <a:srgbClr val="8496A6"/>
                </a:solidFill>
                <a:latin typeface="Calibri" pitchFamily="34" charset="0"/>
                <a:ea typeface="Calibri" pitchFamily="34" charset="-122"/>
                <a:cs typeface="Calibri" pitchFamily="34" charset="-120"/>
              </a:rPr>
              <a:t>api/main.py  —  built with FastAPI, a tool that turns Python functions into web addresses</a:t>
            </a:r>
            <a:endParaRPr lang="en-US" sz="1300" dirty="0"/>
          </a:p>
        </p:txBody>
      </p:sp>
      <p:sp>
        <p:nvSpPr>
          <p:cNvPr id="5" name="Text 3"/>
          <p:cNvSpPr txBox="1"/>
          <p:nvPr/>
        </p:nvSpPr>
        <p:spPr>
          <a:xfrm>
            <a:off x="914400" y="1920240"/>
            <a:ext cx="2926080" cy="274320"/>
          </a:xfrm>
          <a:prstGeom prst="rect">
            <a:avLst/>
          </a:prstGeom>
          <a:noFill/>
          <a:ln/>
        </p:spPr>
        <p:txBody>
          <a:bodyPr wrap="square" lIns="0" tIns="0" rIns="0" bIns="0" rtlCol="0" anchor="ctr"/>
          <a:lstStyle/>
          <a:p>
            <a:pPr indent="0" marL="0">
              <a:buNone/>
            </a:pPr>
            <a:r>
              <a:rPr lang="en-US" sz="1050" b="1" spc="150" kern="0" dirty="0">
                <a:solidFill>
                  <a:srgbClr val="8496A6"/>
                </a:solidFill>
                <a:latin typeface="Arial" pitchFamily="34" charset="0"/>
                <a:ea typeface="Arial" pitchFamily="34" charset="-122"/>
                <a:cs typeface="Arial" pitchFamily="34" charset="-120"/>
              </a:rPr>
              <a:t>DOOR</a:t>
            </a:r>
            <a:endParaRPr lang="en-US" sz="1050" dirty="0"/>
          </a:p>
        </p:txBody>
      </p:sp>
      <p:sp>
        <p:nvSpPr>
          <p:cNvPr id="6" name="Text 4"/>
          <p:cNvSpPr txBox="1"/>
          <p:nvPr/>
        </p:nvSpPr>
        <p:spPr>
          <a:xfrm>
            <a:off x="4114800" y="1920240"/>
            <a:ext cx="3657600" cy="274320"/>
          </a:xfrm>
          <a:prstGeom prst="rect">
            <a:avLst/>
          </a:prstGeom>
          <a:noFill/>
          <a:ln/>
        </p:spPr>
        <p:txBody>
          <a:bodyPr wrap="square" lIns="0" tIns="0" rIns="0" bIns="0" rtlCol="0" anchor="ctr"/>
          <a:lstStyle/>
          <a:p>
            <a:pPr indent="0" marL="0">
              <a:buNone/>
            </a:pPr>
            <a:r>
              <a:rPr lang="en-US" sz="1050" b="1" spc="150" kern="0" dirty="0">
                <a:solidFill>
                  <a:srgbClr val="8496A6"/>
                </a:solidFill>
                <a:latin typeface="Arial" pitchFamily="34" charset="0"/>
                <a:ea typeface="Arial" pitchFamily="34" charset="-122"/>
                <a:cs typeface="Arial" pitchFamily="34" charset="-120"/>
              </a:rPr>
              <a:t>WHAT IT RETURNS</a:t>
            </a:r>
            <a:endParaRPr lang="en-US" sz="1050" dirty="0"/>
          </a:p>
        </p:txBody>
      </p:sp>
      <p:sp>
        <p:nvSpPr>
          <p:cNvPr id="7" name="Text 5"/>
          <p:cNvSpPr txBox="1"/>
          <p:nvPr/>
        </p:nvSpPr>
        <p:spPr>
          <a:xfrm>
            <a:off x="8046720" y="1920240"/>
            <a:ext cx="3657600" cy="274320"/>
          </a:xfrm>
          <a:prstGeom prst="rect">
            <a:avLst/>
          </a:prstGeom>
          <a:noFill/>
          <a:ln/>
        </p:spPr>
        <p:txBody>
          <a:bodyPr wrap="square" lIns="0" tIns="0" rIns="0" bIns="0" rtlCol="0" anchor="ctr"/>
          <a:lstStyle/>
          <a:p>
            <a:pPr indent="0" marL="0">
              <a:buNone/>
            </a:pPr>
            <a:r>
              <a:rPr lang="en-US" sz="1050" b="1" spc="150" kern="0" dirty="0">
                <a:solidFill>
                  <a:srgbClr val="8496A6"/>
                </a:solidFill>
                <a:latin typeface="Arial" pitchFamily="34" charset="0"/>
                <a:ea typeface="Arial" pitchFamily="34" charset="-122"/>
                <a:cs typeface="Arial" pitchFamily="34" charset="-120"/>
              </a:rPr>
              <a:t>WHAT USES IT ON SCREEN</a:t>
            </a:r>
            <a:endParaRPr lang="en-US" sz="1050" dirty="0"/>
          </a:p>
        </p:txBody>
      </p:sp>
      <p:sp>
        <p:nvSpPr>
          <p:cNvPr id="8" name="Shape 6"/>
          <p:cNvSpPr/>
          <p:nvPr/>
        </p:nvSpPr>
        <p:spPr>
          <a:xfrm>
            <a:off x="640080" y="2203704"/>
            <a:ext cx="10911535" cy="384048"/>
          </a:xfrm>
          <a:prstGeom prst="rect">
            <a:avLst/>
          </a:prstGeom>
          <a:solidFill>
            <a:srgbClr val="18242F"/>
          </a:solidFill>
          <a:ln w="12700">
            <a:solidFill>
              <a:srgbClr val="18242F"/>
            </a:solidFill>
            <a:prstDash val="solid"/>
          </a:ln>
        </p:spPr>
      </p:sp>
      <p:sp>
        <p:nvSpPr>
          <p:cNvPr id="9" name="Text 7"/>
          <p:cNvSpPr txBox="1"/>
          <p:nvPr/>
        </p:nvSpPr>
        <p:spPr>
          <a:xfrm>
            <a:off x="914400" y="2231136"/>
            <a:ext cx="3108960" cy="329184"/>
          </a:xfrm>
          <a:prstGeom prst="rect">
            <a:avLst/>
          </a:prstGeom>
          <a:noFill/>
          <a:ln/>
        </p:spPr>
        <p:txBody>
          <a:bodyPr wrap="square" lIns="0" tIns="0" rIns="0" bIns="0" rtlCol="0" anchor="ctr"/>
          <a:lstStyle/>
          <a:p>
            <a:pPr indent="0" marL="0">
              <a:buNone/>
            </a:pPr>
            <a:r>
              <a:rPr lang="en-US" sz="1150" dirty="0">
                <a:solidFill>
                  <a:srgbClr val="58BFD6"/>
                </a:solidFill>
                <a:latin typeface="Courier New" pitchFamily="34" charset="0"/>
                <a:ea typeface="Courier New" pitchFamily="34" charset="-122"/>
                <a:cs typeface="Courier New" pitchFamily="34" charset="-120"/>
              </a:rPr>
              <a:t>/api/health</a:t>
            </a:r>
            <a:endParaRPr lang="en-US" sz="1150" dirty="0"/>
          </a:p>
        </p:txBody>
      </p:sp>
      <p:sp>
        <p:nvSpPr>
          <p:cNvPr id="10" name="Text 8"/>
          <p:cNvSpPr txBox="1"/>
          <p:nvPr/>
        </p:nvSpPr>
        <p:spPr>
          <a:xfrm>
            <a:off x="4114800" y="2231136"/>
            <a:ext cx="3840480" cy="329184"/>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is the backend alive?</a:t>
            </a:r>
            <a:endParaRPr lang="en-US" sz="1250" dirty="0"/>
          </a:p>
        </p:txBody>
      </p:sp>
      <p:sp>
        <p:nvSpPr>
          <p:cNvPr id="11" name="Text 9"/>
          <p:cNvSpPr txBox="1"/>
          <p:nvPr/>
        </p:nvSpPr>
        <p:spPr>
          <a:xfrm>
            <a:off x="8046720" y="2231136"/>
            <a:ext cx="3383280" cy="329184"/>
          </a:xfrm>
          <a:prstGeom prst="rect">
            <a:avLst/>
          </a:prstGeom>
          <a:noFill/>
          <a:ln/>
        </p:spPr>
        <p:txBody>
          <a:bodyPr wrap="square" lIns="0" tIns="0" rIns="0" bIns="0" rtlCol="0" anchor="ctr"/>
          <a:lstStyle/>
          <a:p>
            <a:pPr indent="0" marL="0">
              <a:buNone/>
            </a:pPr>
            <a:r>
              <a:rPr lang="en-US" sz="1250" dirty="0">
                <a:solidFill>
                  <a:srgbClr val="8496A6"/>
                </a:solidFill>
                <a:latin typeface="Calibri" pitchFamily="34" charset="0"/>
                <a:ea typeface="Calibri" pitchFamily="34" charset="-122"/>
                <a:cs typeface="Calibri" pitchFamily="34" charset="-120"/>
              </a:rPr>
              <a:t>the green dot, top right</a:t>
            </a:r>
            <a:endParaRPr lang="en-US" sz="1250" dirty="0"/>
          </a:p>
        </p:txBody>
      </p:sp>
      <p:sp>
        <p:nvSpPr>
          <p:cNvPr id="12" name="Text 10"/>
          <p:cNvSpPr txBox="1"/>
          <p:nvPr/>
        </p:nvSpPr>
        <p:spPr>
          <a:xfrm>
            <a:off x="914400" y="2633472"/>
            <a:ext cx="3108960" cy="329184"/>
          </a:xfrm>
          <a:prstGeom prst="rect">
            <a:avLst/>
          </a:prstGeom>
          <a:noFill/>
          <a:ln/>
        </p:spPr>
        <p:txBody>
          <a:bodyPr wrap="square" lIns="0" tIns="0" rIns="0" bIns="0" rtlCol="0" anchor="ctr"/>
          <a:lstStyle/>
          <a:p>
            <a:pPr indent="0" marL="0">
              <a:buNone/>
            </a:pPr>
            <a:r>
              <a:rPr lang="en-US" sz="1150" dirty="0">
                <a:solidFill>
                  <a:srgbClr val="58BFD6"/>
                </a:solidFill>
                <a:latin typeface="Courier New" pitchFamily="34" charset="0"/>
                <a:ea typeface="Courier New" pitchFamily="34" charset="-122"/>
                <a:cs typeface="Courier New" pitchFamily="34" charset="-120"/>
              </a:rPr>
              <a:t>/api/cameras</a:t>
            </a:r>
            <a:endParaRPr lang="en-US" sz="1150" dirty="0"/>
          </a:p>
        </p:txBody>
      </p:sp>
      <p:sp>
        <p:nvSpPr>
          <p:cNvPr id="13" name="Text 11"/>
          <p:cNvSpPr txBox="1"/>
          <p:nvPr/>
        </p:nvSpPr>
        <p:spPr>
          <a:xfrm>
            <a:off x="4114800" y="2633472"/>
            <a:ext cx="3840480" cy="329184"/>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list of cameras + where they are</a:t>
            </a:r>
            <a:endParaRPr lang="en-US" sz="1250" dirty="0"/>
          </a:p>
        </p:txBody>
      </p:sp>
      <p:sp>
        <p:nvSpPr>
          <p:cNvPr id="14" name="Text 12"/>
          <p:cNvSpPr txBox="1"/>
          <p:nvPr/>
        </p:nvSpPr>
        <p:spPr>
          <a:xfrm>
            <a:off x="8046720" y="2633472"/>
            <a:ext cx="3383280" cy="329184"/>
          </a:xfrm>
          <a:prstGeom prst="rect">
            <a:avLst/>
          </a:prstGeom>
          <a:noFill/>
          <a:ln/>
        </p:spPr>
        <p:txBody>
          <a:bodyPr wrap="square" lIns="0" tIns="0" rIns="0" bIns="0" rtlCol="0" anchor="ctr"/>
          <a:lstStyle/>
          <a:p>
            <a:pPr indent="0" marL="0">
              <a:buNone/>
            </a:pPr>
            <a:r>
              <a:rPr lang="en-US" sz="1250" dirty="0">
                <a:solidFill>
                  <a:srgbClr val="8496A6"/>
                </a:solidFill>
                <a:latin typeface="Calibri" pitchFamily="34" charset="0"/>
                <a:ea typeface="Calibri" pitchFamily="34" charset="-122"/>
                <a:cs typeface="Calibri" pitchFamily="34" charset="-120"/>
              </a:rPr>
              <a:t>the map, the camera boxes</a:t>
            </a:r>
            <a:endParaRPr lang="en-US" sz="1250" dirty="0"/>
          </a:p>
        </p:txBody>
      </p:sp>
      <p:sp>
        <p:nvSpPr>
          <p:cNvPr id="15" name="Shape 13"/>
          <p:cNvSpPr/>
          <p:nvPr/>
        </p:nvSpPr>
        <p:spPr>
          <a:xfrm>
            <a:off x="640080" y="3008376"/>
            <a:ext cx="10911535" cy="384048"/>
          </a:xfrm>
          <a:prstGeom prst="rect">
            <a:avLst/>
          </a:prstGeom>
          <a:solidFill>
            <a:srgbClr val="18242F"/>
          </a:solidFill>
          <a:ln w="12700">
            <a:solidFill>
              <a:srgbClr val="18242F"/>
            </a:solidFill>
            <a:prstDash val="solid"/>
          </a:ln>
        </p:spPr>
      </p:sp>
      <p:sp>
        <p:nvSpPr>
          <p:cNvPr id="16" name="Text 14"/>
          <p:cNvSpPr txBox="1"/>
          <p:nvPr/>
        </p:nvSpPr>
        <p:spPr>
          <a:xfrm>
            <a:off x="914400" y="3035808"/>
            <a:ext cx="3108960" cy="329184"/>
          </a:xfrm>
          <a:prstGeom prst="rect">
            <a:avLst/>
          </a:prstGeom>
          <a:noFill/>
          <a:ln/>
        </p:spPr>
        <p:txBody>
          <a:bodyPr wrap="square" lIns="0" tIns="0" rIns="0" bIns="0" rtlCol="0" anchor="ctr"/>
          <a:lstStyle/>
          <a:p>
            <a:pPr indent="0" marL="0">
              <a:buNone/>
            </a:pPr>
            <a:r>
              <a:rPr lang="en-US" sz="1150" dirty="0">
                <a:solidFill>
                  <a:srgbClr val="58BFD6"/>
                </a:solidFill>
                <a:latin typeface="Courier New" pitchFamily="34" charset="0"/>
                <a:ea typeface="Courier New" pitchFamily="34" charset="-122"/>
                <a:cs typeface="Courier New" pitchFamily="34" charset="-120"/>
              </a:rPr>
              <a:t>/api/stats</a:t>
            </a:r>
            <a:endParaRPr lang="en-US" sz="1150" dirty="0"/>
          </a:p>
        </p:txBody>
      </p:sp>
      <p:sp>
        <p:nvSpPr>
          <p:cNvPr id="17" name="Text 15"/>
          <p:cNvSpPr txBox="1"/>
          <p:nvPr/>
        </p:nvSpPr>
        <p:spPr>
          <a:xfrm>
            <a:off x="4114800" y="3035808"/>
            <a:ext cx="3840480" cy="329184"/>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the six big numbers</a:t>
            </a:r>
            <a:endParaRPr lang="en-US" sz="1250" dirty="0"/>
          </a:p>
        </p:txBody>
      </p:sp>
      <p:sp>
        <p:nvSpPr>
          <p:cNvPr id="18" name="Text 16"/>
          <p:cNvSpPr txBox="1"/>
          <p:nvPr/>
        </p:nvSpPr>
        <p:spPr>
          <a:xfrm>
            <a:off x="8046720" y="3035808"/>
            <a:ext cx="3383280" cy="329184"/>
          </a:xfrm>
          <a:prstGeom prst="rect">
            <a:avLst/>
          </a:prstGeom>
          <a:noFill/>
          <a:ln/>
        </p:spPr>
        <p:txBody>
          <a:bodyPr wrap="square" lIns="0" tIns="0" rIns="0" bIns="0" rtlCol="0" anchor="ctr"/>
          <a:lstStyle/>
          <a:p>
            <a:pPr indent="0" marL="0">
              <a:buNone/>
            </a:pPr>
            <a:r>
              <a:rPr lang="en-US" sz="1250" dirty="0">
                <a:solidFill>
                  <a:srgbClr val="8496A6"/>
                </a:solidFill>
                <a:latin typeface="Calibri" pitchFamily="34" charset="0"/>
                <a:ea typeface="Calibri" pitchFamily="34" charset="-122"/>
                <a:cs typeface="Calibri" pitchFamily="34" charset="-120"/>
              </a:rPr>
              <a:t>the number bar at the top</a:t>
            </a:r>
            <a:endParaRPr lang="en-US" sz="1250" dirty="0"/>
          </a:p>
        </p:txBody>
      </p:sp>
      <p:sp>
        <p:nvSpPr>
          <p:cNvPr id="19" name="Text 17"/>
          <p:cNvSpPr txBox="1"/>
          <p:nvPr/>
        </p:nvSpPr>
        <p:spPr>
          <a:xfrm>
            <a:off x="914400" y="3438144"/>
            <a:ext cx="3108960" cy="329184"/>
          </a:xfrm>
          <a:prstGeom prst="rect">
            <a:avLst/>
          </a:prstGeom>
          <a:noFill/>
          <a:ln/>
        </p:spPr>
        <p:txBody>
          <a:bodyPr wrap="square" lIns="0" tIns="0" rIns="0" bIns="0" rtlCol="0" anchor="ctr"/>
          <a:lstStyle/>
          <a:p>
            <a:pPr indent="0" marL="0">
              <a:buNone/>
            </a:pPr>
            <a:r>
              <a:rPr lang="en-US" sz="1150" dirty="0">
                <a:solidFill>
                  <a:srgbClr val="58BFD6"/>
                </a:solidFill>
                <a:latin typeface="Courier New" pitchFamily="34" charset="0"/>
                <a:ea typeface="Courier New" pitchFamily="34" charset="-122"/>
                <a:cs typeface="Courier New" pitchFamily="34" charset="-120"/>
              </a:rPr>
              <a:t>/api/sightings</a:t>
            </a:r>
            <a:endParaRPr lang="en-US" sz="1150" dirty="0"/>
          </a:p>
        </p:txBody>
      </p:sp>
      <p:sp>
        <p:nvSpPr>
          <p:cNvPr id="20" name="Text 18"/>
          <p:cNvSpPr txBox="1"/>
          <p:nvPr/>
        </p:nvSpPr>
        <p:spPr>
          <a:xfrm>
            <a:off x="4114800" y="3438144"/>
            <a:ext cx="3840480" cy="329184"/>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recent vehicles seen</a:t>
            </a:r>
            <a:endParaRPr lang="en-US" sz="1250" dirty="0"/>
          </a:p>
        </p:txBody>
      </p:sp>
      <p:sp>
        <p:nvSpPr>
          <p:cNvPr id="21" name="Text 19"/>
          <p:cNvSpPr txBox="1"/>
          <p:nvPr/>
        </p:nvSpPr>
        <p:spPr>
          <a:xfrm>
            <a:off x="8046720" y="3438144"/>
            <a:ext cx="3383280" cy="329184"/>
          </a:xfrm>
          <a:prstGeom prst="rect">
            <a:avLst/>
          </a:prstGeom>
          <a:noFill/>
          <a:ln/>
        </p:spPr>
        <p:txBody>
          <a:bodyPr wrap="square" lIns="0" tIns="0" rIns="0" bIns="0" rtlCol="0" anchor="ctr"/>
          <a:lstStyle/>
          <a:p>
            <a:pPr indent="0" marL="0">
              <a:buNone/>
            </a:pPr>
            <a:r>
              <a:rPr lang="en-US" sz="1250" dirty="0">
                <a:solidFill>
                  <a:srgbClr val="8496A6"/>
                </a:solidFill>
                <a:latin typeface="Calibri" pitchFamily="34" charset="0"/>
                <a:ea typeface="Calibri" pitchFamily="34" charset="-122"/>
                <a:cs typeface="Calibri" pitchFamily="34" charset="-120"/>
              </a:rPr>
              <a:t>the Live Detections list</a:t>
            </a:r>
            <a:endParaRPr lang="en-US" sz="1250" dirty="0"/>
          </a:p>
        </p:txBody>
      </p:sp>
      <p:sp>
        <p:nvSpPr>
          <p:cNvPr id="22" name="Shape 20"/>
          <p:cNvSpPr/>
          <p:nvPr/>
        </p:nvSpPr>
        <p:spPr>
          <a:xfrm>
            <a:off x="640080" y="3813048"/>
            <a:ext cx="10911535" cy="384048"/>
          </a:xfrm>
          <a:prstGeom prst="rect">
            <a:avLst/>
          </a:prstGeom>
          <a:solidFill>
            <a:srgbClr val="18242F"/>
          </a:solidFill>
          <a:ln w="12700">
            <a:solidFill>
              <a:srgbClr val="18242F"/>
            </a:solidFill>
            <a:prstDash val="solid"/>
          </a:ln>
        </p:spPr>
      </p:sp>
      <p:sp>
        <p:nvSpPr>
          <p:cNvPr id="23" name="Text 21"/>
          <p:cNvSpPr txBox="1"/>
          <p:nvPr/>
        </p:nvSpPr>
        <p:spPr>
          <a:xfrm>
            <a:off x="914400" y="3840480"/>
            <a:ext cx="3108960" cy="329184"/>
          </a:xfrm>
          <a:prstGeom prst="rect">
            <a:avLst/>
          </a:prstGeom>
          <a:noFill/>
          <a:ln/>
        </p:spPr>
        <p:txBody>
          <a:bodyPr wrap="square" lIns="0" tIns="0" rIns="0" bIns="0" rtlCol="0" anchor="ctr"/>
          <a:lstStyle/>
          <a:p>
            <a:pPr indent="0" marL="0">
              <a:buNone/>
            </a:pPr>
            <a:r>
              <a:rPr lang="en-US" sz="1150" dirty="0">
                <a:solidFill>
                  <a:srgbClr val="58BFD6"/>
                </a:solidFill>
                <a:latin typeface="Courier New" pitchFamily="34" charset="0"/>
                <a:ea typeface="Courier New" pitchFamily="34" charset="-122"/>
                <a:cs typeface="Courier New" pitchFamily="34" charset="-120"/>
              </a:rPr>
              <a:t>/api/journeys</a:t>
            </a:r>
            <a:endParaRPr lang="en-US" sz="1150" dirty="0"/>
          </a:p>
        </p:txBody>
      </p:sp>
      <p:sp>
        <p:nvSpPr>
          <p:cNvPr id="24" name="Text 22"/>
          <p:cNvSpPr txBox="1"/>
          <p:nvPr/>
        </p:nvSpPr>
        <p:spPr>
          <a:xfrm>
            <a:off x="4114800" y="3840480"/>
            <a:ext cx="3840480" cy="329184"/>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rebuilt journeys</a:t>
            </a:r>
            <a:endParaRPr lang="en-US" sz="1250" dirty="0"/>
          </a:p>
        </p:txBody>
      </p:sp>
      <p:sp>
        <p:nvSpPr>
          <p:cNvPr id="25" name="Text 23"/>
          <p:cNvSpPr txBox="1"/>
          <p:nvPr/>
        </p:nvSpPr>
        <p:spPr>
          <a:xfrm>
            <a:off x="8046720" y="3840480"/>
            <a:ext cx="3383280" cy="329184"/>
          </a:xfrm>
          <a:prstGeom prst="rect">
            <a:avLst/>
          </a:prstGeom>
          <a:noFill/>
          <a:ln/>
        </p:spPr>
        <p:txBody>
          <a:bodyPr wrap="square" lIns="0" tIns="0" rIns="0" bIns="0" rtlCol="0" anchor="ctr"/>
          <a:lstStyle/>
          <a:p>
            <a:pPr indent="0" marL="0">
              <a:buNone/>
            </a:pPr>
            <a:r>
              <a:rPr lang="en-US" sz="1250" dirty="0">
                <a:solidFill>
                  <a:srgbClr val="8496A6"/>
                </a:solidFill>
                <a:latin typeface="Calibri" pitchFamily="34" charset="0"/>
                <a:ea typeface="Calibri" pitchFamily="34" charset="-122"/>
                <a:cs typeface="Calibri" pitchFamily="34" charset="-120"/>
              </a:rPr>
              <a:t>the Trace screen list</a:t>
            </a:r>
            <a:endParaRPr lang="en-US" sz="1250" dirty="0"/>
          </a:p>
        </p:txBody>
      </p:sp>
      <p:sp>
        <p:nvSpPr>
          <p:cNvPr id="26" name="Text 24"/>
          <p:cNvSpPr txBox="1"/>
          <p:nvPr/>
        </p:nvSpPr>
        <p:spPr>
          <a:xfrm>
            <a:off x="914400" y="4242816"/>
            <a:ext cx="3108960" cy="329184"/>
          </a:xfrm>
          <a:prstGeom prst="rect">
            <a:avLst/>
          </a:prstGeom>
          <a:noFill/>
          <a:ln/>
        </p:spPr>
        <p:txBody>
          <a:bodyPr wrap="square" lIns="0" tIns="0" rIns="0" bIns="0" rtlCol="0" anchor="ctr"/>
          <a:lstStyle/>
          <a:p>
            <a:pPr indent="0" marL="0">
              <a:buNone/>
            </a:pPr>
            <a:r>
              <a:rPr lang="en-US" sz="1150" dirty="0">
                <a:solidFill>
                  <a:srgbClr val="58BFD6"/>
                </a:solidFill>
                <a:latin typeface="Courier New" pitchFamily="34" charset="0"/>
                <a:ea typeface="Courier New" pitchFamily="34" charset="-122"/>
                <a:cs typeface="Courier New" pitchFamily="34" charset="-120"/>
              </a:rPr>
              <a:t>/api/analytics</a:t>
            </a:r>
            <a:endParaRPr lang="en-US" sz="1150" dirty="0"/>
          </a:p>
        </p:txBody>
      </p:sp>
      <p:sp>
        <p:nvSpPr>
          <p:cNvPr id="27" name="Text 25"/>
          <p:cNvSpPr txBox="1"/>
          <p:nvPr/>
        </p:nvSpPr>
        <p:spPr>
          <a:xfrm>
            <a:off x="4114800" y="4242816"/>
            <a:ext cx="3840480" cy="329184"/>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all the traffic numbers</a:t>
            </a:r>
            <a:endParaRPr lang="en-US" sz="1250" dirty="0"/>
          </a:p>
        </p:txBody>
      </p:sp>
      <p:sp>
        <p:nvSpPr>
          <p:cNvPr id="28" name="Text 26"/>
          <p:cNvSpPr txBox="1"/>
          <p:nvPr/>
        </p:nvSpPr>
        <p:spPr>
          <a:xfrm>
            <a:off x="8046720" y="4242816"/>
            <a:ext cx="3383280" cy="329184"/>
          </a:xfrm>
          <a:prstGeom prst="rect">
            <a:avLst/>
          </a:prstGeom>
          <a:noFill/>
          <a:ln/>
        </p:spPr>
        <p:txBody>
          <a:bodyPr wrap="square" lIns="0" tIns="0" rIns="0" bIns="0" rtlCol="0" anchor="ctr"/>
          <a:lstStyle/>
          <a:p>
            <a:pPr indent="0" marL="0">
              <a:buNone/>
            </a:pPr>
            <a:r>
              <a:rPr lang="en-US" sz="1250" dirty="0">
                <a:solidFill>
                  <a:srgbClr val="8496A6"/>
                </a:solidFill>
                <a:latin typeface="Calibri" pitchFamily="34" charset="0"/>
                <a:ea typeface="Calibri" pitchFamily="34" charset="-122"/>
                <a:cs typeface="Calibri" pitchFamily="34" charset="-120"/>
              </a:rPr>
              <a:t>the Analytics screen</a:t>
            </a:r>
            <a:endParaRPr lang="en-US" sz="1250" dirty="0"/>
          </a:p>
        </p:txBody>
      </p:sp>
      <p:sp>
        <p:nvSpPr>
          <p:cNvPr id="29" name="Shape 27"/>
          <p:cNvSpPr/>
          <p:nvPr/>
        </p:nvSpPr>
        <p:spPr>
          <a:xfrm>
            <a:off x="640080" y="4617720"/>
            <a:ext cx="10911535" cy="384048"/>
          </a:xfrm>
          <a:prstGeom prst="rect">
            <a:avLst/>
          </a:prstGeom>
          <a:solidFill>
            <a:srgbClr val="18242F"/>
          </a:solidFill>
          <a:ln w="12700">
            <a:solidFill>
              <a:srgbClr val="18242F"/>
            </a:solidFill>
            <a:prstDash val="solid"/>
          </a:ln>
        </p:spPr>
      </p:sp>
      <p:sp>
        <p:nvSpPr>
          <p:cNvPr id="30" name="Text 28"/>
          <p:cNvSpPr txBox="1"/>
          <p:nvPr/>
        </p:nvSpPr>
        <p:spPr>
          <a:xfrm>
            <a:off x="914400" y="4645152"/>
            <a:ext cx="3108960" cy="329184"/>
          </a:xfrm>
          <a:prstGeom prst="rect">
            <a:avLst/>
          </a:prstGeom>
          <a:noFill/>
          <a:ln/>
        </p:spPr>
        <p:txBody>
          <a:bodyPr wrap="square" lIns="0" tIns="0" rIns="0" bIns="0" rtlCol="0" anchor="ctr"/>
          <a:lstStyle/>
          <a:p>
            <a:pPr indent="0" marL="0">
              <a:buNone/>
            </a:pPr>
            <a:r>
              <a:rPr lang="en-US" sz="1150" dirty="0">
                <a:solidFill>
                  <a:srgbClr val="58BFD6"/>
                </a:solidFill>
                <a:latin typeface="Courier New" pitchFamily="34" charset="0"/>
                <a:ea typeface="Courier New" pitchFamily="34" charset="-122"/>
                <a:cs typeface="Courier New" pitchFamily="34" charset="-120"/>
              </a:rPr>
              <a:t>/api/alerts</a:t>
            </a:r>
            <a:endParaRPr lang="en-US" sz="1150" dirty="0"/>
          </a:p>
        </p:txBody>
      </p:sp>
      <p:sp>
        <p:nvSpPr>
          <p:cNvPr id="31" name="Text 29"/>
          <p:cNvSpPr txBox="1"/>
          <p:nvPr/>
        </p:nvSpPr>
        <p:spPr>
          <a:xfrm>
            <a:off x="4114800" y="4645152"/>
            <a:ext cx="3840480" cy="329184"/>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watchlist hits</a:t>
            </a:r>
            <a:endParaRPr lang="en-US" sz="1250" dirty="0"/>
          </a:p>
        </p:txBody>
      </p:sp>
      <p:sp>
        <p:nvSpPr>
          <p:cNvPr id="32" name="Text 30"/>
          <p:cNvSpPr txBox="1"/>
          <p:nvPr/>
        </p:nvSpPr>
        <p:spPr>
          <a:xfrm>
            <a:off x="8046720" y="4645152"/>
            <a:ext cx="3383280" cy="329184"/>
          </a:xfrm>
          <a:prstGeom prst="rect">
            <a:avLst/>
          </a:prstGeom>
          <a:noFill/>
          <a:ln/>
        </p:spPr>
        <p:txBody>
          <a:bodyPr wrap="square" lIns="0" tIns="0" rIns="0" bIns="0" rtlCol="0" anchor="ctr"/>
          <a:lstStyle/>
          <a:p>
            <a:pPr indent="0" marL="0">
              <a:buNone/>
            </a:pPr>
            <a:r>
              <a:rPr lang="en-US" sz="1250" dirty="0">
                <a:solidFill>
                  <a:srgbClr val="8496A6"/>
                </a:solidFill>
                <a:latin typeface="Calibri" pitchFamily="34" charset="0"/>
                <a:ea typeface="Calibri" pitchFamily="34" charset="-122"/>
                <a:cs typeface="Calibri" pitchFamily="34" charset="-120"/>
              </a:rPr>
              <a:t>the red Alerts panel</a:t>
            </a:r>
            <a:endParaRPr lang="en-US" sz="1250" dirty="0"/>
          </a:p>
        </p:txBody>
      </p:sp>
      <p:sp>
        <p:nvSpPr>
          <p:cNvPr id="33" name="Text 31"/>
          <p:cNvSpPr txBox="1"/>
          <p:nvPr/>
        </p:nvSpPr>
        <p:spPr>
          <a:xfrm>
            <a:off x="914400" y="5047488"/>
            <a:ext cx="3108960" cy="329184"/>
          </a:xfrm>
          <a:prstGeom prst="rect">
            <a:avLst/>
          </a:prstGeom>
          <a:noFill/>
          <a:ln/>
        </p:spPr>
        <p:txBody>
          <a:bodyPr wrap="square" lIns="0" tIns="0" rIns="0" bIns="0" rtlCol="0" anchor="ctr"/>
          <a:lstStyle/>
          <a:p>
            <a:pPr indent="0" marL="0">
              <a:buNone/>
            </a:pPr>
            <a:r>
              <a:rPr lang="en-US" sz="1150" dirty="0">
                <a:solidFill>
                  <a:srgbClr val="58BFD6"/>
                </a:solidFill>
                <a:latin typeface="Courier New" pitchFamily="34" charset="0"/>
                <a:ea typeface="Courier New" pitchFamily="34" charset="-122"/>
                <a:cs typeface="Courier New" pitchFamily="34" charset="-120"/>
              </a:rPr>
              <a:t>/api/rejected-links</a:t>
            </a:r>
            <a:endParaRPr lang="en-US" sz="1150" dirty="0"/>
          </a:p>
        </p:txBody>
      </p:sp>
      <p:sp>
        <p:nvSpPr>
          <p:cNvPr id="34" name="Text 32"/>
          <p:cNvSpPr txBox="1"/>
          <p:nvPr/>
        </p:nvSpPr>
        <p:spPr>
          <a:xfrm>
            <a:off x="4114800" y="5047488"/>
            <a:ext cx="3840480" cy="329184"/>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matches we REFUSED</a:t>
            </a:r>
            <a:endParaRPr lang="en-US" sz="1250" dirty="0"/>
          </a:p>
        </p:txBody>
      </p:sp>
      <p:sp>
        <p:nvSpPr>
          <p:cNvPr id="35" name="Text 33"/>
          <p:cNvSpPr txBox="1"/>
          <p:nvPr/>
        </p:nvSpPr>
        <p:spPr>
          <a:xfrm>
            <a:off x="8046720" y="5047488"/>
            <a:ext cx="3383280" cy="329184"/>
          </a:xfrm>
          <a:prstGeom prst="rect">
            <a:avLst/>
          </a:prstGeom>
          <a:noFill/>
          <a:ln/>
        </p:spPr>
        <p:txBody>
          <a:bodyPr wrap="square" lIns="0" tIns="0" rIns="0" bIns="0" rtlCol="0" anchor="ctr"/>
          <a:lstStyle/>
          <a:p>
            <a:pPr indent="0" marL="0">
              <a:buNone/>
            </a:pPr>
            <a:r>
              <a:rPr lang="en-US" sz="1250" dirty="0">
                <a:solidFill>
                  <a:srgbClr val="8496A6"/>
                </a:solidFill>
                <a:latin typeface="Calibri" pitchFamily="34" charset="0"/>
                <a:ea typeface="Calibri" pitchFamily="34" charset="-122"/>
                <a:cs typeface="Calibri" pitchFamily="34" charset="-120"/>
              </a:rPr>
              <a:t>"Links the system refused"</a:t>
            </a:r>
            <a:endParaRPr lang="en-US" sz="1250" dirty="0"/>
          </a:p>
        </p:txBody>
      </p:sp>
      <p:sp>
        <p:nvSpPr>
          <p:cNvPr id="36" name="Shape 34"/>
          <p:cNvSpPr/>
          <p:nvPr/>
        </p:nvSpPr>
        <p:spPr>
          <a:xfrm>
            <a:off x="640080" y="5422392"/>
            <a:ext cx="10911535" cy="384048"/>
          </a:xfrm>
          <a:prstGeom prst="rect">
            <a:avLst/>
          </a:prstGeom>
          <a:solidFill>
            <a:srgbClr val="18242F"/>
          </a:solidFill>
          <a:ln w="12700">
            <a:solidFill>
              <a:srgbClr val="18242F"/>
            </a:solidFill>
            <a:prstDash val="solid"/>
          </a:ln>
        </p:spPr>
      </p:sp>
      <p:sp>
        <p:nvSpPr>
          <p:cNvPr id="37" name="Text 35"/>
          <p:cNvSpPr txBox="1"/>
          <p:nvPr/>
        </p:nvSpPr>
        <p:spPr>
          <a:xfrm>
            <a:off x="914400" y="5449824"/>
            <a:ext cx="3108960" cy="329184"/>
          </a:xfrm>
          <a:prstGeom prst="rect">
            <a:avLst/>
          </a:prstGeom>
          <a:noFill/>
          <a:ln/>
        </p:spPr>
        <p:txBody>
          <a:bodyPr wrap="square" lIns="0" tIns="0" rIns="0" bIns="0" rtlCol="0" anchor="ctr"/>
          <a:lstStyle/>
          <a:p>
            <a:pPr indent="0" marL="0">
              <a:buNone/>
            </a:pPr>
            <a:r>
              <a:rPr lang="en-US" sz="1150" dirty="0">
                <a:solidFill>
                  <a:srgbClr val="58BFD6"/>
                </a:solidFill>
                <a:latin typeface="Courier New" pitchFamily="34" charset="0"/>
                <a:ea typeface="Courier New" pitchFamily="34" charset="-122"/>
                <a:cs typeface="Courier New" pitchFamily="34" charset="-120"/>
              </a:rPr>
              <a:t>/api/live/CAM01</a:t>
            </a:r>
            <a:endParaRPr lang="en-US" sz="1150" dirty="0"/>
          </a:p>
        </p:txBody>
      </p:sp>
      <p:sp>
        <p:nvSpPr>
          <p:cNvPr id="38" name="Text 36"/>
          <p:cNvSpPr txBox="1"/>
          <p:nvPr/>
        </p:nvSpPr>
        <p:spPr>
          <a:xfrm>
            <a:off x="4114800" y="5449824"/>
            <a:ext cx="3840480" cy="329184"/>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the moving camera picture</a:t>
            </a:r>
            <a:endParaRPr lang="en-US" sz="1250" dirty="0"/>
          </a:p>
        </p:txBody>
      </p:sp>
      <p:sp>
        <p:nvSpPr>
          <p:cNvPr id="39" name="Text 37"/>
          <p:cNvSpPr txBox="1"/>
          <p:nvPr/>
        </p:nvSpPr>
        <p:spPr>
          <a:xfrm>
            <a:off x="8046720" y="5449824"/>
            <a:ext cx="3383280" cy="329184"/>
          </a:xfrm>
          <a:prstGeom prst="rect">
            <a:avLst/>
          </a:prstGeom>
          <a:noFill/>
          <a:ln/>
        </p:spPr>
        <p:txBody>
          <a:bodyPr wrap="square" lIns="0" tIns="0" rIns="0" bIns="0" rtlCol="0" anchor="ctr"/>
          <a:lstStyle/>
          <a:p>
            <a:pPr indent="0" marL="0">
              <a:buNone/>
            </a:pPr>
            <a:r>
              <a:rPr lang="en-US" sz="1250" dirty="0">
                <a:solidFill>
                  <a:srgbClr val="8496A6"/>
                </a:solidFill>
                <a:latin typeface="Calibri" pitchFamily="34" charset="0"/>
                <a:ea typeface="Calibri" pitchFamily="34" charset="-122"/>
                <a:cs typeface="Calibri" pitchFamily="34" charset="-120"/>
              </a:rPr>
              <a:t>the three video boxes</a:t>
            </a:r>
            <a:endParaRPr lang="en-US" sz="1250" dirty="0"/>
          </a:p>
        </p:txBody>
      </p:sp>
      <p:sp>
        <p:nvSpPr>
          <p:cNvPr id="40" name="Text 38"/>
          <p:cNvSpPr txBox="1"/>
          <p:nvPr/>
        </p:nvSpPr>
        <p:spPr>
          <a:xfrm>
            <a:off x="914400" y="5852160"/>
            <a:ext cx="3108960" cy="329184"/>
          </a:xfrm>
          <a:prstGeom prst="rect">
            <a:avLst/>
          </a:prstGeom>
          <a:noFill/>
          <a:ln/>
        </p:spPr>
        <p:txBody>
          <a:bodyPr wrap="square" lIns="0" tIns="0" rIns="0" bIns="0" rtlCol="0" anchor="ctr"/>
          <a:lstStyle/>
          <a:p>
            <a:pPr indent="0" marL="0">
              <a:buNone/>
            </a:pPr>
            <a:r>
              <a:rPr lang="en-US" sz="1150" dirty="0">
                <a:solidFill>
                  <a:srgbClr val="58BFD6"/>
                </a:solidFill>
                <a:latin typeface="Courier New" pitchFamily="34" charset="0"/>
                <a:ea typeface="Courier New" pitchFamily="34" charset="-122"/>
                <a:cs typeface="Courier New" pitchFamily="34" charset="-120"/>
              </a:rPr>
              <a:t>/ws/events</a:t>
            </a:r>
            <a:endParaRPr lang="en-US" sz="1150" dirty="0"/>
          </a:p>
        </p:txBody>
      </p:sp>
      <p:sp>
        <p:nvSpPr>
          <p:cNvPr id="41" name="Text 39"/>
          <p:cNvSpPr txBox="1"/>
          <p:nvPr/>
        </p:nvSpPr>
        <p:spPr>
          <a:xfrm>
            <a:off x="4114800" y="5852160"/>
            <a:ext cx="3840480" cy="329184"/>
          </a:xfrm>
          <a:prstGeom prst="rect">
            <a:avLst/>
          </a:prstGeom>
          <a:noFill/>
          <a:ln/>
        </p:spPr>
        <p:txBody>
          <a:bodyPr wrap="square" lIns="0" tIns="0" rIns="0" bIns="0" rtlCol="0" anchor="ctr"/>
          <a:lstStyle/>
          <a:p>
            <a:pPr indent="0" marL="0">
              <a:buNone/>
            </a:pPr>
            <a:r>
              <a:rPr lang="en-US" sz="1250" dirty="0">
                <a:solidFill>
                  <a:srgbClr val="BCC9D5"/>
                </a:solidFill>
                <a:latin typeface="Calibri" pitchFamily="34" charset="0"/>
                <a:ea typeface="Calibri" pitchFamily="34" charset="-122"/>
                <a:cs typeface="Calibri" pitchFamily="34" charset="-120"/>
              </a:rPr>
              <a:t>a line held open to push new events instantly</a:t>
            </a:r>
            <a:endParaRPr lang="en-US" sz="1250" dirty="0"/>
          </a:p>
        </p:txBody>
      </p:sp>
      <p:sp>
        <p:nvSpPr>
          <p:cNvPr id="42" name="Text 40"/>
          <p:cNvSpPr txBox="1"/>
          <p:nvPr/>
        </p:nvSpPr>
        <p:spPr>
          <a:xfrm>
            <a:off x="8046720" y="5852160"/>
            <a:ext cx="3383280" cy="329184"/>
          </a:xfrm>
          <a:prstGeom prst="rect">
            <a:avLst/>
          </a:prstGeom>
          <a:noFill/>
          <a:ln/>
        </p:spPr>
        <p:txBody>
          <a:bodyPr wrap="square" lIns="0" tIns="0" rIns="0" bIns="0" rtlCol="0" anchor="ctr"/>
          <a:lstStyle/>
          <a:p>
            <a:pPr indent="0" marL="0">
              <a:buNone/>
            </a:pPr>
            <a:r>
              <a:rPr lang="en-US" sz="1250" dirty="0">
                <a:solidFill>
                  <a:srgbClr val="8496A6"/>
                </a:solidFill>
                <a:latin typeface="Calibri" pitchFamily="34" charset="0"/>
                <a:ea typeface="Calibri" pitchFamily="34" charset="-122"/>
                <a:cs typeface="Calibri" pitchFamily="34" charset="-120"/>
              </a:rPr>
              <a:t>the live feed</a:t>
            </a:r>
            <a:endParaRPr lang="en-US" sz="1250" dirty="0"/>
          </a:p>
        </p:txBody>
      </p:sp>
      <p:sp>
        <p:nvSpPr>
          <p:cNvPr id="43" name="Text 41"/>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200" i="1" dirty="0">
                <a:solidFill>
                  <a:srgbClr val="8496A6"/>
                </a:solidFill>
                <a:latin typeface="Calibri" pitchFamily="34" charset="0"/>
                <a:ea typeface="Calibri" pitchFamily="34" charset="-122"/>
                <a:cs typeface="Calibri" pitchFamily="34" charset="-120"/>
              </a:rPr>
              <a:t>Five more exist for plates, identities, congestion and map tiles.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7 — THE FRONTEND</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The dashboard is built from small pieces</a:t>
            </a:r>
            <a:endParaRPr lang="en-US" sz="3200" dirty="0"/>
          </a:p>
        </p:txBody>
      </p:sp>
      <p:sp>
        <p:nvSpPr>
          <p:cNvPr id="4" name="Text 2"/>
          <p:cNvSpPr txBox="1"/>
          <p:nvPr/>
        </p:nvSpPr>
        <p:spPr>
          <a:xfrm>
            <a:off x="640080" y="1481328"/>
            <a:ext cx="10911535" cy="45720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React is a tool for building a screen out of reusable blocks called components. Each visible box on our dashboard is one file.</a:t>
            </a:r>
            <a:endParaRPr lang="en-US" sz="1600" dirty="0"/>
          </a:p>
        </p:txBody>
      </p:sp>
      <p:sp>
        <p:nvSpPr>
          <p:cNvPr id="5" name="Shape 3"/>
          <p:cNvSpPr/>
          <p:nvPr/>
        </p:nvSpPr>
        <p:spPr>
          <a:xfrm>
            <a:off x="640080" y="2029968"/>
            <a:ext cx="5257800" cy="786384"/>
          </a:xfrm>
          <a:prstGeom prst="roundRect">
            <a:avLst>
              <a:gd name="adj" fmla="val 6977"/>
            </a:avLst>
          </a:prstGeom>
          <a:solidFill>
            <a:srgbClr val="18242F"/>
          </a:solidFill>
          <a:ln w="12700">
            <a:solidFill>
              <a:srgbClr val="2E3F4E"/>
            </a:solidFill>
            <a:prstDash val="solid"/>
          </a:ln>
        </p:spPr>
      </p:sp>
      <p:sp>
        <p:nvSpPr>
          <p:cNvPr id="6" name="Text 4"/>
          <p:cNvSpPr txBox="1"/>
          <p:nvPr/>
        </p:nvSpPr>
        <p:spPr>
          <a:xfrm>
            <a:off x="896112" y="2103120"/>
            <a:ext cx="4754880" cy="237744"/>
          </a:xfrm>
          <a:prstGeom prst="rect">
            <a:avLst/>
          </a:prstGeom>
          <a:noFill/>
          <a:ln/>
        </p:spPr>
        <p:txBody>
          <a:bodyPr wrap="square" lIns="0" tIns="0" rIns="0" bIns="0" rtlCol="0" anchor="ctr"/>
          <a:lstStyle/>
          <a:p>
            <a:pPr indent="0" marL="0">
              <a:buNone/>
            </a:pPr>
            <a:r>
              <a:rPr lang="en-US" sz="1150" b="1" dirty="0">
                <a:solidFill>
                  <a:srgbClr val="F0B23F"/>
                </a:solidFill>
                <a:latin typeface="Courier New" pitchFamily="34" charset="0"/>
                <a:ea typeface="Courier New" pitchFamily="34" charset="-122"/>
                <a:cs typeface="Courier New" pitchFamily="34" charset="-120"/>
              </a:rPr>
              <a:t>App.jsx</a:t>
            </a:r>
            <a:endParaRPr lang="en-US" sz="1150" dirty="0"/>
          </a:p>
        </p:txBody>
      </p:sp>
      <p:sp>
        <p:nvSpPr>
          <p:cNvPr id="7" name="Text 5"/>
          <p:cNvSpPr txBox="1"/>
          <p:nvPr/>
        </p:nvSpPr>
        <p:spPr>
          <a:xfrm>
            <a:off x="896112" y="2340864"/>
            <a:ext cx="4754880" cy="438912"/>
          </a:xfrm>
          <a:prstGeom prst="rect">
            <a:avLst/>
          </a:prstGeom>
          <a:noFill/>
          <a:ln/>
        </p:spPr>
        <p:txBody>
          <a:bodyPr wrap="square" lIns="0" tIns="0" rIns="0" bIns="0" rtlCol="0" anchor="ctr"/>
          <a:lstStyle/>
          <a:p>
            <a:pPr indent="0" marL="0">
              <a:lnSpc>
                <a:spcPct val="105000"/>
              </a:lnSpc>
              <a:buNone/>
            </a:pPr>
            <a:r>
              <a:rPr lang="en-US" sz="1100" dirty="0">
                <a:solidFill>
                  <a:srgbClr val="BCC9D5"/>
                </a:solidFill>
                <a:latin typeface="Calibri" pitchFamily="34" charset="0"/>
                <a:ea typeface="Calibri" pitchFamily="34" charset="-122"/>
                <a:cs typeface="Calibri" pitchFamily="34" charset="-120"/>
              </a:rPr>
              <a:t>The brain. Asks the backend for everything, remembers the answers, decides which screen shows.</a:t>
            </a:r>
            <a:endParaRPr lang="en-US" sz="1100" dirty="0"/>
          </a:p>
        </p:txBody>
      </p:sp>
      <p:sp>
        <p:nvSpPr>
          <p:cNvPr id="8" name="Shape 6"/>
          <p:cNvSpPr/>
          <p:nvPr/>
        </p:nvSpPr>
        <p:spPr>
          <a:xfrm>
            <a:off x="6291072" y="2029968"/>
            <a:ext cx="5257800" cy="786384"/>
          </a:xfrm>
          <a:prstGeom prst="roundRect">
            <a:avLst>
              <a:gd name="adj" fmla="val 6977"/>
            </a:avLst>
          </a:prstGeom>
          <a:solidFill>
            <a:srgbClr val="18242F"/>
          </a:solidFill>
          <a:ln w="12700">
            <a:solidFill>
              <a:srgbClr val="2E3F4E"/>
            </a:solidFill>
            <a:prstDash val="solid"/>
          </a:ln>
        </p:spPr>
      </p:sp>
      <p:sp>
        <p:nvSpPr>
          <p:cNvPr id="9" name="Text 7"/>
          <p:cNvSpPr txBox="1"/>
          <p:nvPr/>
        </p:nvSpPr>
        <p:spPr>
          <a:xfrm>
            <a:off x="6547104" y="2103120"/>
            <a:ext cx="4754880" cy="237744"/>
          </a:xfrm>
          <a:prstGeom prst="rect">
            <a:avLst/>
          </a:prstGeom>
          <a:noFill/>
          <a:ln/>
        </p:spPr>
        <p:txBody>
          <a:bodyPr wrap="square" lIns="0" tIns="0" rIns="0" bIns="0" rtlCol="0" anchor="ctr"/>
          <a:lstStyle/>
          <a:p>
            <a:pPr indent="0" marL="0">
              <a:buNone/>
            </a:pPr>
            <a:r>
              <a:rPr lang="en-US" sz="1150" b="1" dirty="0">
                <a:solidFill>
                  <a:srgbClr val="F0B23F"/>
                </a:solidFill>
                <a:latin typeface="Courier New" pitchFamily="34" charset="0"/>
                <a:ea typeface="Courier New" pitchFamily="34" charset="-122"/>
                <a:cs typeface="Courier New" pitchFamily="34" charset="-120"/>
              </a:rPr>
              <a:t>api.js</a:t>
            </a:r>
            <a:endParaRPr lang="en-US" sz="1150" dirty="0"/>
          </a:p>
        </p:txBody>
      </p:sp>
      <p:sp>
        <p:nvSpPr>
          <p:cNvPr id="10" name="Text 8"/>
          <p:cNvSpPr txBox="1"/>
          <p:nvPr/>
        </p:nvSpPr>
        <p:spPr>
          <a:xfrm>
            <a:off x="6547104" y="2340864"/>
            <a:ext cx="4754880" cy="438912"/>
          </a:xfrm>
          <a:prstGeom prst="rect">
            <a:avLst/>
          </a:prstGeom>
          <a:noFill/>
          <a:ln/>
        </p:spPr>
        <p:txBody>
          <a:bodyPr wrap="square" lIns="0" tIns="0" rIns="0" bIns="0" rtlCol="0" anchor="ctr"/>
          <a:lstStyle/>
          <a:p>
            <a:pPr indent="0" marL="0">
              <a:lnSpc>
                <a:spcPct val="105000"/>
              </a:lnSpc>
              <a:buNone/>
            </a:pPr>
            <a:r>
              <a:rPr lang="en-US" sz="1100" dirty="0">
                <a:solidFill>
                  <a:srgbClr val="BCC9D5"/>
                </a:solidFill>
                <a:latin typeface="Calibri" pitchFamily="34" charset="0"/>
                <a:ea typeface="Calibri" pitchFamily="34" charset="-122"/>
                <a:cs typeface="Calibri" pitchFamily="34" charset="-120"/>
              </a:rPr>
              <a:t>The only file that knows how to talk to the backend. Every other file asks this one.</a:t>
            </a:r>
            <a:endParaRPr lang="en-US" sz="1100" dirty="0"/>
          </a:p>
        </p:txBody>
      </p:sp>
      <p:sp>
        <p:nvSpPr>
          <p:cNvPr id="11" name="Shape 9"/>
          <p:cNvSpPr/>
          <p:nvPr/>
        </p:nvSpPr>
        <p:spPr>
          <a:xfrm>
            <a:off x="640080" y="2880360"/>
            <a:ext cx="5257800" cy="786384"/>
          </a:xfrm>
          <a:prstGeom prst="roundRect">
            <a:avLst>
              <a:gd name="adj" fmla="val 6977"/>
            </a:avLst>
          </a:prstGeom>
          <a:solidFill>
            <a:srgbClr val="18242F"/>
          </a:solidFill>
          <a:ln w="12700">
            <a:solidFill>
              <a:srgbClr val="2E3F4E"/>
            </a:solidFill>
            <a:prstDash val="solid"/>
          </a:ln>
        </p:spPr>
      </p:sp>
      <p:sp>
        <p:nvSpPr>
          <p:cNvPr id="12" name="Text 10"/>
          <p:cNvSpPr txBox="1"/>
          <p:nvPr/>
        </p:nvSpPr>
        <p:spPr>
          <a:xfrm>
            <a:off x="896112" y="2953512"/>
            <a:ext cx="4754880" cy="237744"/>
          </a:xfrm>
          <a:prstGeom prst="rect">
            <a:avLst/>
          </a:prstGeom>
          <a:noFill/>
          <a:ln/>
        </p:spPr>
        <p:txBody>
          <a:bodyPr wrap="square" lIns="0" tIns="0" rIns="0" bIns="0" rtlCol="0" anchor="ctr"/>
          <a:lstStyle/>
          <a:p>
            <a:pPr indent="0" marL="0">
              <a:buNone/>
            </a:pPr>
            <a:r>
              <a:rPr lang="en-US" sz="1150" b="1" dirty="0">
                <a:solidFill>
                  <a:srgbClr val="58BFD6"/>
                </a:solidFill>
                <a:latin typeface="Courier New" pitchFamily="34" charset="0"/>
                <a:ea typeface="Courier New" pitchFamily="34" charset="-122"/>
                <a:cs typeface="Courier New" pitchFamily="34" charset="-120"/>
              </a:rPr>
              <a:t>CityMap.jsx</a:t>
            </a:r>
            <a:endParaRPr lang="en-US" sz="1150" dirty="0"/>
          </a:p>
        </p:txBody>
      </p:sp>
      <p:sp>
        <p:nvSpPr>
          <p:cNvPr id="13" name="Text 11"/>
          <p:cNvSpPr txBox="1"/>
          <p:nvPr/>
        </p:nvSpPr>
        <p:spPr>
          <a:xfrm>
            <a:off x="896112" y="3191256"/>
            <a:ext cx="4754880" cy="438912"/>
          </a:xfrm>
          <a:prstGeom prst="rect">
            <a:avLst/>
          </a:prstGeom>
          <a:noFill/>
          <a:ln/>
        </p:spPr>
        <p:txBody>
          <a:bodyPr wrap="square" lIns="0" tIns="0" rIns="0" bIns="0" rtlCol="0" anchor="ctr"/>
          <a:lstStyle/>
          <a:p>
            <a:pPr indent="0" marL="0">
              <a:lnSpc>
                <a:spcPct val="105000"/>
              </a:lnSpc>
              <a:buNone/>
            </a:pPr>
            <a:r>
              <a:rPr lang="en-US" sz="1100" dirty="0">
                <a:solidFill>
                  <a:srgbClr val="BCC9D5"/>
                </a:solidFill>
                <a:latin typeface="Calibri" pitchFamily="34" charset="0"/>
                <a:ea typeface="Calibri" pitchFamily="34" charset="-122"/>
                <a:cs typeface="Calibri" pitchFamily="34" charset="-120"/>
              </a:rPr>
              <a:t>The map, the camera dots, the coloured route lines.</a:t>
            </a:r>
            <a:endParaRPr lang="en-US" sz="1100" dirty="0"/>
          </a:p>
        </p:txBody>
      </p:sp>
      <p:sp>
        <p:nvSpPr>
          <p:cNvPr id="14" name="Shape 12"/>
          <p:cNvSpPr/>
          <p:nvPr/>
        </p:nvSpPr>
        <p:spPr>
          <a:xfrm>
            <a:off x="6291072" y="2880360"/>
            <a:ext cx="5257800" cy="786384"/>
          </a:xfrm>
          <a:prstGeom prst="roundRect">
            <a:avLst>
              <a:gd name="adj" fmla="val 6977"/>
            </a:avLst>
          </a:prstGeom>
          <a:solidFill>
            <a:srgbClr val="18242F"/>
          </a:solidFill>
          <a:ln w="12700">
            <a:solidFill>
              <a:srgbClr val="2E3F4E"/>
            </a:solidFill>
            <a:prstDash val="solid"/>
          </a:ln>
        </p:spPr>
      </p:sp>
      <p:sp>
        <p:nvSpPr>
          <p:cNvPr id="15" name="Text 13"/>
          <p:cNvSpPr txBox="1"/>
          <p:nvPr/>
        </p:nvSpPr>
        <p:spPr>
          <a:xfrm>
            <a:off x="6547104" y="2953512"/>
            <a:ext cx="4754880" cy="237744"/>
          </a:xfrm>
          <a:prstGeom prst="rect">
            <a:avLst/>
          </a:prstGeom>
          <a:noFill/>
          <a:ln/>
        </p:spPr>
        <p:txBody>
          <a:bodyPr wrap="square" lIns="0" tIns="0" rIns="0" bIns="0" rtlCol="0" anchor="ctr"/>
          <a:lstStyle/>
          <a:p>
            <a:pPr indent="0" marL="0">
              <a:buNone/>
            </a:pPr>
            <a:r>
              <a:rPr lang="en-US" sz="1150" b="1" dirty="0">
                <a:solidFill>
                  <a:srgbClr val="58BFD6"/>
                </a:solidFill>
                <a:latin typeface="Courier New" pitchFamily="34" charset="0"/>
                <a:ea typeface="Courier New" pitchFamily="34" charset="-122"/>
                <a:cs typeface="Courier New" pitchFamily="34" charset="-120"/>
              </a:rPr>
              <a:t>CameraGrid.jsx</a:t>
            </a:r>
            <a:endParaRPr lang="en-US" sz="1150" dirty="0"/>
          </a:p>
        </p:txBody>
      </p:sp>
      <p:sp>
        <p:nvSpPr>
          <p:cNvPr id="16" name="Text 14"/>
          <p:cNvSpPr txBox="1"/>
          <p:nvPr/>
        </p:nvSpPr>
        <p:spPr>
          <a:xfrm>
            <a:off x="6547104" y="3191256"/>
            <a:ext cx="4754880" cy="438912"/>
          </a:xfrm>
          <a:prstGeom prst="rect">
            <a:avLst/>
          </a:prstGeom>
          <a:noFill/>
          <a:ln/>
        </p:spPr>
        <p:txBody>
          <a:bodyPr wrap="square" lIns="0" tIns="0" rIns="0" bIns="0" rtlCol="0" anchor="ctr"/>
          <a:lstStyle/>
          <a:p>
            <a:pPr indent="0" marL="0">
              <a:lnSpc>
                <a:spcPct val="105000"/>
              </a:lnSpc>
              <a:buNone/>
            </a:pPr>
            <a:r>
              <a:rPr lang="en-US" sz="1100" dirty="0">
                <a:solidFill>
                  <a:srgbClr val="BCC9D5"/>
                </a:solidFill>
                <a:latin typeface="Calibri" pitchFamily="34" charset="0"/>
                <a:ea typeface="Calibri" pitchFamily="34" charset="-122"/>
                <a:cs typeface="Calibri" pitchFamily="34" charset="-120"/>
              </a:rPr>
              <a:t>The three live camera pictures.</a:t>
            </a:r>
            <a:endParaRPr lang="en-US" sz="1100" dirty="0"/>
          </a:p>
        </p:txBody>
      </p:sp>
      <p:sp>
        <p:nvSpPr>
          <p:cNvPr id="17" name="Shape 15"/>
          <p:cNvSpPr/>
          <p:nvPr/>
        </p:nvSpPr>
        <p:spPr>
          <a:xfrm>
            <a:off x="640080" y="3730752"/>
            <a:ext cx="5257800" cy="786384"/>
          </a:xfrm>
          <a:prstGeom prst="roundRect">
            <a:avLst>
              <a:gd name="adj" fmla="val 6977"/>
            </a:avLst>
          </a:prstGeom>
          <a:solidFill>
            <a:srgbClr val="18242F"/>
          </a:solidFill>
          <a:ln w="12700">
            <a:solidFill>
              <a:srgbClr val="2E3F4E"/>
            </a:solidFill>
            <a:prstDash val="solid"/>
          </a:ln>
        </p:spPr>
      </p:sp>
      <p:sp>
        <p:nvSpPr>
          <p:cNvPr id="18" name="Text 16"/>
          <p:cNvSpPr txBox="1"/>
          <p:nvPr/>
        </p:nvSpPr>
        <p:spPr>
          <a:xfrm>
            <a:off x="896112" y="3803904"/>
            <a:ext cx="4754880" cy="237744"/>
          </a:xfrm>
          <a:prstGeom prst="rect">
            <a:avLst/>
          </a:prstGeom>
          <a:noFill/>
          <a:ln/>
        </p:spPr>
        <p:txBody>
          <a:bodyPr wrap="square" lIns="0" tIns="0" rIns="0" bIns="0" rtlCol="0" anchor="ctr"/>
          <a:lstStyle/>
          <a:p>
            <a:pPr indent="0" marL="0">
              <a:buNone/>
            </a:pPr>
            <a:r>
              <a:rPr lang="en-US" sz="1150" b="1" dirty="0">
                <a:solidFill>
                  <a:srgbClr val="58BFD6"/>
                </a:solidFill>
                <a:latin typeface="Courier New" pitchFamily="34" charset="0"/>
                <a:ea typeface="Courier New" pitchFamily="34" charset="-122"/>
                <a:cs typeface="Courier New" pitchFamily="34" charset="-120"/>
              </a:rPr>
              <a:t>EventFeed.jsx</a:t>
            </a:r>
            <a:endParaRPr lang="en-US" sz="1150" dirty="0"/>
          </a:p>
        </p:txBody>
      </p:sp>
      <p:sp>
        <p:nvSpPr>
          <p:cNvPr id="19" name="Text 17"/>
          <p:cNvSpPr txBox="1"/>
          <p:nvPr/>
        </p:nvSpPr>
        <p:spPr>
          <a:xfrm>
            <a:off x="896112" y="4041648"/>
            <a:ext cx="4754880" cy="438912"/>
          </a:xfrm>
          <a:prstGeom prst="rect">
            <a:avLst/>
          </a:prstGeom>
          <a:noFill/>
          <a:ln/>
        </p:spPr>
        <p:txBody>
          <a:bodyPr wrap="square" lIns="0" tIns="0" rIns="0" bIns="0" rtlCol="0" anchor="ctr"/>
          <a:lstStyle/>
          <a:p>
            <a:pPr indent="0" marL="0">
              <a:lnSpc>
                <a:spcPct val="105000"/>
              </a:lnSpc>
              <a:buNone/>
            </a:pPr>
            <a:r>
              <a:rPr lang="en-US" sz="1100" dirty="0">
                <a:solidFill>
                  <a:srgbClr val="BCC9D5"/>
                </a:solidFill>
                <a:latin typeface="Calibri" pitchFamily="34" charset="0"/>
                <a:ea typeface="Calibri" pitchFamily="34" charset="-122"/>
                <a:cs typeface="Calibri" pitchFamily="34" charset="-120"/>
              </a:rPr>
              <a:t>The scrolling list of vehicles just seen.</a:t>
            </a:r>
            <a:endParaRPr lang="en-US" sz="1100" dirty="0"/>
          </a:p>
        </p:txBody>
      </p:sp>
      <p:sp>
        <p:nvSpPr>
          <p:cNvPr id="20" name="Shape 18"/>
          <p:cNvSpPr/>
          <p:nvPr/>
        </p:nvSpPr>
        <p:spPr>
          <a:xfrm>
            <a:off x="6291072" y="3730752"/>
            <a:ext cx="5257800" cy="786384"/>
          </a:xfrm>
          <a:prstGeom prst="roundRect">
            <a:avLst>
              <a:gd name="adj" fmla="val 6977"/>
            </a:avLst>
          </a:prstGeom>
          <a:solidFill>
            <a:srgbClr val="18242F"/>
          </a:solidFill>
          <a:ln w="12700">
            <a:solidFill>
              <a:srgbClr val="2E3F4E"/>
            </a:solidFill>
            <a:prstDash val="solid"/>
          </a:ln>
        </p:spPr>
      </p:sp>
      <p:sp>
        <p:nvSpPr>
          <p:cNvPr id="21" name="Text 19"/>
          <p:cNvSpPr txBox="1"/>
          <p:nvPr/>
        </p:nvSpPr>
        <p:spPr>
          <a:xfrm>
            <a:off x="6547104" y="3803904"/>
            <a:ext cx="4754880" cy="237744"/>
          </a:xfrm>
          <a:prstGeom prst="rect">
            <a:avLst/>
          </a:prstGeom>
          <a:noFill/>
          <a:ln/>
        </p:spPr>
        <p:txBody>
          <a:bodyPr wrap="square" lIns="0" tIns="0" rIns="0" bIns="0" rtlCol="0" anchor="ctr"/>
          <a:lstStyle/>
          <a:p>
            <a:pPr indent="0" marL="0">
              <a:buNone/>
            </a:pPr>
            <a:r>
              <a:rPr lang="en-US" sz="1150" b="1" dirty="0">
                <a:solidFill>
                  <a:srgbClr val="58BFD6"/>
                </a:solidFill>
                <a:latin typeface="Courier New" pitchFamily="34" charset="0"/>
                <a:ea typeface="Courier New" pitchFamily="34" charset="-122"/>
                <a:cs typeface="Courier New" pitchFamily="34" charset="-120"/>
              </a:rPr>
              <a:t>KpiBar.jsx</a:t>
            </a:r>
            <a:endParaRPr lang="en-US" sz="1150" dirty="0"/>
          </a:p>
        </p:txBody>
      </p:sp>
      <p:sp>
        <p:nvSpPr>
          <p:cNvPr id="22" name="Text 20"/>
          <p:cNvSpPr txBox="1"/>
          <p:nvPr/>
        </p:nvSpPr>
        <p:spPr>
          <a:xfrm>
            <a:off x="6547104" y="4041648"/>
            <a:ext cx="4754880" cy="438912"/>
          </a:xfrm>
          <a:prstGeom prst="rect">
            <a:avLst/>
          </a:prstGeom>
          <a:noFill/>
          <a:ln/>
        </p:spPr>
        <p:txBody>
          <a:bodyPr wrap="square" lIns="0" tIns="0" rIns="0" bIns="0" rtlCol="0" anchor="ctr"/>
          <a:lstStyle/>
          <a:p>
            <a:pPr indent="0" marL="0">
              <a:lnSpc>
                <a:spcPct val="105000"/>
              </a:lnSpc>
              <a:buNone/>
            </a:pPr>
            <a:r>
              <a:rPr lang="en-US" sz="1100" dirty="0">
                <a:solidFill>
                  <a:srgbClr val="BCC9D5"/>
                </a:solidFill>
                <a:latin typeface="Calibri" pitchFamily="34" charset="0"/>
                <a:ea typeface="Calibri" pitchFamily="34" charset="-122"/>
                <a:cs typeface="Calibri" pitchFamily="34" charset="-120"/>
              </a:rPr>
              <a:t>The six big numbers along the top.</a:t>
            </a:r>
            <a:endParaRPr lang="en-US" sz="1100" dirty="0"/>
          </a:p>
        </p:txBody>
      </p:sp>
      <p:sp>
        <p:nvSpPr>
          <p:cNvPr id="23" name="Shape 21"/>
          <p:cNvSpPr/>
          <p:nvPr/>
        </p:nvSpPr>
        <p:spPr>
          <a:xfrm>
            <a:off x="640080" y="4581144"/>
            <a:ext cx="5257800" cy="786384"/>
          </a:xfrm>
          <a:prstGeom prst="roundRect">
            <a:avLst>
              <a:gd name="adj" fmla="val 6977"/>
            </a:avLst>
          </a:prstGeom>
          <a:solidFill>
            <a:srgbClr val="18242F"/>
          </a:solidFill>
          <a:ln w="12700">
            <a:solidFill>
              <a:srgbClr val="2E3F4E"/>
            </a:solidFill>
            <a:prstDash val="solid"/>
          </a:ln>
        </p:spPr>
      </p:sp>
      <p:sp>
        <p:nvSpPr>
          <p:cNvPr id="24" name="Text 22"/>
          <p:cNvSpPr txBox="1"/>
          <p:nvPr/>
        </p:nvSpPr>
        <p:spPr>
          <a:xfrm>
            <a:off x="896112" y="4654296"/>
            <a:ext cx="4754880" cy="237744"/>
          </a:xfrm>
          <a:prstGeom prst="rect">
            <a:avLst/>
          </a:prstGeom>
          <a:noFill/>
          <a:ln/>
        </p:spPr>
        <p:txBody>
          <a:bodyPr wrap="square" lIns="0" tIns="0" rIns="0" bIns="0" rtlCol="0" anchor="ctr"/>
          <a:lstStyle/>
          <a:p>
            <a:pPr indent="0" marL="0">
              <a:buNone/>
            </a:pPr>
            <a:r>
              <a:rPr lang="en-US" sz="1150" b="1" dirty="0">
                <a:solidFill>
                  <a:srgbClr val="58BFD6"/>
                </a:solidFill>
                <a:latin typeface="Courier New" pitchFamily="34" charset="0"/>
                <a:ea typeface="Courier New" pitchFamily="34" charset="-122"/>
                <a:cs typeface="Courier New" pitchFamily="34" charset="-120"/>
              </a:rPr>
              <a:t>PlateSearch.jsx</a:t>
            </a:r>
            <a:endParaRPr lang="en-US" sz="1150" dirty="0"/>
          </a:p>
        </p:txBody>
      </p:sp>
      <p:sp>
        <p:nvSpPr>
          <p:cNvPr id="25" name="Text 23"/>
          <p:cNvSpPr txBox="1"/>
          <p:nvPr/>
        </p:nvSpPr>
        <p:spPr>
          <a:xfrm>
            <a:off x="896112" y="4892040"/>
            <a:ext cx="4754880" cy="438912"/>
          </a:xfrm>
          <a:prstGeom prst="rect">
            <a:avLst/>
          </a:prstGeom>
          <a:noFill/>
          <a:ln/>
        </p:spPr>
        <p:txBody>
          <a:bodyPr wrap="square" lIns="0" tIns="0" rIns="0" bIns="0" rtlCol="0" anchor="ctr"/>
          <a:lstStyle/>
          <a:p>
            <a:pPr indent="0" marL="0">
              <a:lnSpc>
                <a:spcPct val="105000"/>
              </a:lnSpc>
              <a:buNone/>
            </a:pPr>
            <a:r>
              <a:rPr lang="en-US" sz="1100" dirty="0">
                <a:solidFill>
                  <a:srgbClr val="BCC9D5"/>
                </a:solidFill>
                <a:latin typeface="Calibri" pitchFamily="34" charset="0"/>
                <a:ea typeface="Calibri" pitchFamily="34" charset="-122"/>
                <a:cs typeface="Calibri" pitchFamily="34" charset="-120"/>
              </a:rPr>
              <a:t>The search box and the list of journeys.</a:t>
            </a:r>
            <a:endParaRPr lang="en-US" sz="1100" dirty="0"/>
          </a:p>
        </p:txBody>
      </p:sp>
      <p:sp>
        <p:nvSpPr>
          <p:cNvPr id="26" name="Shape 24"/>
          <p:cNvSpPr/>
          <p:nvPr/>
        </p:nvSpPr>
        <p:spPr>
          <a:xfrm>
            <a:off x="6291072" y="4581144"/>
            <a:ext cx="5257800" cy="786384"/>
          </a:xfrm>
          <a:prstGeom prst="roundRect">
            <a:avLst>
              <a:gd name="adj" fmla="val 6977"/>
            </a:avLst>
          </a:prstGeom>
          <a:solidFill>
            <a:srgbClr val="18242F"/>
          </a:solidFill>
          <a:ln w="12700">
            <a:solidFill>
              <a:srgbClr val="2E3F4E"/>
            </a:solidFill>
            <a:prstDash val="solid"/>
          </a:ln>
        </p:spPr>
      </p:sp>
      <p:sp>
        <p:nvSpPr>
          <p:cNvPr id="27" name="Text 25"/>
          <p:cNvSpPr txBox="1"/>
          <p:nvPr/>
        </p:nvSpPr>
        <p:spPr>
          <a:xfrm>
            <a:off x="6547104" y="4654296"/>
            <a:ext cx="4754880" cy="237744"/>
          </a:xfrm>
          <a:prstGeom prst="rect">
            <a:avLst/>
          </a:prstGeom>
          <a:noFill/>
          <a:ln/>
        </p:spPr>
        <p:txBody>
          <a:bodyPr wrap="square" lIns="0" tIns="0" rIns="0" bIns="0" rtlCol="0" anchor="ctr"/>
          <a:lstStyle/>
          <a:p>
            <a:pPr indent="0" marL="0">
              <a:buNone/>
            </a:pPr>
            <a:r>
              <a:rPr lang="en-US" sz="1150" b="1" dirty="0">
                <a:solidFill>
                  <a:srgbClr val="58BFD6"/>
                </a:solidFill>
                <a:latin typeface="Courier New" pitchFamily="34" charset="0"/>
                <a:ea typeface="Courier New" pitchFamily="34" charset="-122"/>
                <a:cs typeface="Courier New" pitchFamily="34" charset="-120"/>
              </a:rPr>
              <a:t>JourneyTimeline.jsx</a:t>
            </a:r>
            <a:endParaRPr lang="en-US" sz="1150" dirty="0"/>
          </a:p>
        </p:txBody>
      </p:sp>
      <p:sp>
        <p:nvSpPr>
          <p:cNvPr id="28" name="Text 26"/>
          <p:cNvSpPr txBox="1"/>
          <p:nvPr/>
        </p:nvSpPr>
        <p:spPr>
          <a:xfrm>
            <a:off x="6547104" y="4892040"/>
            <a:ext cx="4754880" cy="438912"/>
          </a:xfrm>
          <a:prstGeom prst="rect">
            <a:avLst/>
          </a:prstGeom>
          <a:noFill/>
          <a:ln/>
        </p:spPr>
        <p:txBody>
          <a:bodyPr wrap="square" lIns="0" tIns="0" rIns="0" bIns="0" rtlCol="0" anchor="ctr"/>
          <a:lstStyle/>
          <a:p>
            <a:pPr indent="0" marL="0">
              <a:lnSpc>
                <a:spcPct val="105000"/>
              </a:lnSpc>
              <a:buNone/>
            </a:pPr>
            <a:r>
              <a:rPr lang="en-US" sz="1100" dirty="0">
                <a:solidFill>
                  <a:srgbClr val="BCC9D5"/>
                </a:solidFill>
                <a:latin typeface="Calibri" pitchFamily="34" charset="0"/>
                <a:ea typeface="Calibri" pitchFamily="34" charset="-122"/>
                <a:cs typeface="Calibri" pitchFamily="34" charset="-120"/>
              </a:rPr>
              <a:t>One vehicle's trip, leg by leg.</a:t>
            </a:r>
            <a:endParaRPr lang="en-US" sz="1100" dirty="0"/>
          </a:p>
        </p:txBody>
      </p:sp>
      <p:sp>
        <p:nvSpPr>
          <p:cNvPr id="29" name="Shape 27"/>
          <p:cNvSpPr/>
          <p:nvPr/>
        </p:nvSpPr>
        <p:spPr>
          <a:xfrm>
            <a:off x="640080" y="5431536"/>
            <a:ext cx="5257800" cy="786384"/>
          </a:xfrm>
          <a:prstGeom prst="roundRect">
            <a:avLst>
              <a:gd name="adj" fmla="val 6977"/>
            </a:avLst>
          </a:prstGeom>
          <a:solidFill>
            <a:srgbClr val="18242F"/>
          </a:solidFill>
          <a:ln w="12700">
            <a:solidFill>
              <a:srgbClr val="2E3F4E"/>
            </a:solidFill>
            <a:prstDash val="solid"/>
          </a:ln>
        </p:spPr>
      </p:sp>
      <p:sp>
        <p:nvSpPr>
          <p:cNvPr id="30" name="Text 28"/>
          <p:cNvSpPr txBox="1"/>
          <p:nvPr/>
        </p:nvSpPr>
        <p:spPr>
          <a:xfrm>
            <a:off x="896112" y="5504688"/>
            <a:ext cx="4754880" cy="237744"/>
          </a:xfrm>
          <a:prstGeom prst="rect">
            <a:avLst/>
          </a:prstGeom>
          <a:noFill/>
          <a:ln/>
        </p:spPr>
        <p:txBody>
          <a:bodyPr wrap="square" lIns="0" tIns="0" rIns="0" bIns="0" rtlCol="0" anchor="ctr"/>
          <a:lstStyle/>
          <a:p>
            <a:pPr indent="0" marL="0">
              <a:buNone/>
            </a:pPr>
            <a:r>
              <a:rPr lang="en-US" sz="1150" b="1" dirty="0">
                <a:solidFill>
                  <a:srgbClr val="58BFD6"/>
                </a:solidFill>
                <a:latin typeface="Courier New" pitchFamily="34" charset="0"/>
                <a:ea typeface="Courier New" pitchFamily="34" charset="-122"/>
                <a:cs typeface="Courier New" pitchFamily="34" charset="-120"/>
              </a:rPr>
              <a:t>AnalyticsView.jsx</a:t>
            </a:r>
            <a:endParaRPr lang="en-US" sz="1150" dirty="0"/>
          </a:p>
        </p:txBody>
      </p:sp>
      <p:sp>
        <p:nvSpPr>
          <p:cNvPr id="31" name="Text 29"/>
          <p:cNvSpPr txBox="1"/>
          <p:nvPr/>
        </p:nvSpPr>
        <p:spPr>
          <a:xfrm>
            <a:off x="896112" y="5742432"/>
            <a:ext cx="4754880" cy="438912"/>
          </a:xfrm>
          <a:prstGeom prst="rect">
            <a:avLst/>
          </a:prstGeom>
          <a:noFill/>
          <a:ln/>
        </p:spPr>
        <p:txBody>
          <a:bodyPr wrap="square" lIns="0" tIns="0" rIns="0" bIns="0" rtlCol="0" anchor="ctr"/>
          <a:lstStyle/>
          <a:p>
            <a:pPr indent="0" marL="0">
              <a:lnSpc>
                <a:spcPct val="105000"/>
              </a:lnSpc>
              <a:buNone/>
            </a:pPr>
            <a:r>
              <a:rPr lang="en-US" sz="1100" dirty="0">
                <a:solidFill>
                  <a:srgbClr val="BCC9D5"/>
                </a:solidFill>
                <a:latin typeface="Calibri" pitchFamily="34" charset="0"/>
                <a:ea typeface="Calibri" pitchFamily="34" charset="-122"/>
                <a:cs typeface="Calibri" pitchFamily="34" charset="-120"/>
              </a:rPr>
              <a:t>The graph and the traffic tables.</a:t>
            </a:r>
            <a:endParaRPr lang="en-US" sz="1100" dirty="0"/>
          </a:p>
        </p:txBody>
      </p:sp>
      <p:sp>
        <p:nvSpPr>
          <p:cNvPr id="32" name="Shape 30"/>
          <p:cNvSpPr/>
          <p:nvPr/>
        </p:nvSpPr>
        <p:spPr>
          <a:xfrm>
            <a:off x="6291072" y="5431536"/>
            <a:ext cx="5257800" cy="786384"/>
          </a:xfrm>
          <a:prstGeom prst="roundRect">
            <a:avLst>
              <a:gd name="adj" fmla="val 6977"/>
            </a:avLst>
          </a:prstGeom>
          <a:solidFill>
            <a:srgbClr val="18242F"/>
          </a:solidFill>
          <a:ln w="12700">
            <a:solidFill>
              <a:srgbClr val="2E3F4E"/>
            </a:solidFill>
            <a:prstDash val="solid"/>
          </a:ln>
        </p:spPr>
      </p:sp>
      <p:sp>
        <p:nvSpPr>
          <p:cNvPr id="33" name="Text 31"/>
          <p:cNvSpPr txBox="1"/>
          <p:nvPr/>
        </p:nvSpPr>
        <p:spPr>
          <a:xfrm>
            <a:off x="6547104" y="5504688"/>
            <a:ext cx="4754880" cy="237744"/>
          </a:xfrm>
          <a:prstGeom prst="rect">
            <a:avLst/>
          </a:prstGeom>
          <a:noFill/>
          <a:ln/>
        </p:spPr>
        <p:txBody>
          <a:bodyPr wrap="square" lIns="0" tIns="0" rIns="0" bIns="0" rtlCol="0" anchor="ctr"/>
          <a:lstStyle/>
          <a:p>
            <a:pPr indent="0" marL="0">
              <a:buNone/>
            </a:pPr>
            <a:r>
              <a:rPr lang="en-US" sz="1150" b="1" dirty="0">
                <a:solidFill>
                  <a:srgbClr val="58BFD6"/>
                </a:solidFill>
                <a:latin typeface="Courier New" pitchFamily="34" charset="0"/>
                <a:ea typeface="Courier New" pitchFamily="34" charset="-122"/>
                <a:cs typeface="Courier New" pitchFamily="34" charset="-120"/>
              </a:rPr>
              <a:t>AlertsPanel.jsx</a:t>
            </a:r>
            <a:endParaRPr lang="en-US" sz="1150" dirty="0"/>
          </a:p>
        </p:txBody>
      </p:sp>
      <p:sp>
        <p:nvSpPr>
          <p:cNvPr id="34" name="Text 32"/>
          <p:cNvSpPr txBox="1"/>
          <p:nvPr/>
        </p:nvSpPr>
        <p:spPr>
          <a:xfrm>
            <a:off x="6547104" y="5742432"/>
            <a:ext cx="4754880" cy="438912"/>
          </a:xfrm>
          <a:prstGeom prst="rect">
            <a:avLst/>
          </a:prstGeom>
          <a:noFill/>
          <a:ln/>
        </p:spPr>
        <p:txBody>
          <a:bodyPr wrap="square" lIns="0" tIns="0" rIns="0" bIns="0" rtlCol="0" anchor="ctr"/>
          <a:lstStyle/>
          <a:p>
            <a:pPr indent="0" marL="0">
              <a:lnSpc>
                <a:spcPct val="105000"/>
              </a:lnSpc>
              <a:buNone/>
            </a:pPr>
            <a:r>
              <a:rPr lang="en-US" sz="1100" dirty="0">
                <a:solidFill>
                  <a:srgbClr val="BCC9D5"/>
                </a:solidFill>
                <a:latin typeface="Calibri" pitchFamily="34" charset="0"/>
                <a:ea typeface="Calibri" pitchFamily="34" charset="-122"/>
                <a:cs typeface="Calibri" pitchFamily="34" charset="-120"/>
              </a:rPr>
              <a:t>The red watchlist alerts.</a:t>
            </a:r>
            <a:endParaRPr lang="en-US" sz="1100" dirty="0"/>
          </a:p>
        </p:txBody>
      </p:sp>
      <p:sp>
        <p:nvSpPr>
          <p:cNvPr id="35" name="Text 33"/>
          <p:cNvSpPr txBox="1"/>
          <p:nvPr/>
        </p:nvSpPr>
        <p:spPr>
          <a:xfrm>
            <a:off x="640080" y="6291072"/>
            <a:ext cx="10911535" cy="365760"/>
          </a:xfrm>
          <a:prstGeom prst="rect">
            <a:avLst/>
          </a:prstGeom>
          <a:noFill/>
          <a:ln/>
        </p:spPr>
        <p:txBody>
          <a:bodyPr wrap="square" lIns="0" tIns="0" rIns="0" bIns="0" rtlCol="0" anchor="ctr"/>
          <a:lstStyle/>
          <a:p>
            <a:pPr indent="0" marL="0">
              <a:buNone/>
            </a:pPr>
            <a:r>
              <a:rPr lang="en-US" sz="1300" i="1" dirty="0">
                <a:solidFill>
                  <a:srgbClr val="8496A6"/>
                </a:solidFill>
                <a:latin typeface="Calibri" pitchFamily="34" charset="0"/>
                <a:ea typeface="Calibri" pitchFamily="34" charset="-122"/>
                <a:cs typeface="Calibri" pitchFamily="34" charset="-120"/>
              </a:rPr>
              <a:t>App.jsx re-asks the backend every 2 seconds for fast things and every 8 seconds for slow ones — that is why the numbers on screen keep climbing while you watch.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7 — THE THING THAT CONFUSES EVERYONE</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How the browser finds the backend</a:t>
            </a:r>
            <a:endParaRPr lang="en-US" sz="3200" dirty="0"/>
          </a:p>
        </p:txBody>
      </p:sp>
      <p:sp>
        <p:nvSpPr>
          <p:cNvPr id="4" name="Text 2"/>
          <p:cNvSpPr txBox="1"/>
          <p:nvPr/>
        </p:nvSpPr>
        <p:spPr>
          <a:xfrm>
            <a:off x="640080" y="1481328"/>
            <a:ext cx="10911535" cy="54864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The dashboard lives on port 5173. The backend lives on port 8000. A "port" is just a numbered door on your computer, so two programs can both use the network without colliding.</a:t>
            </a:r>
            <a:endParaRPr lang="en-US" sz="1600" dirty="0"/>
          </a:p>
        </p:txBody>
      </p:sp>
      <p:sp>
        <p:nvSpPr>
          <p:cNvPr id="5" name="Text 3"/>
          <p:cNvSpPr txBox="1"/>
          <p:nvPr/>
        </p:nvSpPr>
        <p:spPr>
          <a:xfrm>
            <a:off x="640080" y="2148840"/>
            <a:ext cx="10911535" cy="457200"/>
          </a:xfrm>
          <a:prstGeom prst="rect">
            <a:avLst/>
          </a:prstGeom>
          <a:noFill/>
          <a:ln/>
        </p:spPr>
        <p:txBody>
          <a:bodyPr wrap="square" lIns="0" tIns="0" rIns="0" bIns="0" rtlCol="0" anchor="ctr"/>
          <a:lstStyle/>
          <a:p>
            <a:pPr indent="0" marL="0">
              <a:lnSpc>
                <a:spcPct val="115000"/>
              </a:lnSpc>
              <a:buNone/>
            </a:pPr>
            <a:r>
              <a:rPr lang="en-US" sz="1500" dirty="0">
                <a:solidFill>
                  <a:srgbClr val="FFFFFF"/>
                </a:solidFill>
                <a:latin typeface="Calibri" pitchFamily="34" charset="0"/>
                <a:ea typeface="Calibri" pitchFamily="34" charset="-122"/>
                <a:cs typeface="Calibri" pitchFamily="34" charset="-120"/>
              </a:rPr>
              <a:t>But the dashboard code asks for /api/stats — with no port number in it at all. So how does it arrive?</a:t>
            </a:r>
            <a:endParaRPr lang="en-US" sz="1500" dirty="0"/>
          </a:p>
        </p:txBody>
      </p:sp>
      <p:sp>
        <p:nvSpPr>
          <p:cNvPr id="6" name="Shape 4"/>
          <p:cNvSpPr/>
          <p:nvPr/>
        </p:nvSpPr>
        <p:spPr>
          <a:xfrm>
            <a:off x="640080" y="2697480"/>
            <a:ext cx="10911535" cy="1371600"/>
          </a:xfrm>
          <a:prstGeom prst="roundRect">
            <a:avLst>
              <a:gd name="adj" fmla="val 4000"/>
            </a:avLst>
          </a:prstGeom>
          <a:solidFill>
            <a:srgbClr val="213040"/>
          </a:solidFill>
          <a:ln w="12700">
            <a:solidFill>
              <a:srgbClr val="2E3F4E"/>
            </a:solidFill>
            <a:prstDash val="solid"/>
          </a:ln>
        </p:spPr>
      </p:sp>
      <p:sp>
        <p:nvSpPr>
          <p:cNvPr id="7" name="Text 5"/>
          <p:cNvSpPr txBox="1"/>
          <p:nvPr/>
        </p:nvSpPr>
        <p:spPr>
          <a:xfrm>
            <a:off x="1005840" y="2834640"/>
            <a:ext cx="10180015" cy="365760"/>
          </a:xfrm>
          <a:prstGeom prst="rect">
            <a:avLst/>
          </a:prstGeom>
          <a:noFill/>
          <a:ln/>
        </p:spPr>
        <p:txBody>
          <a:bodyPr wrap="square" lIns="0" tIns="0" rIns="0" bIns="0" rtlCol="0" anchor="ctr"/>
          <a:lstStyle/>
          <a:p>
            <a:pPr indent="0" marL="0">
              <a:buNone/>
            </a:pPr>
            <a:r>
              <a:rPr lang="en-US" sz="1600" b="1" dirty="0">
                <a:solidFill>
                  <a:srgbClr val="F0B23F"/>
                </a:solidFill>
                <a:latin typeface="Arial" pitchFamily="34" charset="0"/>
                <a:ea typeface="Arial" pitchFamily="34" charset="-122"/>
                <a:cs typeface="Arial" pitchFamily="34" charset="-120"/>
              </a:rPr>
              <a:t>vite.config.js quietly forwards anything starting with /api over to port 8000.</a:t>
            </a:r>
            <a:endParaRPr lang="en-US" sz="1600" dirty="0"/>
          </a:p>
        </p:txBody>
      </p:sp>
      <p:sp>
        <p:nvSpPr>
          <p:cNvPr id="8" name="Text 6"/>
          <p:cNvSpPr txBox="1"/>
          <p:nvPr/>
        </p:nvSpPr>
        <p:spPr>
          <a:xfrm>
            <a:off x="1005840" y="3291840"/>
            <a:ext cx="10180015" cy="365760"/>
          </a:xfrm>
          <a:prstGeom prst="rect">
            <a:avLst/>
          </a:prstGeom>
          <a:noFill/>
          <a:ln/>
        </p:spPr>
        <p:txBody>
          <a:bodyPr wrap="square" lIns="0" tIns="0" rIns="0" bIns="0" rtlCol="0" anchor="ctr"/>
          <a:lstStyle/>
          <a:p>
            <a:pPr indent="0" marL="0">
              <a:buNone/>
            </a:pPr>
            <a:r>
              <a:rPr lang="en-US" sz="1400" dirty="0">
                <a:solidFill>
                  <a:srgbClr val="58BFD6"/>
                </a:solidFill>
                <a:latin typeface="Courier New" pitchFamily="34" charset="0"/>
                <a:ea typeface="Courier New" pitchFamily="34" charset="-122"/>
                <a:cs typeface="Courier New" pitchFamily="34" charset="-120"/>
              </a:rPr>
              <a:t>browser asks 5173/api/stats   →   forwarded to   →   backend at 8000/api/stats</a:t>
            </a:r>
            <a:endParaRPr lang="en-US" sz="1400" dirty="0"/>
          </a:p>
        </p:txBody>
      </p:sp>
      <p:sp>
        <p:nvSpPr>
          <p:cNvPr id="9" name="Text 7"/>
          <p:cNvSpPr txBox="1"/>
          <p:nvPr/>
        </p:nvSpPr>
        <p:spPr>
          <a:xfrm>
            <a:off x="1005840" y="3675888"/>
            <a:ext cx="10180015" cy="320040"/>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The dashboard code never has to know the backend's address.</a:t>
            </a:r>
            <a:endParaRPr lang="en-US" sz="1300" dirty="0"/>
          </a:p>
        </p:txBody>
      </p:sp>
      <p:sp>
        <p:nvSpPr>
          <p:cNvPr id="10" name="Shape 8"/>
          <p:cNvSpPr/>
          <p:nvPr/>
        </p:nvSpPr>
        <p:spPr>
          <a:xfrm>
            <a:off x="640080" y="4343400"/>
            <a:ext cx="5257800" cy="1828800"/>
          </a:xfrm>
          <a:prstGeom prst="roundRect">
            <a:avLst>
              <a:gd name="adj" fmla="val 3000"/>
            </a:avLst>
          </a:prstGeom>
          <a:solidFill>
            <a:srgbClr val="18242F"/>
          </a:solidFill>
          <a:ln w="12700">
            <a:solidFill>
              <a:srgbClr val="2E3F4E"/>
            </a:solidFill>
            <a:prstDash val="solid"/>
          </a:ln>
        </p:spPr>
      </p:sp>
      <p:sp>
        <p:nvSpPr>
          <p:cNvPr id="11" name="Text 9"/>
          <p:cNvSpPr txBox="1"/>
          <p:nvPr/>
        </p:nvSpPr>
        <p:spPr>
          <a:xfrm>
            <a:off x="914400" y="4526280"/>
            <a:ext cx="4663440" cy="292608"/>
          </a:xfrm>
          <a:prstGeom prst="rect">
            <a:avLst/>
          </a:prstGeom>
          <a:noFill/>
          <a:ln/>
        </p:spPr>
        <p:txBody>
          <a:bodyPr wrap="square" lIns="0" tIns="0" rIns="0" bIns="0" rtlCol="0" anchor="ctr"/>
          <a:lstStyle/>
          <a:p>
            <a:pPr indent="0" marL="0">
              <a:buNone/>
            </a:pPr>
            <a:r>
              <a:rPr lang="en-US" sz="1500" b="1" dirty="0">
                <a:solidFill>
                  <a:srgbClr val="46C888"/>
                </a:solidFill>
                <a:latin typeface="Arial" pitchFamily="34" charset="0"/>
                <a:ea typeface="Arial" pitchFamily="34" charset="-122"/>
                <a:cs typeface="Arial" pitchFamily="34" charset="-120"/>
              </a:rPr>
              <a:t>No CORS problems</a:t>
            </a:r>
            <a:endParaRPr lang="en-US" sz="1500" dirty="0"/>
          </a:p>
        </p:txBody>
      </p:sp>
      <p:sp>
        <p:nvSpPr>
          <p:cNvPr id="12" name="Text 10"/>
          <p:cNvSpPr txBox="1"/>
          <p:nvPr/>
        </p:nvSpPr>
        <p:spPr>
          <a:xfrm>
            <a:off x="914400" y="4864608"/>
            <a:ext cx="4709160" cy="1188720"/>
          </a:xfrm>
          <a:prstGeom prst="rect">
            <a:avLst/>
          </a:prstGeom>
          <a:noFill/>
          <a:ln/>
        </p:spPr>
        <p:txBody>
          <a:bodyPr wrap="square" lIns="0" tIns="0" rIns="0" bIns="0" rtlCol="0" anchor="ctr"/>
          <a:lstStyle/>
          <a:p>
            <a:pPr indent="0" marL="0">
              <a:lnSpc>
                <a:spcPct val="115000"/>
              </a:lnSpc>
              <a:buNone/>
            </a:pPr>
            <a:r>
              <a:rPr lang="en-US" sz="1300" dirty="0">
                <a:solidFill>
                  <a:srgbClr val="BCC9D5"/>
                </a:solidFill>
                <a:latin typeface="Calibri" pitchFamily="34" charset="0"/>
                <a:ea typeface="Calibri" pitchFamily="34" charset="-122"/>
                <a:cs typeface="Calibri" pitchFamily="34" charset="-120"/>
              </a:rPr>
              <a:t>Browsers block a page on one address from calling another, for security. Because everything appears to come from one address, that rule never fires.</a:t>
            </a:r>
            <a:endParaRPr lang="en-US" sz="1300" dirty="0"/>
          </a:p>
        </p:txBody>
      </p:sp>
      <p:sp>
        <p:nvSpPr>
          <p:cNvPr id="13" name="Shape 11"/>
          <p:cNvSpPr/>
          <p:nvPr/>
        </p:nvSpPr>
        <p:spPr>
          <a:xfrm>
            <a:off x="6291072" y="4343400"/>
            <a:ext cx="5257800" cy="1828800"/>
          </a:xfrm>
          <a:prstGeom prst="roundRect">
            <a:avLst>
              <a:gd name="adj" fmla="val 3000"/>
            </a:avLst>
          </a:prstGeom>
          <a:solidFill>
            <a:srgbClr val="18242F"/>
          </a:solidFill>
          <a:ln w="12700">
            <a:solidFill>
              <a:srgbClr val="2E3F4E"/>
            </a:solidFill>
            <a:prstDash val="solid"/>
          </a:ln>
        </p:spPr>
      </p:sp>
      <p:sp>
        <p:nvSpPr>
          <p:cNvPr id="14" name="Text 12"/>
          <p:cNvSpPr txBox="1"/>
          <p:nvPr/>
        </p:nvSpPr>
        <p:spPr>
          <a:xfrm>
            <a:off x="6565392" y="4526280"/>
            <a:ext cx="4663440" cy="292608"/>
          </a:xfrm>
          <a:prstGeom prst="rect">
            <a:avLst/>
          </a:prstGeom>
          <a:noFill/>
          <a:ln/>
        </p:spPr>
        <p:txBody>
          <a:bodyPr wrap="square" lIns="0" tIns="0" rIns="0" bIns="0" rtlCol="0" anchor="ctr"/>
          <a:lstStyle/>
          <a:p>
            <a:pPr indent="0" marL="0">
              <a:buNone/>
            </a:pPr>
            <a:r>
              <a:rPr lang="en-US" sz="1500" b="1" dirty="0">
                <a:solidFill>
                  <a:srgbClr val="46C888"/>
                </a:solidFill>
                <a:latin typeface="Arial" pitchFamily="34" charset="0"/>
                <a:ea typeface="Arial" pitchFamily="34" charset="-122"/>
                <a:cs typeface="Arial" pitchFamily="34" charset="-120"/>
              </a:rPr>
              <a:t>Nothing to change later</a:t>
            </a:r>
            <a:endParaRPr lang="en-US" sz="1500" dirty="0"/>
          </a:p>
        </p:txBody>
      </p:sp>
      <p:sp>
        <p:nvSpPr>
          <p:cNvPr id="15" name="Text 13"/>
          <p:cNvSpPr txBox="1"/>
          <p:nvPr/>
        </p:nvSpPr>
        <p:spPr>
          <a:xfrm>
            <a:off x="6565392" y="4864608"/>
            <a:ext cx="4709160" cy="1188720"/>
          </a:xfrm>
          <a:prstGeom prst="rect">
            <a:avLst/>
          </a:prstGeom>
          <a:noFill/>
          <a:ln/>
        </p:spPr>
        <p:txBody>
          <a:bodyPr wrap="square" lIns="0" tIns="0" rIns="0" bIns="0" rtlCol="0" anchor="ctr"/>
          <a:lstStyle/>
          <a:p>
            <a:pPr indent="0" marL="0">
              <a:lnSpc>
                <a:spcPct val="115000"/>
              </a:lnSpc>
              <a:buNone/>
            </a:pPr>
            <a:r>
              <a:rPr lang="en-US" sz="1300" dirty="0">
                <a:solidFill>
                  <a:srgbClr val="BCC9D5"/>
                </a:solidFill>
                <a:latin typeface="Calibri" pitchFamily="34" charset="0"/>
                <a:ea typeface="Calibri" pitchFamily="34" charset="-122"/>
                <a:cs typeface="Calibri" pitchFamily="34" charset="-120"/>
              </a:rPr>
              <a:t>When you eventually serve both from one real address in production, the dashboard code is already correct. Not one line changes.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7 — ONE MORE TRICK</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The "live video" is not video at all</a:t>
            </a:r>
            <a:endParaRPr lang="en-US" sz="3200" dirty="0"/>
          </a:p>
        </p:txBody>
      </p:sp>
      <p:sp>
        <p:nvSpPr>
          <p:cNvPr id="4" name="Text 2"/>
          <p:cNvSpPr txBox="1"/>
          <p:nvPr/>
        </p:nvSpPr>
        <p:spPr>
          <a:xfrm>
            <a:off x="640080" y="1481328"/>
            <a:ext cx="10911535" cy="457200"/>
          </a:xfrm>
          <a:prstGeom prst="rect">
            <a:avLst/>
          </a:prstGeom>
          <a:noFill/>
          <a:ln/>
        </p:spPr>
        <p:txBody>
          <a:bodyPr wrap="square" lIns="0" tIns="0" rIns="0" bIns="0" rtlCol="0" anchor="ctr"/>
          <a:lstStyle/>
          <a:p>
            <a:pPr indent="0" marL="0">
              <a:lnSpc>
                <a:spcPct val="115000"/>
              </a:lnSpc>
              <a:buNone/>
            </a:pPr>
            <a:r>
              <a:rPr lang="en-US" sz="1600" dirty="0">
                <a:solidFill>
                  <a:srgbClr val="BCC9D5"/>
                </a:solidFill>
                <a:latin typeface="Calibri" pitchFamily="34" charset="0"/>
                <a:ea typeface="Calibri" pitchFamily="34" charset="-122"/>
                <a:cs typeface="Calibri" pitchFamily="34" charset="-120"/>
              </a:rPr>
              <a:t>Streaming real video into a web page is genuinely hard and breaks in interesting ways. We refused to do it.</a:t>
            </a:r>
            <a:endParaRPr lang="en-US" sz="1600" dirty="0"/>
          </a:p>
        </p:txBody>
      </p:sp>
      <p:sp>
        <p:nvSpPr>
          <p:cNvPr id="5" name="Shape 3"/>
          <p:cNvSpPr/>
          <p:nvPr/>
        </p:nvSpPr>
        <p:spPr>
          <a:xfrm>
            <a:off x="640080" y="2103120"/>
            <a:ext cx="10911535" cy="914400"/>
          </a:xfrm>
          <a:prstGeom prst="roundRect">
            <a:avLst>
              <a:gd name="adj" fmla="val 6000"/>
            </a:avLst>
          </a:prstGeom>
          <a:solidFill>
            <a:srgbClr val="18242F"/>
          </a:solidFill>
          <a:ln w="12700">
            <a:solidFill>
              <a:srgbClr val="2E3F4E"/>
            </a:solidFill>
            <a:prstDash val="solid"/>
          </a:ln>
        </p:spPr>
      </p:sp>
      <p:sp>
        <p:nvSpPr>
          <p:cNvPr id="6" name="Shape 4"/>
          <p:cNvSpPr/>
          <p:nvPr/>
        </p:nvSpPr>
        <p:spPr>
          <a:xfrm>
            <a:off x="914400" y="2331720"/>
            <a:ext cx="457200" cy="457200"/>
          </a:xfrm>
          <a:prstGeom prst="ellipse">
            <a:avLst/>
          </a:prstGeom>
          <a:solidFill>
            <a:srgbClr val="F0B23F"/>
          </a:solidFill>
          <a:ln w="12700">
            <a:solidFill>
              <a:srgbClr val="F0B23F"/>
            </a:solidFill>
            <a:prstDash val="solid"/>
          </a:ln>
        </p:spPr>
      </p:sp>
      <p:sp>
        <p:nvSpPr>
          <p:cNvPr id="7" name="Text 5"/>
          <p:cNvSpPr txBox="1"/>
          <p:nvPr/>
        </p:nvSpPr>
        <p:spPr>
          <a:xfrm>
            <a:off x="914400" y="2331720"/>
            <a:ext cx="457200" cy="45720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1</a:t>
            </a:r>
            <a:endParaRPr lang="en-US" sz="1500" dirty="0"/>
          </a:p>
        </p:txBody>
      </p:sp>
      <p:sp>
        <p:nvSpPr>
          <p:cNvPr id="8" name="Text 6"/>
          <p:cNvSpPr txBox="1"/>
          <p:nvPr/>
        </p:nvSpPr>
        <p:spPr>
          <a:xfrm>
            <a:off x="1527048" y="2231136"/>
            <a:ext cx="658368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Each camera program writes one JPEG picture to disk</a:t>
            </a:r>
            <a:endParaRPr lang="en-US" sz="1400" dirty="0"/>
          </a:p>
        </p:txBody>
      </p:sp>
      <p:sp>
        <p:nvSpPr>
          <p:cNvPr id="9" name="Text 7"/>
          <p:cNvSpPr txBox="1"/>
          <p:nvPr/>
        </p:nvSpPr>
        <p:spPr>
          <a:xfrm>
            <a:off x="1527048" y="2560320"/>
            <a:ext cx="8229600" cy="347472"/>
          </a:xfrm>
          <a:prstGeom prst="rect">
            <a:avLst/>
          </a:prstGeom>
          <a:noFill/>
          <a:ln/>
        </p:spPr>
        <p:txBody>
          <a:bodyPr wrap="square" lIns="0" tIns="0" rIns="0" bIns="0" rtlCol="0" anchor="ctr"/>
          <a:lstStyle/>
          <a:p>
            <a:pPr indent="0" marL="0">
              <a:buNone/>
            </a:pPr>
            <a:r>
              <a:rPr lang="en-US" sz="1150" dirty="0">
                <a:solidFill>
                  <a:srgbClr val="8496A6"/>
                </a:solidFill>
                <a:latin typeface="Courier New" pitchFamily="34" charset="0"/>
                <a:ea typeface="Courier New" pitchFamily="34" charset="-122"/>
                <a:cs typeface="Courier New" pitchFamily="34" charset="-120"/>
              </a:rPr>
              <a:t>data/live/CAM01.jpg — overwritten again and again</a:t>
            </a:r>
            <a:endParaRPr lang="en-US" sz="1150" dirty="0"/>
          </a:p>
        </p:txBody>
      </p:sp>
      <p:sp>
        <p:nvSpPr>
          <p:cNvPr id="10" name="Shape 8"/>
          <p:cNvSpPr/>
          <p:nvPr/>
        </p:nvSpPr>
        <p:spPr>
          <a:xfrm>
            <a:off x="640080" y="3154680"/>
            <a:ext cx="10911535" cy="914400"/>
          </a:xfrm>
          <a:prstGeom prst="roundRect">
            <a:avLst>
              <a:gd name="adj" fmla="val 6000"/>
            </a:avLst>
          </a:prstGeom>
          <a:solidFill>
            <a:srgbClr val="18242F"/>
          </a:solidFill>
          <a:ln w="12700">
            <a:solidFill>
              <a:srgbClr val="2E3F4E"/>
            </a:solidFill>
            <a:prstDash val="solid"/>
          </a:ln>
        </p:spPr>
      </p:sp>
      <p:sp>
        <p:nvSpPr>
          <p:cNvPr id="11" name="Shape 9"/>
          <p:cNvSpPr/>
          <p:nvPr/>
        </p:nvSpPr>
        <p:spPr>
          <a:xfrm>
            <a:off x="914400" y="3383280"/>
            <a:ext cx="457200" cy="457200"/>
          </a:xfrm>
          <a:prstGeom prst="ellipse">
            <a:avLst/>
          </a:prstGeom>
          <a:solidFill>
            <a:srgbClr val="F0B23F"/>
          </a:solidFill>
          <a:ln w="12700">
            <a:solidFill>
              <a:srgbClr val="F0B23F"/>
            </a:solidFill>
            <a:prstDash val="solid"/>
          </a:ln>
        </p:spPr>
      </p:sp>
      <p:sp>
        <p:nvSpPr>
          <p:cNvPr id="12" name="Text 10"/>
          <p:cNvSpPr txBox="1"/>
          <p:nvPr/>
        </p:nvSpPr>
        <p:spPr>
          <a:xfrm>
            <a:off x="914400" y="3383280"/>
            <a:ext cx="457200" cy="45720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2</a:t>
            </a:r>
            <a:endParaRPr lang="en-US" sz="1500" dirty="0"/>
          </a:p>
        </p:txBody>
      </p:sp>
      <p:sp>
        <p:nvSpPr>
          <p:cNvPr id="13" name="Text 11"/>
          <p:cNvSpPr txBox="1"/>
          <p:nvPr/>
        </p:nvSpPr>
        <p:spPr>
          <a:xfrm>
            <a:off x="1527048" y="3282696"/>
            <a:ext cx="658368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The backend serves those pictures as a rapid sequence</a:t>
            </a:r>
            <a:endParaRPr lang="en-US" sz="1400" dirty="0"/>
          </a:p>
        </p:txBody>
      </p:sp>
      <p:sp>
        <p:nvSpPr>
          <p:cNvPr id="14" name="Text 12"/>
          <p:cNvSpPr txBox="1"/>
          <p:nvPr/>
        </p:nvSpPr>
        <p:spPr>
          <a:xfrm>
            <a:off x="1527048" y="3611880"/>
            <a:ext cx="8229600" cy="347472"/>
          </a:xfrm>
          <a:prstGeom prst="rect">
            <a:avLst/>
          </a:prstGeom>
          <a:noFill/>
          <a:ln/>
        </p:spPr>
        <p:txBody>
          <a:bodyPr wrap="square" lIns="0" tIns="0" rIns="0" bIns="0" rtlCol="0" anchor="ctr"/>
          <a:lstStyle/>
          <a:p>
            <a:pPr indent="0" marL="0">
              <a:buNone/>
            </a:pPr>
            <a:r>
              <a:rPr lang="en-US" sz="1150" dirty="0">
                <a:solidFill>
                  <a:srgbClr val="8496A6"/>
                </a:solidFill>
                <a:latin typeface="Courier New" pitchFamily="34" charset="0"/>
                <a:ea typeface="Courier New" pitchFamily="34" charset="-122"/>
                <a:cs typeface="Courier New" pitchFamily="34" charset="-120"/>
              </a:rPr>
              <a:t>a format every browser has understood for 20 years</a:t>
            </a:r>
            <a:endParaRPr lang="en-US" sz="1150" dirty="0"/>
          </a:p>
        </p:txBody>
      </p:sp>
      <p:sp>
        <p:nvSpPr>
          <p:cNvPr id="15" name="Shape 13"/>
          <p:cNvSpPr/>
          <p:nvPr/>
        </p:nvSpPr>
        <p:spPr>
          <a:xfrm>
            <a:off x="640080" y="4206240"/>
            <a:ext cx="10911535" cy="914400"/>
          </a:xfrm>
          <a:prstGeom prst="roundRect">
            <a:avLst>
              <a:gd name="adj" fmla="val 6000"/>
            </a:avLst>
          </a:prstGeom>
          <a:solidFill>
            <a:srgbClr val="18242F"/>
          </a:solidFill>
          <a:ln w="12700">
            <a:solidFill>
              <a:srgbClr val="2E3F4E"/>
            </a:solidFill>
            <a:prstDash val="solid"/>
          </a:ln>
        </p:spPr>
      </p:sp>
      <p:sp>
        <p:nvSpPr>
          <p:cNvPr id="16" name="Shape 14"/>
          <p:cNvSpPr/>
          <p:nvPr/>
        </p:nvSpPr>
        <p:spPr>
          <a:xfrm>
            <a:off x="914400" y="4434840"/>
            <a:ext cx="457200" cy="457200"/>
          </a:xfrm>
          <a:prstGeom prst="ellipse">
            <a:avLst/>
          </a:prstGeom>
          <a:solidFill>
            <a:srgbClr val="F0B23F"/>
          </a:solidFill>
          <a:ln w="12700">
            <a:solidFill>
              <a:srgbClr val="F0B23F"/>
            </a:solidFill>
            <a:prstDash val="solid"/>
          </a:ln>
        </p:spPr>
      </p:sp>
      <p:sp>
        <p:nvSpPr>
          <p:cNvPr id="17" name="Text 15"/>
          <p:cNvSpPr txBox="1"/>
          <p:nvPr/>
        </p:nvSpPr>
        <p:spPr>
          <a:xfrm>
            <a:off x="914400" y="4434840"/>
            <a:ext cx="457200" cy="457200"/>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3</a:t>
            </a:r>
            <a:endParaRPr lang="en-US" sz="1500" dirty="0"/>
          </a:p>
        </p:txBody>
      </p:sp>
      <p:sp>
        <p:nvSpPr>
          <p:cNvPr id="18" name="Text 16"/>
          <p:cNvSpPr txBox="1"/>
          <p:nvPr/>
        </p:nvSpPr>
        <p:spPr>
          <a:xfrm>
            <a:off x="1527048" y="4334256"/>
            <a:ext cx="658368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The page shows it in an ordinary image tag</a:t>
            </a:r>
            <a:endParaRPr lang="en-US" sz="1400" dirty="0"/>
          </a:p>
        </p:txBody>
      </p:sp>
      <p:sp>
        <p:nvSpPr>
          <p:cNvPr id="19" name="Text 17"/>
          <p:cNvSpPr txBox="1"/>
          <p:nvPr/>
        </p:nvSpPr>
        <p:spPr>
          <a:xfrm>
            <a:off x="1527048" y="4663440"/>
            <a:ext cx="8229600" cy="347472"/>
          </a:xfrm>
          <a:prstGeom prst="rect">
            <a:avLst/>
          </a:prstGeom>
          <a:noFill/>
          <a:ln/>
        </p:spPr>
        <p:txBody>
          <a:bodyPr wrap="square" lIns="0" tIns="0" rIns="0" bIns="0" rtlCol="0" anchor="ctr"/>
          <a:lstStyle/>
          <a:p>
            <a:pPr indent="0" marL="0">
              <a:buNone/>
            </a:pPr>
            <a:r>
              <a:rPr lang="en-US" sz="1150" dirty="0">
                <a:solidFill>
                  <a:srgbClr val="8496A6"/>
                </a:solidFill>
                <a:latin typeface="Courier New" pitchFamily="34" charset="0"/>
                <a:ea typeface="Courier New" pitchFamily="34" charset="-122"/>
                <a:cs typeface="Courier New" pitchFamily="34" charset="-120"/>
              </a:rPr>
              <a:t>no player, no plugin, nothing to go wrong</a:t>
            </a:r>
            <a:endParaRPr lang="en-US" sz="1150" dirty="0"/>
          </a:p>
        </p:txBody>
      </p:sp>
      <p:sp>
        <p:nvSpPr>
          <p:cNvPr id="20" name="Shape 18"/>
          <p:cNvSpPr/>
          <p:nvPr/>
        </p:nvSpPr>
        <p:spPr>
          <a:xfrm>
            <a:off x="640080" y="5394960"/>
            <a:ext cx="10911535" cy="1051560"/>
          </a:xfrm>
          <a:prstGeom prst="roundRect">
            <a:avLst>
              <a:gd name="adj" fmla="val 5217"/>
            </a:avLst>
          </a:prstGeom>
          <a:solidFill>
            <a:srgbClr val="1E2A1B"/>
          </a:solidFill>
          <a:ln w="12700">
            <a:solidFill>
              <a:srgbClr val="2E3F4E"/>
            </a:solidFill>
            <a:prstDash val="solid"/>
          </a:ln>
        </p:spPr>
      </p:sp>
      <p:sp>
        <p:nvSpPr>
          <p:cNvPr id="21" name="Text 19"/>
          <p:cNvSpPr txBox="1"/>
          <p:nvPr/>
        </p:nvSpPr>
        <p:spPr>
          <a:xfrm>
            <a:off x="1005840" y="5394960"/>
            <a:ext cx="10180015" cy="1051560"/>
          </a:xfrm>
          <a:prstGeom prst="rect">
            <a:avLst/>
          </a:prstGeom>
          <a:noFill/>
          <a:ln/>
        </p:spPr>
        <p:txBody>
          <a:bodyPr wrap="square" lIns="0" tIns="0" rIns="0" bIns="0" rtlCol="0" anchor="ctr"/>
          <a:lstStyle/>
          <a:p>
            <a:pPr indent="0" marL="0">
              <a:buNone/>
            </a:pPr>
            <a:r>
              <a:rPr lang="en-US" sz="1450" dirty="0">
                <a:solidFill>
                  <a:srgbClr val="46C888"/>
                </a:solidFill>
                <a:latin typeface="Calibri" pitchFamily="34" charset="0"/>
                <a:ea typeface="Calibri" pitchFamily="34" charset="-122"/>
                <a:cs typeface="Calibri" pitchFamily="34" charset="-120"/>
              </a:rPr>
              <a:t>Boring on purpose. If the picture feed dies, the numbers, the map and the journeys all carry on working. Nothing takes the dashboard down with it.</a:t>
            </a:r>
            <a:endParaRPr lang="en-US" sz="14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60A0E"/>
        </a:solidFill>
      </p:bgPr>
    </p:bg>
    <p:spTree>
      <p:nvGrpSpPr>
        <p:cNvPr id="1" name=""/>
        <p:cNvGrpSpPr/>
        <p:nvPr/>
      </p:nvGrpSpPr>
      <p:grpSpPr>
        <a:xfrm>
          <a:off x="0" y="0"/>
          <a:ext cx="0" cy="0"/>
          <a:chOff x="0" y="0"/>
          <a:chExt cx="0" cy="0"/>
        </a:xfrm>
      </p:grpSpPr>
      <p:sp>
        <p:nvSpPr>
          <p:cNvPr id="2" name="Text 0"/>
          <p:cNvSpPr txBox="1"/>
          <p:nvPr/>
        </p:nvSpPr>
        <p:spPr>
          <a:xfrm>
            <a:off x="640080" y="1325880"/>
            <a:ext cx="5394960" cy="365760"/>
          </a:xfrm>
          <a:prstGeom prst="rect">
            <a:avLst/>
          </a:prstGeom>
          <a:noFill/>
          <a:ln/>
        </p:spPr>
        <p:txBody>
          <a:bodyPr wrap="square" lIns="0" tIns="0" rIns="0" bIns="0" rtlCol="0" anchor="ctr"/>
          <a:lstStyle/>
          <a:p>
            <a:pPr indent="0" marL="0">
              <a:buNone/>
            </a:pPr>
            <a:r>
              <a:rPr lang="en-US" sz="1200" b="1" spc="250" kern="0" dirty="0">
                <a:solidFill>
                  <a:srgbClr val="F0B23F"/>
                </a:solidFill>
                <a:latin typeface="Arial" pitchFamily="34" charset="0"/>
                <a:ea typeface="Arial" pitchFamily="34" charset="-122"/>
                <a:cs typeface="Arial" pitchFamily="34" charset="-120"/>
              </a:rPr>
              <a:t>Part 8</a:t>
            </a:r>
            <a:endParaRPr lang="en-US" sz="1200" dirty="0"/>
          </a:p>
        </p:txBody>
      </p:sp>
      <p:sp>
        <p:nvSpPr>
          <p:cNvPr id="3" name="Text 1"/>
          <p:cNvSpPr txBox="1"/>
          <p:nvPr/>
        </p:nvSpPr>
        <p:spPr>
          <a:xfrm>
            <a:off x="640080" y="1783080"/>
            <a:ext cx="7315200" cy="2560320"/>
          </a:xfrm>
          <a:prstGeom prst="rect">
            <a:avLst/>
          </a:prstGeom>
          <a:noFill/>
          <a:ln/>
        </p:spPr>
        <p:txBody>
          <a:bodyPr wrap="square" lIns="0" tIns="0" rIns="0" bIns="0" rtlCol="0" anchor="ctr"/>
          <a:lstStyle/>
          <a:p>
            <a:pPr indent="0" marL="0">
              <a:lnSpc>
                <a:spcPct val="98000"/>
              </a:lnSpc>
              <a:buNone/>
            </a:pPr>
            <a:r>
              <a:rPr lang="en-US" sz="4600" b="1" dirty="0">
                <a:solidFill>
                  <a:srgbClr val="FFFFFF"/>
                </a:solidFill>
                <a:latin typeface="Arial" pitchFamily="34" charset="0"/>
                <a:ea typeface="Arial" pitchFamily="34" charset="-122"/>
                <a:cs typeface="Arial" pitchFamily="34" charset="-120"/>
              </a:rPr>
              <a:t>Follow one bus</a:t>
            </a:r>
            <a:endParaRPr lang="en-US" sz="4600" dirty="0"/>
          </a:p>
          <a:p>
            <a:pPr indent="0" marL="0">
              <a:lnSpc>
                <a:spcPct val="98000"/>
              </a:lnSpc>
              <a:buNone/>
            </a:pPr>
            <a:r>
              <a:rPr lang="en-US" sz="4600" b="1" dirty="0">
                <a:solidFill>
                  <a:srgbClr val="FFFFFF"/>
                </a:solidFill>
                <a:latin typeface="Arial" pitchFamily="34" charset="0"/>
                <a:ea typeface="Arial" pitchFamily="34" charset="-122"/>
                <a:cs typeface="Arial" pitchFamily="34" charset="-120"/>
              </a:rPr>
              <a:t>all the way</a:t>
            </a:r>
            <a:endParaRPr lang="en-US" sz="4600" dirty="0"/>
          </a:p>
          <a:p>
            <a:pPr indent="0" marL="0">
              <a:lnSpc>
                <a:spcPct val="98000"/>
              </a:lnSpc>
              <a:buNone/>
            </a:pPr>
            <a:r>
              <a:rPr lang="en-US" sz="4600" b="1" dirty="0">
                <a:solidFill>
                  <a:srgbClr val="FFFFFF"/>
                </a:solidFill>
                <a:latin typeface="Arial" pitchFamily="34" charset="0"/>
                <a:ea typeface="Arial" pitchFamily="34" charset="-122"/>
                <a:cs typeface="Arial" pitchFamily="34" charset="-120"/>
              </a:rPr>
              <a:t>through</a:t>
            </a:r>
            <a:endParaRPr lang="en-US" sz="4600" dirty="0"/>
          </a:p>
        </p:txBody>
      </p:sp>
      <p:sp>
        <p:nvSpPr>
          <p:cNvPr id="4" name="Text 2"/>
          <p:cNvSpPr txBox="1"/>
          <p:nvPr/>
        </p:nvSpPr>
        <p:spPr>
          <a:xfrm>
            <a:off x="640080" y="4572000"/>
            <a:ext cx="7315200" cy="914400"/>
          </a:xfrm>
          <a:prstGeom prst="rect">
            <a:avLst/>
          </a:prstGeom>
          <a:noFill/>
          <a:ln/>
        </p:spPr>
        <p:txBody>
          <a:bodyPr wrap="square" lIns="0" tIns="0" rIns="0" bIns="0" rtlCol="0" anchor="ctr"/>
          <a:lstStyle/>
          <a:p>
            <a:pPr indent="0" marL="0">
              <a:lnSpc>
                <a:spcPct val="125000"/>
              </a:lnSpc>
              <a:buNone/>
            </a:pPr>
            <a:r>
              <a:rPr lang="en-US" sz="1700" dirty="0">
                <a:solidFill>
                  <a:srgbClr val="BCC9D5"/>
                </a:solidFill>
                <a:latin typeface="Calibri" pitchFamily="34" charset="0"/>
                <a:ea typeface="Calibri" pitchFamily="34" charset="-122"/>
                <a:cs typeface="Calibri" pitchFamily="34" charset="-120"/>
              </a:rPr>
              <a:t>Every file, in order, for one real vehicle.</a:t>
            </a:r>
            <a:endParaRPr lang="en-US" sz="1700" dirty="0"/>
          </a:p>
          <a:p>
            <a:pPr indent="0" marL="0">
              <a:lnSpc>
                <a:spcPct val="125000"/>
              </a:lnSpc>
              <a:buNone/>
            </a:pPr>
            <a:r>
              <a:rPr lang="en-US" sz="1700" dirty="0">
                <a:solidFill>
                  <a:srgbClr val="BCC9D5"/>
                </a:solidFill>
                <a:latin typeface="Calibri" pitchFamily="34" charset="0"/>
                <a:ea typeface="Calibri" pitchFamily="34" charset="-122"/>
                <a:cs typeface="Calibri" pitchFamily="34" charset="-120"/>
              </a:rPr>
              <a:t>If you can tell this story, you understand the project.</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8 — ONE BUS, END TO END</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A bus enters CAM01 at 10:02</a:t>
            </a:r>
            <a:endParaRPr lang="en-US" sz="2800" dirty="0"/>
          </a:p>
        </p:txBody>
      </p:sp>
      <p:sp>
        <p:nvSpPr>
          <p:cNvPr id="4" name="Shape 2"/>
          <p:cNvSpPr/>
          <p:nvPr/>
        </p:nvSpPr>
        <p:spPr>
          <a:xfrm>
            <a:off x="640080" y="1600200"/>
            <a:ext cx="5257800" cy="603504"/>
          </a:xfrm>
          <a:prstGeom prst="roundRect">
            <a:avLst>
              <a:gd name="adj" fmla="val 9091"/>
            </a:avLst>
          </a:prstGeom>
          <a:solidFill>
            <a:srgbClr val="18242F"/>
          </a:solidFill>
          <a:ln w="12700">
            <a:solidFill>
              <a:srgbClr val="2E3F4E"/>
            </a:solidFill>
            <a:prstDash val="solid"/>
          </a:ln>
        </p:spPr>
      </p:sp>
      <p:sp>
        <p:nvSpPr>
          <p:cNvPr id="5" name="Text 3"/>
          <p:cNvSpPr txBox="1"/>
          <p:nvPr/>
        </p:nvSpPr>
        <p:spPr>
          <a:xfrm>
            <a:off x="841248" y="1645920"/>
            <a:ext cx="4846320" cy="237744"/>
          </a:xfrm>
          <a:prstGeom prst="rect">
            <a:avLst/>
          </a:prstGeom>
          <a:noFill/>
          <a:ln/>
        </p:spPr>
        <p:txBody>
          <a:bodyPr wrap="square" lIns="0" tIns="0" rIns="0" bIns="0" rtlCol="0" anchor="ctr"/>
          <a:lstStyle/>
          <a:p>
            <a:pPr indent="0" marL="0">
              <a:buNone/>
            </a:pPr>
            <a:r>
              <a:rPr lang="en-US" sz="1050" b="1" dirty="0">
                <a:solidFill>
                  <a:srgbClr val="58BFD6"/>
                </a:solidFill>
                <a:latin typeface="Courier New" pitchFamily="34" charset="0"/>
                <a:ea typeface="Courier New" pitchFamily="34" charset="-122"/>
                <a:cs typeface="Courier New" pitchFamily="34" charset="-120"/>
              </a:rPr>
              <a:t>video_source.py</a:t>
            </a:r>
            <a:endParaRPr lang="en-US" sz="1050" dirty="0"/>
          </a:p>
        </p:txBody>
      </p:sp>
      <p:sp>
        <p:nvSpPr>
          <p:cNvPr id="6" name="Text 4"/>
          <p:cNvSpPr txBox="1"/>
          <p:nvPr/>
        </p:nvSpPr>
        <p:spPr>
          <a:xfrm>
            <a:off x="841248" y="1874520"/>
            <a:ext cx="4846320" cy="310896"/>
          </a:xfrm>
          <a:prstGeom prst="rect">
            <a:avLst/>
          </a:prstGeom>
          <a:noFill/>
          <a:ln/>
        </p:spPr>
        <p:txBody>
          <a:bodyPr wrap="square" lIns="0" tIns="0" rIns="0" bIns="0" rtlCol="0" anchor="ctr"/>
          <a:lstStyle/>
          <a:p>
            <a:pPr indent="0" marL="0">
              <a:buNone/>
            </a:pPr>
            <a:r>
              <a:rPr lang="en-US" sz="1100" dirty="0">
                <a:solidFill>
                  <a:srgbClr val="BCC9D5"/>
                </a:solidFill>
                <a:latin typeface="Calibri" pitchFamily="34" charset="0"/>
                <a:ea typeface="Calibri" pitchFamily="34" charset="-122"/>
                <a:cs typeface="Calibri" pitchFamily="34" charset="-120"/>
              </a:rPr>
              <a:t>Frame arrives. Stamped 10:02:14 on the shared city clock.</a:t>
            </a:r>
            <a:endParaRPr lang="en-US" sz="1100" dirty="0"/>
          </a:p>
        </p:txBody>
      </p:sp>
      <p:sp>
        <p:nvSpPr>
          <p:cNvPr id="7" name="Shape 5"/>
          <p:cNvSpPr/>
          <p:nvPr/>
        </p:nvSpPr>
        <p:spPr>
          <a:xfrm>
            <a:off x="640080" y="2295144"/>
            <a:ext cx="5257800" cy="603504"/>
          </a:xfrm>
          <a:prstGeom prst="roundRect">
            <a:avLst>
              <a:gd name="adj" fmla="val 9091"/>
            </a:avLst>
          </a:prstGeom>
          <a:solidFill>
            <a:srgbClr val="18242F"/>
          </a:solidFill>
          <a:ln w="12700">
            <a:solidFill>
              <a:srgbClr val="2E3F4E"/>
            </a:solidFill>
            <a:prstDash val="solid"/>
          </a:ln>
        </p:spPr>
      </p:sp>
      <p:sp>
        <p:nvSpPr>
          <p:cNvPr id="8" name="Text 6"/>
          <p:cNvSpPr txBox="1"/>
          <p:nvPr/>
        </p:nvSpPr>
        <p:spPr>
          <a:xfrm>
            <a:off x="841248" y="2340864"/>
            <a:ext cx="4846320" cy="237744"/>
          </a:xfrm>
          <a:prstGeom prst="rect">
            <a:avLst/>
          </a:prstGeom>
          <a:noFill/>
          <a:ln/>
        </p:spPr>
        <p:txBody>
          <a:bodyPr wrap="square" lIns="0" tIns="0" rIns="0" bIns="0" rtlCol="0" anchor="ctr"/>
          <a:lstStyle/>
          <a:p>
            <a:pPr indent="0" marL="0">
              <a:buNone/>
            </a:pPr>
            <a:r>
              <a:rPr lang="en-US" sz="1050" b="1" dirty="0">
                <a:solidFill>
                  <a:srgbClr val="58BFD6"/>
                </a:solidFill>
                <a:latin typeface="Courier New" pitchFamily="34" charset="0"/>
                <a:ea typeface="Courier New" pitchFamily="34" charset="-122"/>
                <a:cs typeface="Courier New" pitchFamily="34" charset="-120"/>
              </a:rPr>
              <a:t>detector.py</a:t>
            </a:r>
            <a:endParaRPr lang="en-US" sz="1050" dirty="0"/>
          </a:p>
        </p:txBody>
      </p:sp>
      <p:sp>
        <p:nvSpPr>
          <p:cNvPr id="9" name="Text 7"/>
          <p:cNvSpPr txBox="1"/>
          <p:nvPr/>
        </p:nvSpPr>
        <p:spPr>
          <a:xfrm>
            <a:off x="841248" y="2569464"/>
            <a:ext cx="4846320" cy="310896"/>
          </a:xfrm>
          <a:prstGeom prst="rect">
            <a:avLst/>
          </a:prstGeom>
          <a:noFill/>
          <a:ln/>
        </p:spPr>
        <p:txBody>
          <a:bodyPr wrap="square" lIns="0" tIns="0" rIns="0" bIns="0" rtlCol="0" anchor="ctr"/>
          <a:lstStyle/>
          <a:p>
            <a:pPr indent="0" marL="0">
              <a:buNone/>
            </a:pPr>
            <a:r>
              <a:rPr lang="en-US" sz="1100" dirty="0">
                <a:solidFill>
                  <a:srgbClr val="BCC9D5"/>
                </a:solidFill>
                <a:latin typeface="Calibri" pitchFamily="34" charset="0"/>
                <a:ea typeface="Calibri" pitchFamily="34" charset="-122"/>
                <a:cs typeface="Calibri" pitchFamily="34" charset="-120"/>
              </a:rPr>
              <a:t>YOLO: "bus, 0.88 sure, this box."</a:t>
            </a:r>
            <a:endParaRPr lang="en-US" sz="1100" dirty="0"/>
          </a:p>
        </p:txBody>
      </p:sp>
      <p:sp>
        <p:nvSpPr>
          <p:cNvPr id="10" name="Shape 8"/>
          <p:cNvSpPr/>
          <p:nvPr/>
        </p:nvSpPr>
        <p:spPr>
          <a:xfrm>
            <a:off x="640080" y="2990088"/>
            <a:ext cx="5257800" cy="603504"/>
          </a:xfrm>
          <a:prstGeom prst="roundRect">
            <a:avLst>
              <a:gd name="adj" fmla="val 9091"/>
            </a:avLst>
          </a:prstGeom>
          <a:solidFill>
            <a:srgbClr val="18242F"/>
          </a:solidFill>
          <a:ln w="12700">
            <a:solidFill>
              <a:srgbClr val="2E3F4E"/>
            </a:solidFill>
            <a:prstDash val="solid"/>
          </a:ln>
        </p:spPr>
      </p:sp>
      <p:sp>
        <p:nvSpPr>
          <p:cNvPr id="11" name="Text 9"/>
          <p:cNvSpPr txBox="1"/>
          <p:nvPr/>
        </p:nvSpPr>
        <p:spPr>
          <a:xfrm>
            <a:off x="841248" y="3035808"/>
            <a:ext cx="4846320" cy="237744"/>
          </a:xfrm>
          <a:prstGeom prst="rect">
            <a:avLst/>
          </a:prstGeom>
          <a:noFill/>
          <a:ln/>
        </p:spPr>
        <p:txBody>
          <a:bodyPr wrap="square" lIns="0" tIns="0" rIns="0" bIns="0" rtlCol="0" anchor="ctr"/>
          <a:lstStyle/>
          <a:p>
            <a:pPr indent="0" marL="0">
              <a:buNone/>
            </a:pPr>
            <a:r>
              <a:rPr lang="en-US" sz="1050" b="1" dirty="0">
                <a:solidFill>
                  <a:srgbClr val="58BFD6"/>
                </a:solidFill>
                <a:latin typeface="Courier New" pitchFamily="34" charset="0"/>
                <a:ea typeface="Courier New" pitchFamily="34" charset="-122"/>
                <a:cs typeface="Courier New" pitchFamily="34" charset="-120"/>
              </a:rPr>
              <a:t>tracker.py</a:t>
            </a:r>
            <a:endParaRPr lang="en-US" sz="1050" dirty="0"/>
          </a:p>
        </p:txBody>
      </p:sp>
      <p:sp>
        <p:nvSpPr>
          <p:cNvPr id="12" name="Text 10"/>
          <p:cNvSpPr txBox="1"/>
          <p:nvPr/>
        </p:nvSpPr>
        <p:spPr>
          <a:xfrm>
            <a:off x="841248" y="3264408"/>
            <a:ext cx="4846320" cy="310896"/>
          </a:xfrm>
          <a:prstGeom prst="rect">
            <a:avLst/>
          </a:prstGeom>
          <a:noFill/>
          <a:ln/>
        </p:spPr>
        <p:txBody>
          <a:bodyPr wrap="square" lIns="0" tIns="0" rIns="0" bIns="0" rtlCol="0" anchor="ctr"/>
          <a:lstStyle/>
          <a:p>
            <a:pPr indent="0" marL="0">
              <a:buNone/>
            </a:pPr>
            <a:r>
              <a:rPr lang="en-US" sz="1100" dirty="0">
                <a:solidFill>
                  <a:srgbClr val="BCC9D5"/>
                </a:solidFill>
                <a:latin typeface="Calibri" pitchFamily="34" charset="0"/>
                <a:ea typeface="Calibri" pitchFamily="34" charset="-122"/>
                <a:cs typeface="Calibri" pitchFamily="34" charset="-120"/>
              </a:rPr>
              <a:t>ByteTrack: "this is vehicle #34." Same number for the next 60 frames.</a:t>
            </a:r>
            <a:endParaRPr lang="en-US" sz="1100" dirty="0"/>
          </a:p>
        </p:txBody>
      </p:sp>
      <p:sp>
        <p:nvSpPr>
          <p:cNvPr id="13" name="Shape 11"/>
          <p:cNvSpPr/>
          <p:nvPr/>
        </p:nvSpPr>
        <p:spPr>
          <a:xfrm>
            <a:off x="640080" y="3685032"/>
            <a:ext cx="5257800" cy="603504"/>
          </a:xfrm>
          <a:prstGeom prst="roundRect">
            <a:avLst>
              <a:gd name="adj" fmla="val 9091"/>
            </a:avLst>
          </a:prstGeom>
          <a:solidFill>
            <a:srgbClr val="18242F"/>
          </a:solidFill>
          <a:ln w="12700">
            <a:solidFill>
              <a:srgbClr val="2E3F4E"/>
            </a:solidFill>
            <a:prstDash val="solid"/>
          </a:ln>
        </p:spPr>
      </p:sp>
      <p:sp>
        <p:nvSpPr>
          <p:cNvPr id="14" name="Text 12"/>
          <p:cNvSpPr txBox="1"/>
          <p:nvPr/>
        </p:nvSpPr>
        <p:spPr>
          <a:xfrm>
            <a:off x="841248" y="3730752"/>
            <a:ext cx="4846320" cy="237744"/>
          </a:xfrm>
          <a:prstGeom prst="rect">
            <a:avLst/>
          </a:prstGeom>
          <a:noFill/>
          <a:ln/>
        </p:spPr>
        <p:txBody>
          <a:bodyPr wrap="square" lIns="0" tIns="0" rIns="0" bIns="0" rtlCol="0" anchor="ctr"/>
          <a:lstStyle/>
          <a:p>
            <a:pPr indent="0" marL="0">
              <a:buNone/>
            </a:pPr>
            <a:r>
              <a:rPr lang="en-US" sz="1050" b="1" dirty="0">
                <a:solidFill>
                  <a:srgbClr val="58BFD6"/>
                </a:solidFill>
                <a:latin typeface="Courier New" pitchFamily="34" charset="0"/>
                <a:ea typeface="Courier New" pitchFamily="34" charset="-122"/>
                <a:cs typeface="Courier New" pitchFamily="34" charset="-120"/>
              </a:rPr>
              <a:t>counting.py</a:t>
            </a:r>
            <a:endParaRPr lang="en-US" sz="1050" dirty="0"/>
          </a:p>
        </p:txBody>
      </p:sp>
      <p:sp>
        <p:nvSpPr>
          <p:cNvPr id="15" name="Text 13"/>
          <p:cNvSpPr txBox="1"/>
          <p:nvPr/>
        </p:nvSpPr>
        <p:spPr>
          <a:xfrm>
            <a:off x="841248" y="3959352"/>
            <a:ext cx="4846320" cy="310896"/>
          </a:xfrm>
          <a:prstGeom prst="rect">
            <a:avLst/>
          </a:prstGeom>
          <a:noFill/>
          <a:ln/>
        </p:spPr>
        <p:txBody>
          <a:bodyPr wrap="square" lIns="0" tIns="0" rIns="0" bIns="0" rtlCol="0" anchor="ctr"/>
          <a:lstStyle/>
          <a:p>
            <a:pPr indent="0" marL="0">
              <a:buNone/>
            </a:pPr>
            <a:r>
              <a:rPr lang="en-US" sz="1100" dirty="0">
                <a:solidFill>
                  <a:srgbClr val="BCC9D5"/>
                </a:solidFill>
                <a:latin typeface="Calibri" pitchFamily="34" charset="0"/>
                <a:ea typeface="Calibri" pitchFamily="34" charset="-122"/>
                <a:cs typeface="Calibri" pitchFamily="34" charset="-120"/>
              </a:rPr>
              <a:t>It crosses the line. inbound count goes up by one.</a:t>
            </a:r>
            <a:endParaRPr lang="en-US" sz="1100" dirty="0"/>
          </a:p>
        </p:txBody>
      </p:sp>
      <p:sp>
        <p:nvSpPr>
          <p:cNvPr id="16" name="Shape 14"/>
          <p:cNvSpPr/>
          <p:nvPr/>
        </p:nvSpPr>
        <p:spPr>
          <a:xfrm>
            <a:off x="640080" y="4379976"/>
            <a:ext cx="5257800" cy="603504"/>
          </a:xfrm>
          <a:prstGeom prst="roundRect">
            <a:avLst>
              <a:gd name="adj" fmla="val 9091"/>
            </a:avLst>
          </a:prstGeom>
          <a:solidFill>
            <a:srgbClr val="18242F"/>
          </a:solidFill>
          <a:ln w="12700">
            <a:solidFill>
              <a:srgbClr val="2E3F4E"/>
            </a:solidFill>
            <a:prstDash val="solid"/>
          </a:ln>
        </p:spPr>
      </p:sp>
      <p:sp>
        <p:nvSpPr>
          <p:cNvPr id="17" name="Text 15"/>
          <p:cNvSpPr txBox="1"/>
          <p:nvPr/>
        </p:nvSpPr>
        <p:spPr>
          <a:xfrm>
            <a:off x="841248" y="4425696"/>
            <a:ext cx="4846320" cy="237744"/>
          </a:xfrm>
          <a:prstGeom prst="rect">
            <a:avLst/>
          </a:prstGeom>
          <a:noFill/>
          <a:ln/>
        </p:spPr>
        <p:txBody>
          <a:bodyPr wrap="square" lIns="0" tIns="0" rIns="0" bIns="0" rtlCol="0" anchor="ctr"/>
          <a:lstStyle/>
          <a:p>
            <a:pPr indent="0" marL="0">
              <a:buNone/>
            </a:pPr>
            <a:r>
              <a:rPr lang="en-US" sz="1050" b="1" dirty="0">
                <a:solidFill>
                  <a:srgbClr val="58BFD6"/>
                </a:solidFill>
                <a:latin typeface="Courier New" pitchFamily="34" charset="0"/>
                <a:ea typeface="Courier New" pitchFamily="34" charset="-122"/>
                <a:cs typeface="Courier New" pitchFamily="34" charset="-120"/>
              </a:rPr>
              <a:t>anpr.py</a:t>
            </a:r>
            <a:endParaRPr lang="en-US" sz="1050" dirty="0"/>
          </a:p>
        </p:txBody>
      </p:sp>
      <p:sp>
        <p:nvSpPr>
          <p:cNvPr id="18" name="Text 16"/>
          <p:cNvSpPr txBox="1"/>
          <p:nvPr/>
        </p:nvSpPr>
        <p:spPr>
          <a:xfrm>
            <a:off x="841248" y="4654296"/>
            <a:ext cx="4846320" cy="310896"/>
          </a:xfrm>
          <a:prstGeom prst="rect">
            <a:avLst/>
          </a:prstGeom>
          <a:noFill/>
          <a:ln/>
        </p:spPr>
        <p:txBody>
          <a:bodyPr wrap="square" lIns="0" tIns="0" rIns="0" bIns="0" rtlCol="0" anchor="ctr"/>
          <a:lstStyle/>
          <a:p>
            <a:pPr indent="0" marL="0">
              <a:buNone/>
            </a:pPr>
            <a:r>
              <a:rPr lang="en-US" sz="1100" dirty="0">
                <a:solidFill>
                  <a:srgbClr val="BCC9D5"/>
                </a:solidFill>
                <a:latin typeface="Calibri" pitchFamily="34" charset="0"/>
                <a:ea typeface="Calibri" pitchFamily="34" charset="-122"/>
                <a:cs typeface="Calibri" pitchFamily="34" charset="-120"/>
              </a:rPr>
              <a:t>Plate read on every 3rd frame. 15 readings, slightly different.</a:t>
            </a:r>
            <a:endParaRPr lang="en-US" sz="1100" dirty="0"/>
          </a:p>
        </p:txBody>
      </p:sp>
      <p:sp>
        <p:nvSpPr>
          <p:cNvPr id="19" name="Shape 17"/>
          <p:cNvSpPr/>
          <p:nvPr/>
        </p:nvSpPr>
        <p:spPr>
          <a:xfrm>
            <a:off x="640080" y="5074920"/>
            <a:ext cx="5257800" cy="603504"/>
          </a:xfrm>
          <a:prstGeom prst="roundRect">
            <a:avLst>
              <a:gd name="adj" fmla="val 9091"/>
            </a:avLst>
          </a:prstGeom>
          <a:solidFill>
            <a:srgbClr val="18242F"/>
          </a:solidFill>
          <a:ln w="12700">
            <a:solidFill>
              <a:srgbClr val="2E3F4E"/>
            </a:solidFill>
            <a:prstDash val="solid"/>
          </a:ln>
        </p:spPr>
      </p:sp>
      <p:sp>
        <p:nvSpPr>
          <p:cNvPr id="20" name="Text 18"/>
          <p:cNvSpPr txBox="1"/>
          <p:nvPr/>
        </p:nvSpPr>
        <p:spPr>
          <a:xfrm>
            <a:off x="841248" y="5120640"/>
            <a:ext cx="4846320" cy="237744"/>
          </a:xfrm>
          <a:prstGeom prst="rect">
            <a:avLst/>
          </a:prstGeom>
          <a:noFill/>
          <a:ln/>
        </p:spPr>
        <p:txBody>
          <a:bodyPr wrap="square" lIns="0" tIns="0" rIns="0" bIns="0" rtlCol="0" anchor="ctr"/>
          <a:lstStyle/>
          <a:p>
            <a:pPr indent="0" marL="0">
              <a:buNone/>
            </a:pPr>
            <a:r>
              <a:rPr lang="en-US" sz="1050" b="1" dirty="0">
                <a:solidFill>
                  <a:srgbClr val="58BFD6"/>
                </a:solidFill>
                <a:latin typeface="Courier New" pitchFamily="34" charset="0"/>
                <a:ea typeface="Courier New" pitchFamily="34" charset="-122"/>
                <a:cs typeface="Courier New" pitchFamily="34" charset="-120"/>
              </a:rPr>
              <a:t>consensus.py</a:t>
            </a:r>
            <a:endParaRPr lang="en-US" sz="1050" dirty="0"/>
          </a:p>
        </p:txBody>
      </p:sp>
      <p:sp>
        <p:nvSpPr>
          <p:cNvPr id="21" name="Text 19"/>
          <p:cNvSpPr txBox="1"/>
          <p:nvPr/>
        </p:nvSpPr>
        <p:spPr>
          <a:xfrm>
            <a:off x="841248" y="5349240"/>
            <a:ext cx="4846320" cy="310896"/>
          </a:xfrm>
          <a:prstGeom prst="rect">
            <a:avLst/>
          </a:prstGeom>
          <a:noFill/>
          <a:ln/>
        </p:spPr>
        <p:txBody>
          <a:bodyPr wrap="square" lIns="0" tIns="0" rIns="0" bIns="0" rtlCol="0" anchor="ctr"/>
          <a:lstStyle/>
          <a:p>
            <a:pPr indent="0" marL="0">
              <a:buNone/>
            </a:pPr>
            <a:r>
              <a:rPr lang="en-US" sz="1100" dirty="0">
                <a:solidFill>
                  <a:srgbClr val="BCC9D5"/>
                </a:solidFill>
                <a:latin typeface="Calibri" pitchFamily="34" charset="0"/>
                <a:ea typeface="Calibri" pitchFamily="34" charset="-122"/>
                <a:cs typeface="Calibri" pitchFamily="34" charset="-120"/>
              </a:rPr>
              <a:t>Weighted vote across all 15  →  "KA01AB1234".</a:t>
            </a:r>
            <a:endParaRPr lang="en-US" sz="1100" dirty="0"/>
          </a:p>
        </p:txBody>
      </p:sp>
      <p:sp>
        <p:nvSpPr>
          <p:cNvPr id="22" name="Shape 20"/>
          <p:cNvSpPr/>
          <p:nvPr/>
        </p:nvSpPr>
        <p:spPr>
          <a:xfrm>
            <a:off x="640080" y="5769864"/>
            <a:ext cx="5257800" cy="603504"/>
          </a:xfrm>
          <a:prstGeom prst="roundRect">
            <a:avLst>
              <a:gd name="adj" fmla="val 9091"/>
            </a:avLst>
          </a:prstGeom>
          <a:solidFill>
            <a:srgbClr val="18242F"/>
          </a:solidFill>
          <a:ln w="12700">
            <a:solidFill>
              <a:srgbClr val="2E3F4E"/>
            </a:solidFill>
            <a:prstDash val="solid"/>
          </a:ln>
        </p:spPr>
      </p:sp>
      <p:sp>
        <p:nvSpPr>
          <p:cNvPr id="23" name="Text 21"/>
          <p:cNvSpPr txBox="1"/>
          <p:nvPr/>
        </p:nvSpPr>
        <p:spPr>
          <a:xfrm>
            <a:off x="841248" y="5815584"/>
            <a:ext cx="4846320" cy="237744"/>
          </a:xfrm>
          <a:prstGeom prst="rect">
            <a:avLst/>
          </a:prstGeom>
          <a:noFill/>
          <a:ln/>
        </p:spPr>
        <p:txBody>
          <a:bodyPr wrap="square" lIns="0" tIns="0" rIns="0" bIns="0" rtlCol="0" anchor="ctr"/>
          <a:lstStyle/>
          <a:p>
            <a:pPr indent="0" marL="0">
              <a:buNone/>
            </a:pPr>
            <a:r>
              <a:rPr lang="en-US" sz="1050" b="1" dirty="0">
                <a:solidFill>
                  <a:srgbClr val="58BFD6"/>
                </a:solidFill>
                <a:latin typeface="Courier New" pitchFamily="34" charset="0"/>
                <a:ea typeface="Courier New" pitchFamily="34" charset="-122"/>
                <a:cs typeface="Courier New" pitchFamily="34" charset="-120"/>
              </a:rPr>
              <a:t>plate_grammar.py</a:t>
            </a:r>
            <a:endParaRPr lang="en-US" sz="1050" dirty="0"/>
          </a:p>
        </p:txBody>
      </p:sp>
      <p:sp>
        <p:nvSpPr>
          <p:cNvPr id="24" name="Text 22"/>
          <p:cNvSpPr txBox="1"/>
          <p:nvPr/>
        </p:nvSpPr>
        <p:spPr>
          <a:xfrm>
            <a:off x="841248" y="6044184"/>
            <a:ext cx="4846320" cy="310896"/>
          </a:xfrm>
          <a:prstGeom prst="rect">
            <a:avLst/>
          </a:prstGeom>
          <a:noFill/>
          <a:ln/>
        </p:spPr>
        <p:txBody>
          <a:bodyPr wrap="square" lIns="0" tIns="0" rIns="0" bIns="0" rtlCol="0" anchor="ctr"/>
          <a:lstStyle/>
          <a:p>
            <a:pPr indent="0" marL="0">
              <a:buNone/>
            </a:pPr>
            <a:r>
              <a:rPr lang="en-US" sz="1100" dirty="0">
                <a:solidFill>
                  <a:srgbClr val="BCC9D5"/>
                </a:solidFill>
                <a:latin typeface="Calibri" pitchFamily="34" charset="0"/>
                <a:ea typeface="Calibri" pitchFamily="34" charset="-122"/>
                <a:cs typeface="Calibri" pitchFamily="34" charset="-120"/>
              </a:rPr>
              <a:t>Fits the Indian plate shape. No repair needed. Accepted.</a:t>
            </a:r>
            <a:endParaRPr lang="en-US" sz="1100" dirty="0"/>
          </a:p>
        </p:txBody>
      </p:sp>
      <p:sp>
        <p:nvSpPr>
          <p:cNvPr id="25" name="Shape 23"/>
          <p:cNvSpPr/>
          <p:nvPr/>
        </p:nvSpPr>
        <p:spPr>
          <a:xfrm>
            <a:off x="6291072" y="1600200"/>
            <a:ext cx="5257800" cy="603504"/>
          </a:xfrm>
          <a:prstGeom prst="roundRect">
            <a:avLst>
              <a:gd name="adj" fmla="val 9091"/>
            </a:avLst>
          </a:prstGeom>
          <a:solidFill>
            <a:srgbClr val="18242F"/>
          </a:solidFill>
          <a:ln w="12700">
            <a:solidFill>
              <a:srgbClr val="2E3F4E"/>
            </a:solidFill>
            <a:prstDash val="solid"/>
          </a:ln>
        </p:spPr>
      </p:sp>
      <p:sp>
        <p:nvSpPr>
          <p:cNvPr id="26" name="Text 24"/>
          <p:cNvSpPr txBox="1"/>
          <p:nvPr/>
        </p:nvSpPr>
        <p:spPr>
          <a:xfrm>
            <a:off x="6492240" y="1645920"/>
            <a:ext cx="4846320" cy="237744"/>
          </a:xfrm>
          <a:prstGeom prst="rect">
            <a:avLst/>
          </a:prstGeom>
          <a:noFill/>
          <a:ln/>
        </p:spPr>
        <p:txBody>
          <a:bodyPr wrap="square" lIns="0" tIns="0" rIns="0" bIns="0" rtlCol="0" anchor="ctr"/>
          <a:lstStyle/>
          <a:p>
            <a:pPr indent="0" marL="0">
              <a:buNone/>
            </a:pPr>
            <a:r>
              <a:rPr lang="en-US" sz="1050" b="1" dirty="0">
                <a:solidFill>
                  <a:srgbClr val="58BFD6"/>
                </a:solidFill>
                <a:latin typeface="Courier New" pitchFamily="34" charset="0"/>
                <a:ea typeface="Courier New" pitchFamily="34" charset="-122"/>
                <a:cs typeface="Courier New" pitchFamily="34" charset="-120"/>
              </a:rPr>
              <a:t>bus.py</a:t>
            </a:r>
            <a:endParaRPr lang="en-US" sz="1050" dirty="0"/>
          </a:p>
        </p:txBody>
      </p:sp>
      <p:sp>
        <p:nvSpPr>
          <p:cNvPr id="27" name="Text 25"/>
          <p:cNvSpPr txBox="1"/>
          <p:nvPr/>
        </p:nvSpPr>
        <p:spPr>
          <a:xfrm>
            <a:off x="6492240" y="1874520"/>
            <a:ext cx="4846320" cy="310896"/>
          </a:xfrm>
          <a:prstGeom prst="rect">
            <a:avLst/>
          </a:prstGeom>
          <a:noFill/>
          <a:ln/>
        </p:spPr>
        <p:txBody>
          <a:bodyPr wrap="square" lIns="0" tIns="0" rIns="0" bIns="0" rtlCol="0" anchor="ctr"/>
          <a:lstStyle/>
          <a:p>
            <a:pPr indent="0" marL="0">
              <a:buNone/>
            </a:pPr>
            <a:r>
              <a:rPr lang="en-US" sz="1100" dirty="0">
                <a:solidFill>
                  <a:srgbClr val="BCC9D5"/>
                </a:solidFill>
                <a:latin typeface="Calibri" pitchFamily="34" charset="0"/>
                <a:ea typeface="Calibri" pitchFamily="34" charset="-122"/>
                <a:cs typeface="Calibri" pitchFamily="34" charset="-120"/>
              </a:rPr>
              <a:t>Bus leaves the frame. Sighting finished and announced.</a:t>
            </a:r>
            <a:endParaRPr lang="en-US" sz="1100" dirty="0"/>
          </a:p>
        </p:txBody>
      </p:sp>
      <p:sp>
        <p:nvSpPr>
          <p:cNvPr id="28" name="Shape 26"/>
          <p:cNvSpPr/>
          <p:nvPr/>
        </p:nvSpPr>
        <p:spPr>
          <a:xfrm>
            <a:off x="6291072" y="2295144"/>
            <a:ext cx="5257800" cy="603504"/>
          </a:xfrm>
          <a:prstGeom prst="roundRect">
            <a:avLst>
              <a:gd name="adj" fmla="val 9091"/>
            </a:avLst>
          </a:prstGeom>
          <a:solidFill>
            <a:srgbClr val="18242F"/>
          </a:solidFill>
          <a:ln w="12700">
            <a:solidFill>
              <a:srgbClr val="2E3F4E"/>
            </a:solidFill>
            <a:prstDash val="solid"/>
          </a:ln>
        </p:spPr>
      </p:sp>
      <p:sp>
        <p:nvSpPr>
          <p:cNvPr id="29" name="Text 27"/>
          <p:cNvSpPr txBox="1"/>
          <p:nvPr/>
        </p:nvSpPr>
        <p:spPr>
          <a:xfrm>
            <a:off x="6492240" y="2340864"/>
            <a:ext cx="4846320" cy="237744"/>
          </a:xfrm>
          <a:prstGeom prst="rect">
            <a:avLst/>
          </a:prstGeom>
          <a:noFill/>
          <a:ln/>
        </p:spPr>
        <p:txBody>
          <a:bodyPr wrap="square" lIns="0" tIns="0" rIns="0" bIns="0" rtlCol="0" anchor="ctr"/>
          <a:lstStyle/>
          <a:p>
            <a:pPr indent="0" marL="0">
              <a:buNone/>
            </a:pPr>
            <a:r>
              <a:rPr lang="en-US" sz="1050" b="1" dirty="0">
                <a:solidFill>
                  <a:srgbClr val="58BFD6"/>
                </a:solidFill>
                <a:latin typeface="Courier New" pitchFamily="34" charset="0"/>
                <a:ea typeface="Courier New" pitchFamily="34" charset="-122"/>
                <a:cs typeface="Courier New" pitchFamily="34" charset="-120"/>
              </a:rPr>
              <a:t>subscriber.py → repository.py</a:t>
            </a:r>
            <a:endParaRPr lang="en-US" sz="1050" dirty="0"/>
          </a:p>
        </p:txBody>
      </p:sp>
      <p:sp>
        <p:nvSpPr>
          <p:cNvPr id="30" name="Text 28"/>
          <p:cNvSpPr txBox="1"/>
          <p:nvPr/>
        </p:nvSpPr>
        <p:spPr>
          <a:xfrm>
            <a:off x="6492240" y="2569464"/>
            <a:ext cx="4846320" cy="310896"/>
          </a:xfrm>
          <a:prstGeom prst="rect">
            <a:avLst/>
          </a:prstGeom>
          <a:noFill/>
          <a:ln/>
        </p:spPr>
        <p:txBody>
          <a:bodyPr wrap="square" lIns="0" tIns="0" rIns="0" bIns="0" rtlCol="0" anchor="ctr"/>
          <a:lstStyle/>
          <a:p>
            <a:pPr indent="0" marL="0">
              <a:buNone/>
            </a:pPr>
            <a:r>
              <a:rPr lang="en-US" sz="1100" dirty="0">
                <a:solidFill>
                  <a:srgbClr val="BCC9D5"/>
                </a:solidFill>
                <a:latin typeface="Calibri" pitchFamily="34" charset="0"/>
                <a:ea typeface="Calibri" pitchFamily="34" charset="-122"/>
                <a:cs typeface="Calibri" pitchFamily="34" charset="-120"/>
              </a:rPr>
              <a:t>One new row in the sightings table.</a:t>
            </a:r>
            <a:endParaRPr lang="en-US" sz="1100" dirty="0"/>
          </a:p>
        </p:txBody>
      </p:sp>
      <p:sp>
        <p:nvSpPr>
          <p:cNvPr id="31" name="Shape 29"/>
          <p:cNvSpPr/>
          <p:nvPr/>
        </p:nvSpPr>
        <p:spPr>
          <a:xfrm>
            <a:off x="6291072" y="2990088"/>
            <a:ext cx="5257800" cy="603504"/>
          </a:xfrm>
          <a:prstGeom prst="roundRect">
            <a:avLst>
              <a:gd name="adj" fmla="val 9091"/>
            </a:avLst>
          </a:prstGeom>
          <a:solidFill>
            <a:srgbClr val="213040"/>
          </a:solidFill>
          <a:ln w="12700">
            <a:solidFill>
              <a:srgbClr val="2E3F4E"/>
            </a:solidFill>
            <a:prstDash val="solid"/>
          </a:ln>
        </p:spPr>
      </p:sp>
      <p:sp>
        <p:nvSpPr>
          <p:cNvPr id="32" name="Text 30"/>
          <p:cNvSpPr txBox="1"/>
          <p:nvPr/>
        </p:nvSpPr>
        <p:spPr>
          <a:xfrm>
            <a:off x="6492240" y="3035808"/>
            <a:ext cx="4846320" cy="237744"/>
          </a:xfrm>
          <a:prstGeom prst="rect">
            <a:avLst/>
          </a:prstGeom>
          <a:noFill/>
          <a:ln/>
        </p:spPr>
        <p:txBody>
          <a:bodyPr wrap="square" lIns="0" tIns="0" rIns="0" bIns="0" rtlCol="0" anchor="ctr"/>
          <a:lstStyle/>
          <a:p>
            <a:pPr indent="0" marL="0">
              <a:buNone/>
            </a:pPr>
            <a:r>
              <a:rPr lang="en-US" sz="1050" b="1" dirty="0">
                <a:solidFill>
                  <a:srgbClr val="F0B23F"/>
                </a:solidFill>
                <a:latin typeface="Courier New" pitchFamily="34" charset="0"/>
                <a:ea typeface="Courier New" pitchFamily="34" charset="-122"/>
                <a:cs typeface="Courier New" pitchFamily="34" charset="-120"/>
              </a:rPr>
              <a:t>resolver.py</a:t>
            </a:r>
            <a:endParaRPr lang="en-US" sz="1050" dirty="0"/>
          </a:p>
        </p:txBody>
      </p:sp>
      <p:sp>
        <p:nvSpPr>
          <p:cNvPr id="33" name="Text 31"/>
          <p:cNvSpPr txBox="1"/>
          <p:nvPr/>
        </p:nvSpPr>
        <p:spPr>
          <a:xfrm>
            <a:off x="6492240" y="3264408"/>
            <a:ext cx="4846320" cy="310896"/>
          </a:xfrm>
          <a:prstGeom prst="rect">
            <a:avLst/>
          </a:prstGeom>
          <a:noFill/>
          <a:ln/>
        </p:spPr>
        <p:txBody>
          <a:bodyPr wrap="square" lIns="0" tIns="0" rIns="0" bIns="0" rtlCol="0" anchor="ctr"/>
          <a:lstStyle/>
          <a:p>
            <a:pPr indent="0" marL="0">
              <a:buNone/>
            </a:pPr>
            <a:r>
              <a:rPr lang="en-US" sz="1100" dirty="0">
                <a:solidFill>
                  <a:srgbClr val="BCC9D5"/>
                </a:solidFill>
                <a:latin typeface="Calibri" pitchFamily="34" charset="0"/>
                <a:ea typeface="Calibri" pitchFamily="34" charset="-122"/>
                <a:cs typeface="Calibri" pitchFamily="34" charset="-120"/>
              </a:rPr>
              <a:t>Later: same plate at CAM02 at 10:06. 1.6 km in 4 min = 24 km/h. Sensible. LINKED.</a:t>
            </a:r>
            <a:endParaRPr lang="en-US" sz="1100" dirty="0"/>
          </a:p>
        </p:txBody>
      </p:sp>
      <p:sp>
        <p:nvSpPr>
          <p:cNvPr id="34" name="Shape 32"/>
          <p:cNvSpPr/>
          <p:nvPr/>
        </p:nvSpPr>
        <p:spPr>
          <a:xfrm>
            <a:off x="6291072" y="3685032"/>
            <a:ext cx="5257800" cy="603504"/>
          </a:xfrm>
          <a:prstGeom prst="roundRect">
            <a:avLst>
              <a:gd name="adj" fmla="val 9091"/>
            </a:avLst>
          </a:prstGeom>
          <a:solidFill>
            <a:srgbClr val="213040"/>
          </a:solidFill>
          <a:ln w="12700">
            <a:solidFill>
              <a:srgbClr val="2E3F4E"/>
            </a:solidFill>
            <a:prstDash val="solid"/>
          </a:ln>
        </p:spPr>
      </p:sp>
      <p:sp>
        <p:nvSpPr>
          <p:cNvPr id="35" name="Text 33"/>
          <p:cNvSpPr txBox="1"/>
          <p:nvPr/>
        </p:nvSpPr>
        <p:spPr>
          <a:xfrm>
            <a:off x="6492240" y="3730752"/>
            <a:ext cx="4846320" cy="237744"/>
          </a:xfrm>
          <a:prstGeom prst="rect">
            <a:avLst/>
          </a:prstGeom>
          <a:noFill/>
          <a:ln/>
        </p:spPr>
        <p:txBody>
          <a:bodyPr wrap="square" lIns="0" tIns="0" rIns="0" bIns="0" rtlCol="0" anchor="ctr"/>
          <a:lstStyle/>
          <a:p>
            <a:pPr indent="0" marL="0">
              <a:buNone/>
            </a:pPr>
            <a:r>
              <a:rPr lang="en-US" sz="1050" b="1" dirty="0">
                <a:solidFill>
                  <a:srgbClr val="F0B23F"/>
                </a:solidFill>
                <a:latin typeface="Courier New" pitchFamily="34" charset="0"/>
                <a:ea typeface="Courier New" pitchFamily="34" charset="-122"/>
                <a:cs typeface="Courier New" pitchFamily="34" charset="-120"/>
              </a:rPr>
              <a:t>engine.py</a:t>
            </a:r>
            <a:endParaRPr lang="en-US" sz="1050" dirty="0"/>
          </a:p>
        </p:txBody>
      </p:sp>
      <p:sp>
        <p:nvSpPr>
          <p:cNvPr id="36" name="Text 34"/>
          <p:cNvSpPr txBox="1"/>
          <p:nvPr/>
        </p:nvSpPr>
        <p:spPr>
          <a:xfrm>
            <a:off x="6492240" y="3959352"/>
            <a:ext cx="4846320" cy="310896"/>
          </a:xfrm>
          <a:prstGeom prst="rect">
            <a:avLst/>
          </a:prstGeom>
          <a:noFill/>
          <a:ln/>
        </p:spPr>
        <p:txBody>
          <a:bodyPr wrap="square" lIns="0" tIns="0" rIns="0" bIns="0" rtlCol="0" anchor="ctr"/>
          <a:lstStyle/>
          <a:p>
            <a:pPr indent="0" marL="0">
              <a:buNone/>
            </a:pPr>
            <a:r>
              <a:rPr lang="en-US" sz="1100" dirty="0">
                <a:solidFill>
                  <a:srgbClr val="BCC9D5"/>
                </a:solidFill>
                <a:latin typeface="Calibri" pitchFamily="34" charset="0"/>
                <a:ea typeface="Calibri" pitchFamily="34" charset="-122"/>
                <a:cs typeface="Calibri" pitchFamily="34" charset="-120"/>
              </a:rPr>
              <a:t>Journey built: CAM01 → CAM02 → CAM03, 4.7 km, 10m 34s, confidence 0.84.</a:t>
            </a:r>
            <a:endParaRPr lang="en-US" sz="1100" dirty="0"/>
          </a:p>
        </p:txBody>
      </p:sp>
      <p:sp>
        <p:nvSpPr>
          <p:cNvPr id="37" name="Shape 35"/>
          <p:cNvSpPr/>
          <p:nvPr/>
        </p:nvSpPr>
        <p:spPr>
          <a:xfrm>
            <a:off x="6291072" y="4379976"/>
            <a:ext cx="5257800" cy="603504"/>
          </a:xfrm>
          <a:prstGeom prst="roundRect">
            <a:avLst>
              <a:gd name="adj" fmla="val 9091"/>
            </a:avLst>
          </a:prstGeom>
          <a:solidFill>
            <a:srgbClr val="213040"/>
          </a:solidFill>
          <a:ln w="12700">
            <a:solidFill>
              <a:srgbClr val="2E3F4E"/>
            </a:solidFill>
            <a:prstDash val="solid"/>
          </a:ln>
        </p:spPr>
      </p:sp>
      <p:sp>
        <p:nvSpPr>
          <p:cNvPr id="38" name="Text 36"/>
          <p:cNvSpPr txBox="1"/>
          <p:nvPr/>
        </p:nvSpPr>
        <p:spPr>
          <a:xfrm>
            <a:off x="6492240" y="4425696"/>
            <a:ext cx="4846320" cy="237744"/>
          </a:xfrm>
          <a:prstGeom prst="rect">
            <a:avLst/>
          </a:prstGeom>
          <a:noFill/>
          <a:ln/>
        </p:spPr>
        <p:txBody>
          <a:bodyPr wrap="square" lIns="0" tIns="0" rIns="0" bIns="0" rtlCol="0" anchor="ctr"/>
          <a:lstStyle/>
          <a:p>
            <a:pPr indent="0" marL="0">
              <a:buNone/>
            </a:pPr>
            <a:r>
              <a:rPr lang="en-US" sz="1050" b="1" dirty="0">
                <a:solidFill>
                  <a:srgbClr val="F0B23F"/>
                </a:solidFill>
                <a:latin typeface="Courier New" pitchFamily="34" charset="0"/>
                <a:ea typeface="Courier New" pitchFamily="34" charset="-122"/>
                <a:cs typeface="Courier New" pitchFamily="34" charset="-120"/>
              </a:rPr>
              <a:t>api/main.py</a:t>
            </a:r>
            <a:endParaRPr lang="en-US" sz="1050" dirty="0"/>
          </a:p>
        </p:txBody>
      </p:sp>
      <p:sp>
        <p:nvSpPr>
          <p:cNvPr id="39" name="Text 37"/>
          <p:cNvSpPr txBox="1"/>
          <p:nvPr/>
        </p:nvSpPr>
        <p:spPr>
          <a:xfrm>
            <a:off x="6492240" y="4654296"/>
            <a:ext cx="4846320" cy="310896"/>
          </a:xfrm>
          <a:prstGeom prst="rect">
            <a:avLst/>
          </a:prstGeom>
          <a:noFill/>
          <a:ln/>
        </p:spPr>
        <p:txBody>
          <a:bodyPr wrap="square" lIns="0" tIns="0" rIns="0" bIns="0" rtlCol="0" anchor="ctr"/>
          <a:lstStyle/>
          <a:p>
            <a:pPr indent="0" marL="0">
              <a:buNone/>
            </a:pPr>
            <a:r>
              <a:rPr lang="en-US" sz="1100" dirty="0">
                <a:solidFill>
                  <a:srgbClr val="BCC9D5"/>
                </a:solidFill>
                <a:latin typeface="Calibri" pitchFamily="34" charset="0"/>
                <a:ea typeface="Calibri" pitchFamily="34" charset="-122"/>
                <a:cs typeface="Calibri" pitchFamily="34" charset="-120"/>
              </a:rPr>
              <a:t>The dashboard asks /api/journeys. This row comes back.</a:t>
            </a:r>
            <a:endParaRPr lang="en-US" sz="1100" dirty="0"/>
          </a:p>
        </p:txBody>
      </p:sp>
      <p:sp>
        <p:nvSpPr>
          <p:cNvPr id="40" name="Shape 38"/>
          <p:cNvSpPr/>
          <p:nvPr/>
        </p:nvSpPr>
        <p:spPr>
          <a:xfrm>
            <a:off x="6291072" y="5074920"/>
            <a:ext cx="5257800" cy="603504"/>
          </a:xfrm>
          <a:prstGeom prst="roundRect">
            <a:avLst>
              <a:gd name="adj" fmla="val 9091"/>
            </a:avLst>
          </a:prstGeom>
          <a:solidFill>
            <a:srgbClr val="213040"/>
          </a:solidFill>
          <a:ln w="12700">
            <a:solidFill>
              <a:srgbClr val="2E3F4E"/>
            </a:solidFill>
            <a:prstDash val="solid"/>
          </a:ln>
        </p:spPr>
      </p:sp>
      <p:sp>
        <p:nvSpPr>
          <p:cNvPr id="41" name="Text 39"/>
          <p:cNvSpPr txBox="1"/>
          <p:nvPr/>
        </p:nvSpPr>
        <p:spPr>
          <a:xfrm>
            <a:off x="6492240" y="5120640"/>
            <a:ext cx="4846320" cy="237744"/>
          </a:xfrm>
          <a:prstGeom prst="rect">
            <a:avLst/>
          </a:prstGeom>
          <a:noFill/>
          <a:ln/>
        </p:spPr>
        <p:txBody>
          <a:bodyPr wrap="square" lIns="0" tIns="0" rIns="0" bIns="0" rtlCol="0" anchor="ctr"/>
          <a:lstStyle/>
          <a:p>
            <a:pPr indent="0" marL="0">
              <a:buNone/>
            </a:pPr>
            <a:r>
              <a:rPr lang="en-US" sz="1050" b="1" dirty="0">
                <a:solidFill>
                  <a:srgbClr val="F0B23F"/>
                </a:solidFill>
                <a:latin typeface="Courier New" pitchFamily="34" charset="0"/>
                <a:ea typeface="Courier New" pitchFamily="34" charset="-122"/>
                <a:cs typeface="Courier New" pitchFamily="34" charset="-120"/>
              </a:rPr>
              <a:t>App.jsx → CityMap.jsx</a:t>
            </a:r>
            <a:endParaRPr lang="en-US" sz="1050" dirty="0"/>
          </a:p>
        </p:txBody>
      </p:sp>
      <p:sp>
        <p:nvSpPr>
          <p:cNvPr id="42" name="Text 40"/>
          <p:cNvSpPr txBox="1"/>
          <p:nvPr/>
        </p:nvSpPr>
        <p:spPr>
          <a:xfrm>
            <a:off x="6492240" y="5349240"/>
            <a:ext cx="4846320" cy="310896"/>
          </a:xfrm>
          <a:prstGeom prst="rect">
            <a:avLst/>
          </a:prstGeom>
          <a:noFill/>
          <a:ln/>
        </p:spPr>
        <p:txBody>
          <a:bodyPr wrap="square" lIns="0" tIns="0" rIns="0" bIns="0" rtlCol="0" anchor="ctr"/>
          <a:lstStyle/>
          <a:p>
            <a:pPr indent="0" marL="0">
              <a:buNone/>
            </a:pPr>
            <a:r>
              <a:rPr lang="en-US" sz="1100" dirty="0">
                <a:solidFill>
                  <a:srgbClr val="BCC9D5"/>
                </a:solidFill>
                <a:latin typeface="Calibri" pitchFamily="34" charset="0"/>
                <a:ea typeface="Calibri" pitchFamily="34" charset="-122"/>
                <a:cs typeface="Calibri" pitchFamily="34" charset="-120"/>
              </a:rPr>
              <a:t>The route is drawn on the map. You see the bus's trip.</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9 — WHAT GETS STORED</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The eight tables</a:t>
            </a:r>
            <a:endParaRPr lang="en-US" sz="3200" dirty="0"/>
          </a:p>
        </p:txBody>
      </p:sp>
      <p:sp>
        <p:nvSpPr>
          <p:cNvPr id="4" name="Text 2"/>
          <p:cNvSpPr txBox="1"/>
          <p:nvPr/>
        </p:nvSpPr>
        <p:spPr>
          <a:xfrm>
            <a:off x="640080" y="1417320"/>
            <a:ext cx="5486400" cy="320040"/>
          </a:xfrm>
          <a:prstGeom prst="rect">
            <a:avLst/>
          </a:prstGeom>
          <a:noFill/>
          <a:ln/>
        </p:spPr>
        <p:txBody>
          <a:bodyPr wrap="square" lIns="0" tIns="0" rIns="0" bIns="0" rtlCol="0" anchor="ctr"/>
          <a:lstStyle/>
          <a:p>
            <a:pPr indent="0" marL="0">
              <a:buNone/>
            </a:pPr>
            <a:r>
              <a:rPr lang="en-US" sz="1500" dirty="0">
                <a:solidFill>
                  <a:srgbClr val="58BFD6"/>
                </a:solidFill>
                <a:latin typeface="Courier New" pitchFamily="34" charset="0"/>
                <a:ea typeface="Courier New" pitchFamily="34" charset="-122"/>
                <a:cs typeface="Courier New" pitchFamily="34" charset="-120"/>
              </a:rPr>
              <a:t>store/models.py</a:t>
            </a:r>
            <a:endParaRPr lang="en-US" sz="1500" dirty="0"/>
          </a:p>
        </p:txBody>
      </p:sp>
      <p:sp>
        <p:nvSpPr>
          <p:cNvPr id="5" name="Shape 3"/>
          <p:cNvSpPr/>
          <p:nvPr/>
        </p:nvSpPr>
        <p:spPr>
          <a:xfrm>
            <a:off x="640080" y="1810512"/>
            <a:ext cx="10911535" cy="475488"/>
          </a:xfrm>
          <a:prstGeom prst="roundRect">
            <a:avLst>
              <a:gd name="adj" fmla="val 11538"/>
            </a:avLst>
          </a:prstGeom>
          <a:solidFill>
            <a:srgbClr val="18242F"/>
          </a:solidFill>
          <a:ln w="12700">
            <a:solidFill>
              <a:srgbClr val="2E3F4E"/>
            </a:solidFill>
            <a:prstDash val="solid"/>
          </a:ln>
        </p:spPr>
      </p:sp>
      <p:sp>
        <p:nvSpPr>
          <p:cNvPr id="6" name="Text 4"/>
          <p:cNvSpPr txBox="1"/>
          <p:nvPr/>
        </p:nvSpPr>
        <p:spPr>
          <a:xfrm>
            <a:off x="914400" y="1810512"/>
            <a:ext cx="2651760" cy="475488"/>
          </a:xfrm>
          <a:prstGeom prst="rect">
            <a:avLst/>
          </a:prstGeom>
          <a:noFill/>
          <a:ln/>
        </p:spPr>
        <p:txBody>
          <a:bodyPr wrap="square" lIns="0" tIns="0" rIns="0" bIns="0" rtlCol="0" anchor="ctr"/>
          <a:lstStyle/>
          <a:p>
            <a:pPr indent="0" marL="0">
              <a:buNone/>
            </a:pPr>
            <a:r>
              <a:rPr lang="en-US" sz="1250" b="1" dirty="0">
                <a:solidFill>
                  <a:srgbClr val="58BFD6"/>
                </a:solidFill>
                <a:latin typeface="Courier New" pitchFamily="34" charset="0"/>
                <a:ea typeface="Courier New" pitchFamily="34" charset="-122"/>
                <a:cs typeface="Courier New" pitchFamily="34" charset="-120"/>
              </a:rPr>
              <a:t>cameras</a:t>
            </a:r>
            <a:endParaRPr lang="en-US" sz="1250" dirty="0"/>
          </a:p>
        </p:txBody>
      </p:sp>
      <p:sp>
        <p:nvSpPr>
          <p:cNvPr id="7" name="Text 5"/>
          <p:cNvSpPr txBox="1"/>
          <p:nvPr/>
        </p:nvSpPr>
        <p:spPr>
          <a:xfrm>
            <a:off x="3749040" y="1810512"/>
            <a:ext cx="7436815" cy="475488"/>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One row per camera. Name, where it is, which way it faces.</a:t>
            </a:r>
            <a:endParaRPr lang="en-US" sz="1300" dirty="0"/>
          </a:p>
        </p:txBody>
      </p:sp>
      <p:sp>
        <p:nvSpPr>
          <p:cNvPr id="8" name="Shape 6"/>
          <p:cNvSpPr/>
          <p:nvPr/>
        </p:nvSpPr>
        <p:spPr>
          <a:xfrm>
            <a:off x="640080" y="2359152"/>
            <a:ext cx="10911535" cy="475488"/>
          </a:xfrm>
          <a:prstGeom prst="roundRect">
            <a:avLst>
              <a:gd name="adj" fmla="val 11538"/>
            </a:avLst>
          </a:prstGeom>
          <a:solidFill>
            <a:srgbClr val="18242F"/>
          </a:solidFill>
          <a:ln w="12700">
            <a:solidFill>
              <a:srgbClr val="2E3F4E"/>
            </a:solidFill>
            <a:prstDash val="solid"/>
          </a:ln>
        </p:spPr>
      </p:sp>
      <p:sp>
        <p:nvSpPr>
          <p:cNvPr id="9" name="Text 7"/>
          <p:cNvSpPr txBox="1"/>
          <p:nvPr/>
        </p:nvSpPr>
        <p:spPr>
          <a:xfrm>
            <a:off x="914400" y="2359152"/>
            <a:ext cx="2651760" cy="475488"/>
          </a:xfrm>
          <a:prstGeom prst="rect">
            <a:avLst/>
          </a:prstGeom>
          <a:noFill/>
          <a:ln/>
        </p:spPr>
        <p:txBody>
          <a:bodyPr wrap="square" lIns="0" tIns="0" rIns="0" bIns="0" rtlCol="0" anchor="ctr"/>
          <a:lstStyle/>
          <a:p>
            <a:pPr indent="0" marL="0">
              <a:buNone/>
            </a:pPr>
            <a:r>
              <a:rPr lang="en-US" sz="1250" b="1" dirty="0">
                <a:solidFill>
                  <a:srgbClr val="58BFD6"/>
                </a:solidFill>
                <a:latin typeface="Courier New" pitchFamily="34" charset="0"/>
                <a:ea typeface="Courier New" pitchFamily="34" charset="-122"/>
                <a:cs typeface="Courier New" pitchFamily="34" charset="-120"/>
              </a:rPr>
              <a:t>sightings</a:t>
            </a:r>
            <a:endParaRPr lang="en-US" sz="1250" dirty="0"/>
          </a:p>
        </p:txBody>
      </p:sp>
      <p:sp>
        <p:nvSpPr>
          <p:cNvPr id="10" name="Text 8"/>
          <p:cNvSpPr txBox="1"/>
          <p:nvPr/>
        </p:nvSpPr>
        <p:spPr>
          <a:xfrm>
            <a:off x="3749040" y="2359152"/>
            <a:ext cx="7436815" cy="475488"/>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One row per vehicle seen by one camera. The main table.</a:t>
            </a:r>
            <a:endParaRPr lang="en-US" sz="1300" dirty="0"/>
          </a:p>
        </p:txBody>
      </p:sp>
      <p:sp>
        <p:nvSpPr>
          <p:cNvPr id="11" name="Shape 9"/>
          <p:cNvSpPr/>
          <p:nvPr/>
        </p:nvSpPr>
        <p:spPr>
          <a:xfrm>
            <a:off x="640080" y="2907792"/>
            <a:ext cx="10911535" cy="475488"/>
          </a:xfrm>
          <a:prstGeom prst="roundRect">
            <a:avLst>
              <a:gd name="adj" fmla="val 11538"/>
            </a:avLst>
          </a:prstGeom>
          <a:solidFill>
            <a:srgbClr val="18242F"/>
          </a:solidFill>
          <a:ln w="12700">
            <a:solidFill>
              <a:srgbClr val="2E3F4E"/>
            </a:solidFill>
            <a:prstDash val="solid"/>
          </a:ln>
        </p:spPr>
      </p:sp>
      <p:sp>
        <p:nvSpPr>
          <p:cNvPr id="12" name="Text 10"/>
          <p:cNvSpPr txBox="1"/>
          <p:nvPr/>
        </p:nvSpPr>
        <p:spPr>
          <a:xfrm>
            <a:off x="914400" y="2907792"/>
            <a:ext cx="2651760" cy="475488"/>
          </a:xfrm>
          <a:prstGeom prst="rect">
            <a:avLst/>
          </a:prstGeom>
          <a:noFill/>
          <a:ln/>
        </p:spPr>
        <p:txBody>
          <a:bodyPr wrap="square" lIns="0" tIns="0" rIns="0" bIns="0" rtlCol="0" anchor="ctr"/>
          <a:lstStyle/>
          <a:p>
            <a:pPr indent="0" marL="0">
              <a:buNone/>
            </a:pPr>
            <a:r>
              <a:rPr lang="en-US" sz="1250" b="1" dirty="0">
                <a:solidFill>
                  <a:srgbClr val="58BFD6"/>
                </a:solidFill>
                <a:latin typeface="Courier New" pitchFamily="34" charset="0"/>
                <a:ea typeface="Courier New" pitchFamily="34" charset="-122"/>
                <a:cs typeface="Courier New" pitchFamily="34" charset="-120"/>
              </a:rPr>
              <a:t>plate_reads</a:t>
            </a:r>
            <a:endParaRPr lang="en-US" sz="1250" dirty="0"/>
          </a:p>
        </p:txBody>
      </p:sp>
      <p:sp>
        <p:nvSpPr>
          <p:cNvPr id="13" name="Text 11"/>
          <p:cNvSpPr txBox="1"/>
          <p:nvPr/>
        </p:nvSpPr>
        <p:spPr>
          <a:xfrm>
            <a:off x="3749040" y="2907792"/>
            <a:ext cx="7436815" cy="475488"/>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Every individual plate reading, before the vote. Kept as proof.</a:t>
            </a:r>
            <a:endParaRPr lang="en-US" sz="1300" dirty="0"/>
          </a:p>
        </p:txBody>
      </p:sp>
      <p:sp>
        <p:nvSpPr>
          <p:cNvPr id="14" name="Shape 12"/>
          <p:cNvSpPr/>
          <p:nvPr/>
        </p:nvSpPr>
        <p:spPr>
          <a:xfrm>
            <a:off x="640080" y="3456432"/>
            <a:ext cx="10911535" cy="475488"/>
          </a:xfrm>
          <a:prstGeom prst="roundRect">
            <a:avLst>
              <a:gd name="adj" fmla="val 11538"/>
            </a:avLst>
          </a:prstGeom>
          <a:solidFill>
            <a:srgbClr val="18242F"/>
          </a:solidFill>
          <a:ln w="12700">
            <a:solidFill>
              <a:srgbClr val="2E3F4E"/>
            </a:solidFill>
            <a:prstDash val="solid"/>
          </a:ln>
        </p:spPr>
      </p:sp>
      <p:sp>
        <p:nvSpPr>
          <p:cNvPr id="15" name="Text 13"/>
          <p:cNvSpPr txBox="1"/>
          <p:nvPr/>
        </p:nvSpPr>
        <p:spPr>
          <a:xfrm>
            <a:off x="914400" y="3456432"/>
            <a:ext cx="2651760" cy="475488"/>
          </a:xfrm>
          <a:prstGeom prst="rect">
            <a:avLst/>
          </a:prstGeom>
          <a:noFill/>
          <a:ln/>
        </p:spPr>
        <p:txBody>
          <a:bodyPr wrap="square" lIns="0" tIns="0" rIns="0" bIns="0" rtlCol="0" anchor="ctr"/>
          <a:lstStyle/>
          <a:p>
            <a:pPr indent="0" marL="0">
              <a:buNone/>
            </a:pPr>
            <a:r>
              <a:rPr lang="en-US" sz="1250" b="1" dirty="0">
                <a:solidFill>
                  <a:srgbClr val="F0B23F"/>
                </a:solidFill>
                <a:latin typeface="Courier New" pitchFamily="34" charset="0"/>
                <a:ea typeface="Courier New" pitchFamily="34" charset="-122"/>
                <a:cs typeface="Courier New" pitchFamily="34" charset="-120"/>
              </a:rPr>
              <a:t>vehicle_identities</a:t>
            </a:r>
            <a:endParaRPr lang="en-US" sz="1250" dirty="0"/>
          </a:p>
        </p:txBody>
      </p:sp>
      <p:sp>
        <p:nvSpPr>
          <p:cNvPr id="16" name="Text 14"/>
          <p:cNvSpPr txBox="1"/>
          <p:nvPr/>
        </p:nvSpPr>
        <p:spPr>
          <a:xfrm>
            <a:off x="3749040" y="3456432"/>
            <a:ext cx="7436815" cy="475488"/>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One row per REAL vehicle, after matching across cameras.</a:t>
            </a:r>
            <a:endParaRPr lang="en-US" sz="1300" dirty="0"/>
          </a:p>
        </p:txBody>
      </p:sp>
      <p:sp>
        <p:nvSpPr>
          <p:cNvPr id="17" name="Shape 15"/>
          <p:cNvSpPr/>
          <p:nvPr/>
        </p:nvSpPr>
        <p:spPr>
          <a:xfrm>
            <a:off x="640080" y="4005072"/>
            <a:ext cx="10911535" cy="475488"/>
          </a:xfrm>
          <a:prstGeom prst="roundRect">
            <a:avLst>
              <a:gd name="adj" fmla="val 11538"/>
            </a:avLst>
          </a:prstGeom>
          <a:solidFill>
            <a:srgbClr val="18242F"/>
          </a:solidFill>
          <a:ln w="12700">
            <a:solidFill>
              <a:srgbClr val="2E3F4E"/>
            </a:solidFill>
            <a:prstDash val="solid"/>
          </a:ln>
        </p:spPr>
      </p:sp>
      <p:sp>
        <p:nvSpPr>
          <p:cNvPr id="18" name="Text 16"/>
          <p:cNvSpPr txBox="1"/>
          <p:nvPr/>
        </p:nvSpPr>
        <p:spPr>
          <a:xfrm>
            <a:off x="914400" y="4005072"/>
            <a:ext cx="2651760" cy="475488"/>
          </a:xfrm>
          <a:prstGeom prst="rect">
            <a:avLst/>
          </a:prstGeom>
          <a:noFill/>
          <a:ln/>
        </p:spPr>
        <p:txBody>
          <a:bodyPr wrap="square" lIns="0" tIns="0" rIns="0" bIns="0" rtlCol="0" anchor="ctr"/>
          <a:lstStyle/>
          <a:p>
            <a:pPr indent="0" marL="0">
              <a:buNone/>
            </a:pPr>
            <a:r>
              <a:rPr lang="en-US" sz="1250" b="1" dirty="0">
                <a:solidFill>
                  <a:srgbClr val="F0B23F"/>
                </a:solidFill>
                <a:latin typeface="Courier New" pitchFamily="34" charset="0"/>
                <a:ea typeface="Courier New" pitchFamily="34" charset="-122"/>
                <a:cs typeface="Courier New" pitchFamily="34" charset="-120"/>
              </a:rPr>
              <a:t>identity_links</a:t>
            </a:r>
            <a:endParaRPr lang="en-US" sz="1250" dirty="0"/>
          </a:p>
        </p:txBody>
      </p:sp>
      <p:sp>
        <p:nvSpPr>
          <p:cNvPr id="19" name="Text 17"/>
          <p:cNvSpPr txBox="1"/>
          <p:nvPr/>
        </p:nvSpPr>
        <p:spPr>
          <a:xfrm>
            <a:off x="3749040" y="4005072"/>
            <a:ext cx="7436815" cy="475488"/>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One row per decision: these two sightings are the same vehicle.</a:t>
            </a:r>
            <a:endParaRPr lang="en-US" sz="1300" dirty="0"/>
          </a:p>
        </p:txBody>
      </p:sp>
      <p:sp>
        <p:nvSpPr>
          <p:cNvPr id="20" name="Shape 18"/>
          <p:cNvSpPr/>
          <p:nvPr/>
        </p:nvSpPr>
        <p:spPr>
          <a:xfrm>
            <a:off x="640080" y="4553712"/>
            <a:ext cx="10911535" cy="475488"/>
          </a:xfrm>
          <a:prstGeom prst="roundRect">
            <a:avLst>
              <a:gd name="adj" fmla="val 11538"/>
            </a:avLst>
          </a:prstGeom>
          <a:solidFill>
            <a:srgbClr val="18242F"/>
          </a:solidFill>
          <a:ln w="12700">
            <a:solidFill>
              <a:srgbClr val="2E3F4E"/>
            </a:solidFill>
            <a:prstDash val="solid"/>
          </a:ln>
        </p:spPr>
      </p:sp>
      <p:sp>
        <p:nvSpPr>
          <p:cNvPr id="21" name="Text 19"/>
          <p:cNvSpPr txBox="1"/>
          <p:nvPr/>
        </p:nvSpPr>
        <p:spPr>
          <a:xfrm>
            <a:off x="914400" y="4553712"/>
            <a:ext cx="2651760" cy="475488"/>
          </a:xfrm>
          <a:prstGeom prst="rect">
            <a:avLst/>
          </a:prstGeom>
          <a:noFill/>
          <a:ln/>
        </p:spPr>
        <p:txBody>
          <a:bodyPr wrap="square" lIns="0" tIns="0" rIns="0" bIns="0" rtlCol="0" anchor="ctr"/>
          <a:lstStyle/>
          <a:p>
            <a:pPr indent="0" marL="0">
              <a:buNone/>
            </a:pPr>
            <a:r>
              <a:rPr lang="en-US" sz="1250" b="1" dirty="0">
                <a:solidFill>
                  <a:srgbClr val="46C888"/>
                </a:solidFill>
                <a:latin typeface="Courier New" pitchFamily="34" charset="0"/>
                <a:ea typeface="Courier New" pitchFamily="34" charset="-122"/>
                <a:cs typeface="Courier New" pitchFamily="34" charset="-120"/>
              </a:rPr>
              <a:t>journeys</a:t>
            </a:r>
            <a:endParaRPr lang="en-US" sz="1250" dirty="0"/>
          </a:p>
        </p:txBody>
      </p:sp>
      <p:sp>
        <p:nvSpPr>
          <p:cNvPr id="22" name="Text 20"/>
          <p:cNvSpPr txBox="1"/>
          <p:nvPr/>
        </p:nvSpPr>
        <p:spPr>
          <a:xfrm>
            <a:off x="3749040" y="4553712"/>
            <a:ext cx="7436815" cy="475488"/>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One row per rebuilt trip across the city.</a:t>
            </a:r>
            <a:endParaRPr lang="en-US" sz="1300" dirty="0"/>
          </a:p>
        </p:txBody>
      </p:sp>
      <p:sp>
        <p:nvSpPr>
          <p:cNvPr id="23" name="Shape 21"/>
          <p:cNvSpPr/>
          <p:nvPr/>
        </p:nvSpPr>
        <p:spPr>
          <a:xfrm>
            <a:off x="640080" y="5102352"/>
            <a:ext cx="10911535" cy="475488"/>
          </a:xfrm>
          <a:prstGeom prst="roundRect">
            <a:avLst>
              <a:gd name="adj" fmla="val 11538"/>
            </a:avLst>
          </a:prstGeom>
          <a:solidFill>
            <a:srgbClr val="18242F"/>
          </a:solidFill>
          <a:ln w="12700">
            <a:solidFill>
              <a:srgbClr val="2E3F4E"/>
            </a:solidFill>
            <a:prstDash val="solid"/>
          </a:ln>
        </p:spPr>
      </p:sp>
      <p:sp>
        <p:nvSpPr>
          <p:cNvPr id="24" name="Text 22"/>
          <p:cNvSpPr txBox="1"/>
          <p:nvPr/>
        </p:nvSpPr>
        <p:spPr>
          <a:xfrm>
            <a:off x="914400" y="5102352"/>
            <a:ext cx="2651760" cy="475488"/>
          </a:xfrm>
          <a:prstGeom prst="rect">
            <a:avLst/>
          </a:prstGeom>
          <a:noFill/>
          <a:ln/>
        </p:spPr>
        <p:txBody>
          <a:bodyPr wrap="square" lIns="0" tIns="0" rIns="0" bIns="0" rtlCol="0" anchor="ctr"/>
          <a:lstStyle/>
          <a:p>
            <a:pPr indent="0" marL="0">
              <a:buNone/>
            </a:pPr>
            <a:r>
              <a:rPr lang="en-US" sz="1250" b="1" dirty="0">
                <a:solidFill>
                  <a:srgbClr val="46C888"/>
                </a:solidFill>
                <a:latin typeface="Courier New" pitchFamily="34" charset="0"/>
                <a:ea typeface="Courier New" pitchFamily="34" charset="-122"/>
                <a:cs typeface="Courier New" pitchFamily="34" charset="-120"/>
              </a:rPr>
              <a:t>journey_hops</a:t>
            </a:r>
            <a:endParaRPr lang="en-US" sz="1250" dirty="0"/>
          </a:p>
        </p:txBody>
      </p:sp>
      <p:sp>
        <p:nvSpPr>
          <p:cNvPr id="25" name="Text 23"/>
          <p:cNvSpPr txBox="1"/>
          <p:nvPr/>
        </p:nvSpPr>
        <p:spPr>
          <a:xfrm>
            <a:off x="3749040" y="5102352"/>
            <a:ext cx="7436815" cy="475488"/>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One row per leg of a trip. CAM01 to CAM02 is one hop.</a:t>
            </a:r>
            <a:endParaRPr lang="en-US" sz="1300" dirty="0"/>
          </a:p>
        </p:txBody>
      </p:sp>
      <p:sp>
        <p:nvSpPr>
          <p:cNvPr id="26" name="Shape 24"/>
          <p:cNvSpPr/>
          <p:nvPr/>
        </p:nvSpPr>
        <p:spPr>
          <a:xfrm>
            <a:off x="640080" y="5650992"/>
            <a:ext cx="10911535" cy="475488"/>
          </a:xfrm>
          <a:prstGeom prst="roundRect">
            <a:avLst>
              <a:gd name="adj" fmla="val 11538"/>
            </a:avLst>
          </a:prstGeom>
          <a:solidFill>
            <a:srgbClr val="18242F"/>
          </a:solidFill>
          <a:ln w="12700">
            <a:solidFill>
              <a:srgbClr val="2E3F4E"/>
            </a:solidFill>
            <a:prstDash val="solid"/>
          </a:ln>
        </p:spPr>
      </p:sp>
      <p:sp>
        <p:nvSpPr>
          <p:cNvPr id="27" name="Text 25"/>
          <p:cNvSpPr txBox="1"/>
          <p:nvPr/>
        </p:nvSpPr>
        <p:spPr>
          <a:xfrm>
            <a:off x="914400" y="5650992"/>
            <a:ext cx="2651760" cy="475488"/>
          </a:xfrm>
          <a:prstGeom prst="rect">
            <a:avLst/>
          </a:prstGeom>
          <a:noFill/>
          <a:ln/>
        </p:spPr>
        <p:txBody>
          <a:bodyPr wrap="square" lIns="0" tIns="0" rIns="0" bIns="0" rtlCol="0" anchor="ctr"/>
          <a:lstStyle/>
          <a:p>
            <a:pPr indent="0" marL="0">
              <a:buNone/>
            </a:pPr>
            <a:r>
              <a:rPr lang="en-US" sz="1250" b="1" dirty="0">
                <a:solidFill>
                  <a:srgbClr val="EC6055"/>
                </a:solidFill>
                <a:latin typeface="Courier New" pitchFamily="34" charset="0"/>
                <a:ea typeface="Courier New" pitchFamily="34" charset="-122"/>
                <a:cs typeface="Courier New" pitchFamily="34" charset="-120"/>
              </a:rPr>
              <a:t>alerts</a:t>
            </a:r>
            <a:endParaRPr lang="en-US" sz="1250" dirty="0"/>
          </a:p>
        </p:txBody>
      </p:sp>
      <p:sp>
        <p:nvSpPr>
          <p:cNvPr id="28" name="Text 26"/>
          <p:cNvSpPr txBox="1"/>
          <p:nvPr/>
        </p:nvSpPr>
        <p:spPr>
          <a:xfrm>
            <a:off x="3749040" y="5650992"/>
            <a:ext cx="7436815" cy="475488"/>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One row per watchlist hit.</a:t>
            </a:r>
            <a:endParaRPr lang="en-US" sz="1300" dirty="0"/>
          </a:p>
        </p:txBody>
      </p:sp>
      <p:sp>
        <p:nvSpPr>
          <p:cNvPr id="29" name="Text 27"/>
          <p:cNvSpPr txBox="1"/>
          <p:nvPr/>
        </p:nvSpPr>
        <p:spPr>
          <a:xfrm>
            <a:off x="640080" y="6263640"/>
            <a:ext cx="10911535" cy="365760"/>
          </a:xfrm>
          <a:prstGeom prst="rect">
            <a:avLst/>
          </a:prstGeom>
          <a:noFill/>
          <a:ln/>
        </p:spPr>
        <p:txBody>
          <a:bodyPr wrap="square" lIns="0" tIns="0" rIns="0" bIns="0" rtlCol="0" anchor="ctr"/>
          <a:lstStyle/>
          <a:p>
            <a:pPr indent="0" marL="0">
              <a:buNone/>
            </a:pPr>
            <a:r>
              <a:rPr lang="en-US" sz="1300" i="1" dirty="0">
                <a:solidFill>
                  <a:srgbClr val="8496A6"/>
                </a:solidFill>
                <a:latin typeface="Calibri" pitchFamily="34" charset="0"/>
                <a:ea typeface="Calibri" pitchFamily="34" charset="-122"/>
                <a:cs typeface="Calibri" pitchFamily="34" charset="-120"/>
              </a:rPr>
              <a:t>Notice we keep plate_reads — every raw reading, not just the voted answer. That is deliberate: it means we can always show our working.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10 — SETTINGS</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What you can safely change on the day</a:t>
            </a:r>
            <a:endParaRPr lang="en-US" sz="3200" dirty="0"/>
          </a:p>
        </p:txBody>
      </p:sp>
      <p:sp>
        <p:nvSpPr>
          <p:cNvPr id="4" name="Shape 2"/>
          <p:cNvSpPr/>
          <p:nvPr/>
        </p:nvSpPr>
        <p:spPr>
          <a:xfrm>
            <a:off x="640080" y="1691640"/>
            <a:ext cx="5257800" cy="4114800"/>
          </a:xfrm>
          <a:prstGeom prst="roundRect">
            <a:avLst>
              <a:gd name="adj" fmla="val 1333"/>
            </a:avLst>
          </a:prstGeom>
          <a:solidFill>
            <a:srgbClr val="18242F"/>
          </a:solidFill>
          <a:ln w="12700">
            <a:solidFill>
              <a:srgbClr val="2E3F4E"/>
            </a:solidFill>
            <a:prstDash val="solid"/>
          </a:ln>
        </p:spPr>
      </p:sp>
      <p:sp>
        <p:nvSpPr>
          <p:cNvPr id="5" name="Text 3"/>
          <p:cNvSpPr txBox="1"/>
          <p:nvPr/>
        </p:nvSpPr>
        <p:spPr>
          <a:xfrm>
            <a:off x="960120" y="1874520"/>
            <a:ext cx="4572000" cy="320040"/>
          </a:xfrm>
          <a:prstGeom prst="rect">
            <a:avLst/>
          </a:prstGeom>
          <a:noFill/>
          <a:ln/>
        </p:spPr>
        <p:txBody>
          <a:bodyPr wrap="square" lIns="0" tIns="0" rIns="0" bIns="0" rtlCol="0" anchor="ctr"/>
          <a:lstStyle/>
          <a:p>
            <a:pPr indent="0" marL="0">
              <a:buNone/>
            </a:pPr>
            <a:r>
              <a:rPr lang="en-US" sz="1500" b="1" spc="150" kern="0" dirty="0">
                <a:solidFill>
                  <a:srgbClr val="46C888"/>
                </a:solidFill>
                <a:latin typeface="Arial" pitchFamily="34" charset="0"/>
                <a:ea typeface="Arial" pitchFamily="34" charset="-122"/>
                <a:cs typeface="Arial" pitchFamily="34" charset="-120"/>
              </a:rPr>
              <a:t>SAFE TO CHANGE</a:t>
            </a:r>
            <a:endParaRPr lang="en-US" sz="1500" dirty="0"/>
          </a:p>
        </p:txBody>
      </p:sp>
      <p:sp>
        <p:nvSpPr>
          <p:cNvPr id="6" name="Text 4"/>
          <p:cNvSpPr txBox="1"/>
          <p:nvPr/>
        </p:nvSpPr>
        <p:spPr>
          <a:xfrm>
            <a:off x="960120" y="2286000"/>
            <a:ext cx="4617720" cy="256032"/>
          </a:xfrm>
          <a:prstGeom prst="rect">
            <a:avLst/>
          </a:prstGeom>
          <a:noFill/>
          <a:ln/>
        </p:spPr>
        <p:txBody>
          <a:bodyPr wrap="square" lIns="0" tIns="0" rIns="0" bIns="0" rtlCol="0" anchor="ctr"/>
          <a:lstStyle/>
          <a:p>
            <a:pPr indent="0" marL="0">
              <a:buNone/>
            </a:pPr>
            <a:r>
              <a:rPr lang="en-US" sz="1150" dirty="0">
                <a:solidFill>
                  <a:srgbClr val="46C888"/>
                </a:solidFill>
                <a:latin typeface="Courier New" pitchFamily="34" charset="0"/>
                <a:ea typeface="Courier New" pitchFamily="34" charset="-122"/>
                <a:cs typeface="Courier New" pitchFamily="34" charset="-120"/>
              </a:rPr>
              <a:t>detection.imgsz</a:t>
            </a:r>
            <a:endParaRPr lang="en-US" sz="1150" dirty="0"/>
          </a:p>
        </p:txBody>
      </p:sp>
      <p:sp>
        <p:nvSpPr>
          <p:cNvPr id="7" name="Text 5"/>
          <p:cNvSpPr txBox="1"/>
          <p:nvPr/>
        </p:nvSpPr>
        <p:spPr>
          <a:xfrm>
            <a:off x="960120" y="2523744"/>
            <a:ext cx="4617720" cy="438912"/>
          </a:xfrm>
          <a:prstGeom prst="rect">
            <a:avLst/>
          </a:prstGeom>
          <a:noFill/>
          <a:ln/>
        </p:spPr>
        <p:txBody>
          <a:bodyPr wrap="square" lIns="0" tIns="0" rIns="0" bIns="0" rtlCol="0" anchor="ctr"/>
          <a:lstStyle/>
          <a:p>
            <a:pPr indent="0" marL="0">
              <a:buNone/>
            </a:pPr>
            <a:r>
              <a:rPr lang="en-US" sz="1200" dirty="0">
                <a:solidFill>
                  <a:srgbClr val="BCC9D5"/>
                </a:solidFill>
                <a:latin typeface="Calibri" pitchFamily="34" charset="0"/>
                <a:ea typeface="Calibri" pitchFamily="34" charset="-122"/>
                <a:cs typeface="Calibri" pitchFamily="34" charset="-120"/>
              </a:rPr>
              <a:t>Lower it to 480 if the laptop is slow. Faster, slightly less accurate.</a:t>
            </a:r>
            <a:endParaRPr lang="en-US" sz="1200" dirty="0"/>
          </a:p>
        </p:txBody>
      </p:sp>
      <p:sp>
        <p:nvSpPr>
          <p:cNvPr id="8" name="Text 6"/>
          <p:cNvSpPr txBox="1"/>
          <p:nvPr/>
        </p:nvSpPr>
        <p:spPr>
          <a:xfrm>
            <a:off x="960120" y="2999232"/>
            <a:ext cx="4617720" cy="256032"/>
          </a:xfrm>
          <a:prstGeom prst="rect">
            <a:avLst/>
          </a:prstGeom>
          <a:noFill/>
          <a:ln/>
        </p:spPr>
        <p:txBody>
          <a:bodyPr wrap="square" lIns="0" tIns="0" rIns="0" bIns="0" rtlCol="0" anchor="ctr"/>
          <a:lstStyle/>
          <a:p>
            <a:pPr indent="0" marL="0">
              <a:buNone/>
            </a:pPr>
            <a:r>
              <a:rPr lang="en-US" sz="1150" dirty="0">
                <a:solidFill>
                  <a:srgbClr val="46C888"/>
                </a:solidFill>
                <a:latin typeface="Courier New" pitchFamily="34" charset="0"/>
                <a:ea typeface="Courier New" pitchFamily="34" charset="-122"/>
                <a:cs typeface="Courier New" pitchFamily="34" charset="-120"/>
              </a:rPr>
              <a:t>target_fps</a:t>
            </a:r>
            <a:endParaRPr lang="en-US" sz="1150" dirty="0"/>
          </a:p>
        </p:txBody>
      </p:sp>
      <p:sp>
        <p:nvSpPr>
          <p:cNvPr id="9" name="Text 7"/>
          <p:cNvSpPr txBox="1"/>
          <p:nvPr/>
        </p:nvSpPr>
        <p:spPr>
          <a:xfrm>
            <a:off x="960120" y="3236976"/>
            <a:ext cx="4617720" cy="438912"/>
          </a:xfrm>
          <a:prstGeom prst="rect">
            <a:avLst/>
          </a:prstGeom>
          <a:noFill/>
          <a:ln/>
        </p:spPr>
        <p:txBody>
          <a:bodyPr wrap="square" lIns="0" tIns="0" rIns="0" bIns="0" rtlCol="0" anchor="ctr"/>
          <a:lstStyle/>
          <a:p>
            <a:pPr indent="0" marL="0">
              <a:buNone/>
            </a:pPr>
            <a:r>
              <a:rPr lang="en-US" sz="1200" dirty="0">
                <a:solidFill>
                  <a:srgbClr val="BCC9D5"/>
                </a:solidFill>
                <a:latin typeface="Calibri" pitchFamily="34" charset="0"/>
                <a:ea typeface="Calibri" pitchFamily="34" charset="-122"/>
                <a:cs typeface="Calibri" pitchFamily="34" charset="-120"/>
              </a:rPr>
              <a:t>Frames processed per second. Lower = faster.</a:t>
            </a:r>
            <a:endParaRPr lang="en-US" sz="1200" dirty="0"/>
          </a:p>
        </p:txBody>
      </p:sp>
      <p:sp>
        <p:nvSpPr>
          <p:cNvPr id="10" name="Text 8"/>
          <p:cNvSpPr txBox="1"/>
          <p:nvPr/>
        </p:nvSpPr>
        <p:spPr>
          <a:xfrm>
            <a:off x="960120" y="3712464"/>
            <a:ext cx="4617720" cy="256032"/>
          </a:xfrm>
          <a:prstGeom prst="rect">
            <a:avLst/>
          </a:prstGeom>
          <a:noFill/>
          <a:ln/>
        </p:spPr>
        <p:txBody>
          <a:bodyPr wrap="square" lIns="0" tIns="0" rIns="0" bIns="0" rtlCol="0" anchor="ctr"/>
          <a:lstStyle/>
          <a:p>
            <a:pPr indent="0" marL="0">
              <a:buNone/>
            </a:pPr>
            <a:r>
              <a:rPr lang="en-US" sz="1150" dirty="0">
                <a:solidFill>
                  <a:srgbClr val="46C888"/>
                </a:solidFill>
                <a:latin typeface="Courier New" pitchFamily="34" charset="0"/>
                <a:ea typeface="Courier New" pitchFamily="34" charset="-122"/>
                <a:cs typeface="Courier New" pitchFamily="34" charset="-120"/>
              </a:rPr>
              <a:t>anpr.every_n_frames</a:t>
            </a:r>
            <a:endParaRPr lang="en-US" sz="1150" dirty="0"/>
          </a:p>
        </p:txBody>
      </p:sp>
      <p:sp>
        <p:nvSpPr>
          <p:cNvPr id="11" name="Text 9"/>
          <p:cNvSpPr txBox="1"/>
          <p:nvPr/>
        </p:nvSpPr>
        <p:spPr>
          <a:xfrm>
            <a:off x="960120" y="3950208"/>
            <a:ext cx="4617720" cy="438912"/>
          </a:xfrm>
          <a:prstGeom prst="rect">
            <a:avLst/>
          </a:prstGeom>
          <a:noFill/>
          <a:ln/>
        </p:spPr>
        <p:txBody>
          <a:bodyPr wrap="square" lIns="0" tIns="0" rIns="0" bIns="0" rtlCol="0" anchor="ctr"/>
          <a:lstStyle/>
          <a:p>
            <a:pPr indent="0" marL="0">
              <a:buNone/>
            </a:pPr>
            <a:r>
              <a:rPr lang="en-US" sz="1200" dirty="0">
                <a:solidFill>
                  <a:srgbClr val="BCC9D5"/>
                </a:solidFill>
                <a:latin typeface="Calibri" pitchFamily="34" charset="0"/>
                <a:ea typeface="Calibri" pitchFamily="34" charset="-122"/>
                <a:cs typeface="Calibri" pitchFamily="34" charset="-120"/>
              </a:rPr>
              <a:t>Read plates less often to save time.</a:t>
            </a:r>
            <a:endParaRPr lang="en-US" sz="1200" dirty="0"/>
          </a:p>
        </p:txBody>
      </p:sp>
      <p:sp>
        <p:nvSpPr>
          <p:cNvPr id="12" name="Text 10"/>
          <p:cNvSpPr txBox="1"/>
          <p:nvPr/>
        </p:nvSpPr>
        <p:spPr>
          <a:xfrm>
            <a:off x="960120" y="4425696"/>
            <a:ext cx="4617720" cy="256032"/>
          </a:xfrm>
          <a:prstGeom prst="rect">
            <a:avLst/>
          </a:prstGeom>
          <a:noFill/>
          <a:ln/>
        </p:spPr>
        <p:txBody>
          <a:bodyPr wrap="square" lIns="0" tIns="0" rIns="0" bIns="0" rtlCol="0" anchor="ctr"/>
          <a:lstStyle/>
          <a:p>
            <a:pPr indent="0" marL="0">
              <a:buNone/>
            </a:pPr>
            <a:r>
              <a:rPr lang="en-US" sz="1150" dirty="0">
                <a:solidFill>
                  <a:srgbClr val="46C888"/>
                </a:solidFill>
                <a:latin typeface="Courier New" pitchFamily="34" charset="0"/>
                <a:ea typeface="Courier New" pitchFamily="34" charset="-122"/>
                <a:cs typeface="Courier New" pitchFamily="34" charset="-120"/>
              </a:rPr>
              <a:t>runtime.mode</a:t>
            </a:r>
            <a:endParaRPr lang="en-US" sz="1150" dirty="0"/>
          </a:p>
        </p:txBody>
      </p:sp>
      <p:sp>
        <p:nvSpPr>
          <p:cNvPr id="13" name="Text 11"/>
          <p:cNvSpPr txBox="1"/>
          <p:nvPr/>
        </p:nvSpPr>
        <p:spPr>
          <a:xfrm>
            <a:off x="960120" y="4663440"/>
            <a:ext cx="4617720" cy="438912"/>
          </a:xfrm>
          <a:prstGeom prst="rect">
            <a:avLst/>
          </a:prstGeom>
          <a:noFill/>
          <a:ln/>
        </p:spPr>
        <p:txBody>
          <a:bodyPr wrap="square" lIns="0" tIns="0" rIns="0" bIns="0" rtlCol="0" anchor="ctr"/>
          <a:lstStyle/>
          <a:p>
            <a:pPr indent="0" marL="0">
              <a:buNone/>
            </a:pPr>
            <a:r>
              <a:rPr lang="en-US" sz="1200" dirty="0">
                <a:solidFill>
                  <a:srgbClr val="BCC9D5"/>
                </a:solidFill>
                <a:latin typeface="Calibri" pitchFamily="34" charset="0"/>
                <a:ea typeface="Calibri" pitchFamily="34" charset="-122"/>
                <a:cs typeface="Calibri" pitchFamily="34" charset="-120"/>
              </a:rPr>
              <a:t>"realtime" looks live. "fast" processes as quickly as it can.</a:t>
            </a:r>
            <a:endParaRPr lang="en-US" sz="1200" dirty="0"/>
          </a:p>
        </p:txBody>
      </p:sp>
      <p:sp>
        <p:nvSpPr>
          <p:cNvPr id="14" name="Text 12"/>
          <p:cNvSpPr txBox="1"/>
          <p:nvPr/>
        </p:nvSpPr>
        <p:spPr>
          <a:xfrm>
            <a:off x="960120" y="5138928"/>
            <a:ext cx="4617720" cy="256032"/>
          </a:xfrm>
          <a:prstGeom prst="rect">
            <a:avLst/>
          </a:prstGeom>
          <a:noFill/>
          <a:ln/>
        </p:spPr>
        <p:txBody>
          <a:bodyPr wrap="square" lIns="0" tIns="0" rIns="0" bIns="0" rtlCol="0" anchor="ctr"/>
          <a:lstStyle/>
          <a:p>
            <a:pPr indent="0" marL="0">
              <a:buNone/>
            </a:pPr>
            <a:r>
              <a:rPr lang="en-US" sz="1150" dirty="0">
                <a:solidFill>
                  <a:srgbClr val="46C888"/>
                </a:solidFill>
                <a:latin typeface="Courier New" pitchFamily="34" charset="0"/>
                <a:ea typeface="Courier New" pitchFamily="34" charset="-122"/>
                <a:cs typeface="Courier New" pitchFamily="34" charset="-120"/>
              </a:rPr>
              <a:t>watchlist.yaml</a:t>
            </a:r>
            <a:endParaRPr lang="en-US" sz="1150" dirty="0"/>
          </a:p>
        </p:txBody>
      </p:sp>
      <p:sp>
        <p:nvSpPr>
          <p:cNvPr id="15" name="Text 13"/>
          <p:cNvSpPr txBox="1"/>
          <p:nvPr/>
        </p:nvSpPr>
        <p:spPr>
          <a:xfrm>
            <a:off x="960120" y="5376672"/>
            <a:ext cx="4617720" cy="438912"/>
          </a:xfrm>
          <a:prstGeom prst="rect">
            <a:avLst/>
          </a:prstGeom>
          <a:noFill/>
          <a:ln/>
        </p:spPr>
        <p:txBody>
          <a:bodyPr wrap="square" lIns="0" tIns="0" rIns="0" bIns="0" rtlCol="0" anchor="ctr"/>
          <a:lstStyle/>
          <a:p>
            <a:pPr indent="0" marL="0">
              <a:buNone/>
            </a:pPr>
            <a:r>
              <a:rPr lang="en-US" sz="1200" dirty="0">
                <a:solidFill>
                  <a:srgbClr val="BCC9D5"/>
                </a:solidFill>
                <a:latin typeface="Calibri" pitchFamily="34" charset="0"/>
                <a:ea typeface="Calibri" pitchFamily="34" charset="-122"/>
                <a:cs typeface="Calibri" pitchFamily="34" charset="-120"/>
              </a:rPr>
              <a:t>Add or remove plates to alert on.</a:t>
            </a:r>
            <a:endParaRPr lang="en-US" sz="1200" dirty="0"/>
          </a:p>
        </p:txBody>
      </p:sp>
      <p:sp>
        <p:nvSpPr>
          <p:cNvPr id="16" name="Shape 14"/>
          <p:cNvSpPr/>
          <p:nvPr/>
        </p:nvSpPr>
        <p:spPr>
          <a:xfrm>
            <a:off x="6291072" y="1691640"/>
            <a:ext cx="5257800" cy="4114800"/>
          </a:xfrm>
          <a:prstGeom prst="roundRect">
            <a:avLst>
              <a:gd name="adj" fmla="val 1333"/>
            </a:avLst>
          </a:prstGeom>
          <a:solidFill>
            <a:srgbClr val="2A1A18"/>
          </a:solidFill>
          <a:ln w="12700">
            <a:solidFill>
              <a:srgbClr val="2E3F4E"/>
            </a:solidFill>
            <a:prstDash val="solid"/>
          </a:ln>
        </p:spPr>
      </p:sp>
      <p:sp>
        <p:nvSpPr>
          <p:cNvPr id="17" name="Text 15"/>
          <p:cNvSpPr txBox="1"/>
          <p:nvPr/>
        </p:nvSpPr>
        <p:spPr>
          <a:xfrm>
            <a:off x="6611112" y="1874520"/>
            <a:ext cx="4754880" cy="320040"/>
          </a:xfrm>
          <a:prstGeom prst="rect">
            <a:avLst/>
          </a:prstGeom>
          <a:noFill/>
          <a:ln/>
        </p:spPr>
        <p:txBody>
          <a:bodyPr wrap="square" lIns="0" tIns="0" rIns="0" bIns="0" rtlCol="0" anchor="ctr"/>
          <a:lstStyle/>
          <a:p>
            <a:pPr indent="0" marL="0">
              <a:buNone/>
            </a:pPr>
            <a:r>
              <a:rPr lang="en-US" sz="1500" b="1" spc="120" kern="0" dirty="0">
                <a:solidFill>
                  <a:srgbClr val="EC6055"/>
                </a:solidFill>
                <a:latin typeface="Arial" pitchFamily="34" charset="0"/>
                <a:ea typeface="Arial" pitchFamily="34" charset="-122"/>
                <a:cs typeface="Arial" pitchFamily="34" charset="-120"/>
              </a:rPr>
              <a:t>DO NOT TOUCH BEFORE A DEMO</a:t>
            </a:r>
            <a:endParaRPr lang="en-US" sz="1500" dirty="0"/>
          </a:p>
        </p:txBody>
      </p:sp>
      <p:sp>
        <p:nvSpPr>
          <p:cNvPr id="18" name="Text 16"/>
          <p:cNvSpPr txBox="1"/>
          <p:nvPr/>
        </p:nvSpPr>
        <p:spPr>
          <a:xfrm>
            <a:off x="6611112" y="2286000"/>
            <a:ext cx="4617720" cy="256032"/>
          </a:xfrm>
          <a:prstGeom prst="rect">
            <a:avLst/>
          </a:prstGeom>
          <a:noFill/>
          <a:ln/>
        </p:spPr>
        <p:txBody>
          <a:bodyPr wrap="square" lIns="0" tIns="0" rIns="0" bIns="0" rtlCol="0" anchor="ctr"/>
          <a:lstStyle/>
          <a:p>
            <a:pPr indent="0" marL="0">
              <a:buNone/>
            </a:pPr>
            <a:r>
              <a:rPr lang="en-US" sz="1150" dirty="0">
                <a:solidFill>
                  <a:srgbClr val="EC6055"/>
                </a:solidFill>
                <a:latin typeface="Courier New" pitchFamily="34" charset="0"/>
                <a:ea typeface="Courier New" pitchFamily="34" charset="-122"/>
                <a:cs typeface="Courier New" pitchFamily="34" charset="-120"/>
              </a:rPr>
              <a:t>clock_offset_s</a:t>
            </a:r>
            <a:endParaRPr lang="en-US" sz="1150" dirty="0"/>
          </a:p>
        </p:txBody>
      </p:sp>
      <p:sp>
        <p:nvSpPr>
          <p:cNvPr id="19" name="Text 17"/>
          <p:cNvSpPr txBox="1"/>
          <p:nvPr/>
        </p:nvSpPr>
        <p:spPr>
          <a:xfrm>
            <a:off x="6611112" y="2523744"/>
            <a:ext cx="4617720" cy="621792"/>
          </a:xfrm>
          <a:prstGeom prst="rect">
            <a:avLst/>
          </a:prstGeom>
          <a:noFill/>
          <a:ln/>
        </p:spPr>
        <p:txBody>
          <a:bodyPr wrap="square" lIns="0" tIns="0" rIns="0" bIns="0" rtlCol="0" anchor="ctr"/>
          <a:lstStyle/>
          <a:p>
            <a:pPr indent="0" marL="0">
              <a:lnSpc>
                <a:spcPct val="105000"/>
              </a:lnSpc>
              <a:buNone/>
            </a:pPr>
            <a:r>
              <a:rPr lang="en-US" sz="1200" dirty="0">
                <a:solidFill>
                  <a:srgbClr val="BCC9D5"/>
                </a:solidFill>
                <a:latin typeface="Calibri" pitchFamily="34" charset="0"/>
                <a:ea typeface="Calibri" pitchFamily="34" charset="-122"/>
                <a:cs typeface="Calibri" pitchFamily="34" charset="-120"/>
              </a:rPr>
              <a:t>The camera time offsets. These set the implied travel speeds. Change one and the physics check will correctly start rejecting real matches.</a:t>
            </a:r>
            <a:endParaRPr lang="en-US" sz="1200" dirty="0"/>
          </a:p>
        </p:txBody>
      </p:sp>
      <p:sp>
        <p:nvSpPr>
          <p:cNvPr id="20" name="Text 18"/>
          <p:cNvSpPr txBox="1"/>
          <p:nvPr/>
        </p:nvSpPr>
        <p:spPr>
          <a:xfrm>
            <a:off x="6611112" y="3182112"/>
            <a:ext cx="4617720" cy="256032"/>
          </a:xfrm>
          <a:prstGeom prst="rect">
            <a:avLst/>
          </a:prstGeom>
          <a:noFill/>
          <a:ln/>
        </p:spPr>
        <p:txBody>
          <a:bodyPr wrap="square" lIns="0" tIns="0" rIns="0" bIns="0" rtlCol="0" anchor="ctr"/>
          <a:lstStyle/>
          <a:p>
            <a:pPr indent="0" marL="0">
              <a:buNone/>
            </a:pPr>
            <a:r>
              <a:rPr lang="en-US" sz="1150" dirty="0">
                <a:solidFill>
                  <a:srgbClr val="EC6055"/>
                </a:solidFill>
                <a:latin typeface="Courier New" pitchFamily="34" charset="0"/>
                <a:ea typeface="Courier New" pitchFamily="34" charset="-122"/>
                <a:cs typeface="Courier New" pitchFamily="34" charset="-120"/>
              </a:rPr>
              <a:t>city_graph.yaml distances</a:t>
            </a:r>
            <a:endParaRPr lang="en-US" sz="1150" dirty="0"/>
          </a:p>
        </p:txBody>
      </p:sp>
      <p:sp>
        <p:nvSpPr>
          <p:cNvPr id="21" name="Text 19"/>
          <p:cNvSpPr txBox="1"/>
          <p:nvPr/>
        </p:nvSpPr>
        <p:spPr>
          <a:xfrm>
            <a:off x="6611112" y="3419856"/>
            <a:ext cx="4617720" cy="621792"/>
          </a:xfrm>
          <a:prstGeom prst="rect">
            <a:avLst/>
          </a:prstGeom>
          <a:noFill/>
          <a:ln/>
        </p:spPr>
        <p:txBody>
          <a:bodyPr wrap="square" lIns="0" tIns="0" rIns="0" bIns="0" rtlCol="0" anchor="ctr"/>
          <a:lstStyle/>
          <a:p>
            <a:pPr indent="0" marL="0">
              <a:lnSpc>
                <a:spcPct val="105000"/>
              </a:lnSpc>
              <a:buNone/>
            </a:pPr>
            <a:r>
              <a:rPr lang="en-US" sz="1200" dirty="0">
                <a:solidFill>
                  <a:srgbClr val="BCC9D5"/>
                </a:solidFill>
                <a:latin typeface="Calibri" pitchFamily="34" charset="0"/>
                <a:ea typeface="Calibri" pitchFamily="34" charset="-122"/>
                <a:cs typeface="Calibri" pitchFamily="34" charset="-120"/>
              </a:rPr>
              <a:t>Same reason. The whole veto depends on these being honest.</a:t>
            </a:r>
            <a:endParaRPr lang="en-US" sz="1200" dirty="0"/>
          </a:p>
        </p:txBody>
      </p:sp>
      <p:sp>
        <p:nvSpPr>
          <p:cNvPr id="22" name="Text 20"/>
          <p:cNvSpPr txBox="1"/>
          <p:nvPr/>
        </p:nvSpPr>
        <p:spPr>
          <a:xfrm>
            <a:off x="6611112" y="4078224"/>
            <a:ext cx="4617720" cy="256032"/>
          </a:xfrm>
          <a:prstGeom prst="rect">
            <a:avLst/>
          </a:prstGeom>
          <a:noFill/>
          <a:ln/>
        </p:spPr>
        <p:txBody>
          <a:bodyPr wrap="square" lIns="0" tIns="0" rIns="0" bIns="0" rtlCol="0" anchor="ctr"/>
          <a:lstStyle/>
          <a:p>
            <a:pPr indent="0" marL="0">
              <a:buNone/>
            </a:pPr>
            <a:r>
              <a:rPr lang="en-US" sz="1150" dirty="0">
                <a:solidFill>
                  <a:srgbClr val="EC6055"/>
                </a:solidFill>
                <a:latin typeface="Courier New" pitchFamily="34" charset="0"/>
                <a:ea typeface="Courier New" pitchFamily="34" charset="-122"/>
                <a:cs typeface="Courier New" pitchFamily="34" charset="-120"/>
              </a:rPr>
              <a:t>accept_threshold</a:t>
            </a:r>
            <a:endParaRPr lang="en-US" sz="1150" dirty="0"/>
          </a:p>
        </p:txBody>
      </p:sp>
      <p:sp>
        <p:nvSpPr>
          <p:cNvPr id="23" name="Text 21"/>
          <p:cNvSpPr txBox="1"/>
          <p:nvPr/>
        </p:nvSpPr>
        <p:spPr>
          <a:xfrm>
            <a:off x="6611112" y="4315968"/>
            <a:ext cx="4617720" cy="621792"/>
          </a:xfrm>
          <a:prstGeom prst="rect">
            <a:avLst/>
          </a:prstGeom>
          <a:noFill/>
          <a:ln/>
        </p:spPr>
        <p:txBody>
          <a:bodyPr wrap="square" lIns="0" tIns="0" rIns="0" bIns="0" rtlCol="0" anchor="ctr"/>
          <a:lstStyle/>
          <a:p>
            <a:pPr indent="0" marL="0">
              <a:lnSpc>
                <a:spcPct val="105000"/>
              </a:lnSpc>
              <a:buNone/>
            </a:pPr>
            <a:r>
              <a:rPr lang="en-US" sz="1200" dirty="0">
                <a:solidFill>
                  <a:srgbClr val="BCC9D5"/>
                </a:solidFill>
                <a:latin typeface="Calibri" pitchFamily="34" charset="0"/>
                <a:ea typeface="Calibri" pitchFamily="34" charset="-122"/>
                <a:cs typeface="Calibri" pitchFamily="34" charset="-120"/>
              </a:rPr>
              <a:t>How sure we must be to link two sightings. Loosen it and the system starts inventing matches.</a:t>
            </a:r>
            <a:endParaRPr lang="en-US" sz="1200" dirty="0"/>
          </a:p>
        </p:txBody>
      </p:sp>
      <p:sp>
        <p:nvSpPr>
          <p:cNvPr id="24" name="Text 22"/>
          <p:cNvSpPr txBox="1"/>
          <p:nvPr/>
        </p:nvSpPr>
        <p:spPr>
          <a:xfrm>
            <a:off x="6611112" y="4974336"/>
            <a:ext cx="4617720" cy="256032"/>
          </a:xfrm>
          <a:prstGeom prst="rect">
            <a:avLst/>
          </a:prstGeom>
          <a:noFill/>
          <a:ln/>
        </p:spPr>
        <p:txBody>
          <a:bodyPr wrap="square" lIns="0" tIns="0" rIns="0" bIns="0" rtlCol="0" anchor="ctr"/>
          <a:lstStyle/>
          <a:p>
            <a:pPr indent="0" marL="0">
              <a:buNone/>
            </a:pPr>
            <a:r>
              <a:rPr lang="en-US" sz="1150" dirty="0">
                <a:solidFill>
                  <a:srgbClr val="EC6055"/>
                </a:solidFill>
                <a:latin typeface="Courier New" pitchFamily="34" charset="0"/>
                <a:ea typeface="Courier New" pitchFamily="34" charset="-122"/>
                <a:cs typeface="Courier New" pitchFamily="34" charset="-120"/>
              </a:rPr>
              <a:t>detection.classes</a:t>
            </a:r>
            <a:endParaRPr lang="en-US" sz="1150" dirty="0"/>
          </a:p>
        </p:txBody>
      </p:sp>
      <p:sp>
        <p:nvSpPr>
          <p:cNvPr id="25" name="Text 23"/>
          <p:cNvSpPr txBox="1"/>
          <p:nvPr/>
        </p:nvSpPr>
        <p:spPr>
          <a:xfrm>
            <a:off x="6611112" y="5212080"/>
            <a:ext cx="4617720" cy="621792"/>
          </a:xfrm>
          <a:prstGeom prst="rect">
            <a:avLst/>
          </a:prstGeom>
          <a:noFill/>
          <a:ln/>
        </p:spPr>
        <p:txBody>
          <a:bodyPr wrap="square" lIns="0" tIns="0" rIns="0" bIns="0" rtlCol="0" anchor="ctr"/>
          <a:lstStyle/>
          <a:p>
            <a:pPr indent="0" marL="0">
              <a:lnSpc>
                <a:spcPct val="105000"/>
              </a:lnSpc>
              <a:buNone/>
            </a:pPr>
            <a:r>
              <a:rPr lang="en-US" sz="1200" dirty="0">
                <a:solidFill>
                  <a:srgbClr val="BCC9D5"/>
                </a:solidFill>
                <a:latin typeface="Calibri" pitchFamily="34" charset="0"/>
                <a:ea typeface="Calibri" pitchFamily="34" charset="-122"/>
                <a:cs typeface="Calibri" pitchFamily="34" charset="-120"/>
              </a:rPr>
              <a:t>Which vehicle types count.</a:t>
            </a:r>
            <a:endParaRPr lang="en-US" sz="1200" dirty="0"/>
          </a:p>
        </p:txBody>
      </p:sp>
      <p:sp>
        <p:nvSpPr>
          <p:cNvPr id="26" name="Shape 24"/>
          <p:cNvSpPr/>
          <p:nvPr/>
        </p:nvSpPr>
        <p:spPr>
          <a:xfrm>
            <a:off x="640080" y="6035040"/>
            <a:ext cx="10911535" cy="594360"/>
          </a:xfrm>
          <a:prstGeom prst="roundRect">
            <a:avLst>
              <a:gd name="adj" fmla="val 9231"/>
            </a:avLst>
          </a:prstGeom>
          <a:solidFill>
            <a:srgbClr val="213040"/>
          </a:solidFill>
          <a:ln w="12700">
            <a:solidFill>
              <a:srgbClr val="2E3F4E"/>
            </a:solidFill>
            <a:prstDash val="solid"/>
          </a:ln>
        </p:spPr>
      </p:sp>
      <p:sp>
        <p:nvSpPr>
          <p:cNvPr id="27" name="Text 25"/>
          <p:cNvSpPr txBox="1"/>
          <p:nvPr/>
        </p:nvSpPr>
        <p:spPr>
          <a:xfrm>
            <a:off x="1005840" y="6035040"/>
            <a:ext cx="10180015" cy="594360"/>
          </a:xfrm>
          <a:prstGeom prst="rect">
            <a:avLst/>
          </a:prstGeom>
          <a:noFill/>
          <a:ln/>
        </p:spPr>
        <p:txBody>
          <a:bodyPr wrap="square" lIns="0" tIns="0" rIns="0" bIns="0" rtlCol="0" anchor="ctr"/>
          <a:lstStyle/>
          <a:p>
            <a:pPr indent="0" marL="0">
              <a:buNone/>
            </a:pPr>
            <a:r>
              <a:rPr lang="en-US" sz="1350" i="1" dirty="0">
                <a:solidFill>
                  <a:srgbClr val="BCC9D5"/>
                </a:solidFill>
                <a:latin typeface="Calibri" pitchFamily="34" charset="0"/>
                <a:ea typeface="Calibri" pitchFamily="34" charset="-122"/>
                <a:cs typeface="Calibri" pitchFamily="34" charset="-120"/>
              </a:rPr>
              <a:t>Golden rule: every tunable number lives in configs/, never inside the code. That is why "can it do 50 cameras?" has a one-line answer.</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11 — STARTING IT UP</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From a fresh terminal, in order</a:t>
            </a:r>
            <a:endParaRPr lang="en-US" sz="3200" dirty="0"/>
          </a:p>
        </p:txBody>
      </p:sp>
      <p:sp>
        <p:nvSpPr>
          <p:cNvPr id="4" name="Shape 2"/>
          <p:cNvSpPr/>
          <p:nvPr/>
        </p:nvSpPr>
        <p:spPr>
          <a:xfrm>
            <a:off x="640080" y="1536192"/>
            <a:ext cx="10911535" cy="493776"/>
          </a:xfrm>
          <a:prstGeom prst="roundRect">
            <a:avLst>
              <a:gd name="adj" fmla="val 11111"/>
            </a:avLst>
          </a:prstGeom>
          <a:solidFill>
            <a:srgbClr val="18242F"/>
          </a:solidFill>
          <a:ln w="12700">
            <a:solidFill>
              <a:srgbClr val="2E3F4E"/>
            </a:solidFill>
            <a:prstDash val="solid"/>
          </a:ln>
        </p:spPr>
      </p:sp>
      <p:sp>
        <p:nvSpPr>
          <p:cNvPr id="5" name="Shape 3"/>
          <p:cNvSpPr/>
          <p:nvPr/>
        </p:nvSpPr>
        <p:spPr>
          <a:xfrm>
            <a:off x="804672" y="1581912"/>
            <a:ext cx="402336" cy="402336"/>
          </a:xfrm>
          <a:prstGeom prst="ellipse">
            <a:avLst/>
          </a:prstGeom>
          <a:solidFill>
            <a:srgbClr val="F0B23F"/>
          </a:solidFill>
          <a:ln w="12700">
            <a:solidFill>
              <a:srgbClr val="F0B23F"/>
            </a:solidFill>
            <a:prstDash val="solid"/>
          </a:ln>
        </p:spPr>
      </p:sp>
      <p:sp>
        <p:nvSpPr>
          <p:cNvPr id="6" name="Text 4"/>
          <p:cNvSpPr txBox="1"/>
          <p:nvPr/>
        </p:nvSpPr>
        <p:spPr>
          <a:xfrm>
            <a:off x="804672" y="1581912"/>
            <a:ext cx="402336" cy="402336"/>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353312" y="1536192"/>
            <a:ext cx="2377440" cy="493776"/>
          </a:xfrm>
          <a:prstGeom prst="rect">
            <a:avLst/>
          </a:prstGeom>
          <a:noFill/>
          <a:ln/>
        </p:spPr>
        <p:txBody>
          <a:bodyPr wrap="square" lIns="0" tIns="0" rIns="0" bIns="0" rtlCol="0" anchor="ctr"/>
          <a:lstStyle/>
          <a:p>
            <a:pPr indent="0" marL="0">
              <a:buNone/>
            </a:pPr>
            <a:r>
              <a:rPr lang="en-US" sz="1300" b="1" dirty="0">
                <a:solidFill>
                  <a:srgbClr val="58BFD6"/>
                </a:solidFill>
                <a:latin typeface="Courier New" pitchFamily="34" charset="0"/>
                <a:ea typeface="Courier New" pitchFamily="34" charset="-122"/>
                <a:cs typeface="Courier New" pitchFamily="34" charset="-120"/>
              </a:rPr>
              <a:t>make setup</a:t>
            </a:r>
            <a:endParaRPr lang="en-US" sz="1300" dirty="0"/>
          </a:p>
        </p:txBody>
      </p:sp>
      <p:sp>
        <p:nvSpPr>
          <p:cNvPr id="8" name="Text 6"/>
          <p:cNvSpPr txBox="1"/>
          <p:nvPr/>
        </p:nvSpPr>
        <p:spPr>
          <a:xfrm>
            <a:off x="3840480" y="1536192"/>
            <a:ext cx="7345375" cy="493776"/>
          </a:xfrm>
          <a:prstGeom prst="rect">
            <a:avLst/>
          </a:prstGeom>
          <a:noFill/>
          <a:ln/>
        </p:spPr>
        <p:txBody>
          <a:bodyPr wrap="square" lIns="0" tIns="0" rIns="0" bIns="0" rtlCol="0" anchor="ctr"/>
          <a:lstStyle/>
          <a:p>
            <a:pPr indent="0" marL="0">
              <a:buNone/>
            </a:pPr>
            <a:r>
              <a:rPr lang="en-US" sz="1200" dirty="0">
                <a:solidFill>
                  <a:srgbClr val="BCC9D5"/>
                </a:solidFill>
                <a:latin typeface="Calibri" pitchFamily="34" charset="0"/>
                <a:ea typeface="Calibri" pitchFamily="34" charset="-122"/>
                <a:cs typeface="Calibri" pitchFamily="34" charset="-120"/>
              </a:rPr>
              <a:t>Builds a private Python folder for this project and downloads the libraries into it. Needs internet. Once per machine.</a:t>
            </a:r>
            <a:endParaRPr lang="en-US" sz="1200" dirty="0"/>
          </a:p>
        </p:txBody>
      </p:sp>
      <p:sp>
        <p:nvSpPr>
          <p:cNvPr id="9" name="Shape 7"/>
          <p:cNvSpPr/>
          <p:nvPr/>
        </p:nvSpPr>
        <p:spPr>
          <a:xfrm>
            <a:off x="640080" y="2112264"/>
            <a:ext cx="10911535" cy="493776"/>
          </a:xfrm>
          <a:prstGeom prst="roundRect">
            <a:avLst>
              <a:gd name="adj" fmla="val 11111"/>
            </a:avLst>
          </a:prstGeom>
          <a:solidFill>
            <a:srgbClr val="18242F"/>
          </a:solidFill>
          <a:ln w="12700">
            <a:solidFill>
              <a:srgbClr val="2E3F4E"/>
            </a:solidFill>
            <a:prstDash val="solid"/>
          </a:ln>
        </p:spPr>
      </p:sp>
      <p:sp>
        <p:nvSpPr>
          <p:cNvPr id="10" name="Shape 8"/>
          <p:cNvSpPr/>
          <p:nvPr/>
        </p:nvSpPr>
        <p:spPr>
          <a:xfrm>
            <a:off x="804672" y="2157984"/>
            <a:ext cx="402336" cy="402336"/>
          </a:xfrm>
          <a:prstGeom prst="ellipse">
            <a:avLst/>
          </a:prstGeom>
          <a:solidFill>
            <a:srgbClr val="F0B23F"/>
          </a:solidFill>
          <a:ln w="12700">
            <a:solidFill>
              <a:srgbClr val="F0B23F"/>
            </a:solidFill>
            <a:prstDash val="solid"/>
          </a:ln>
        </p:spPr>
      </p:sp>
      <p:sp>
        <p:nvSpPr>
          <p:cNvPr id="11" name="Text 9"/>
          <p:cNvSpPr txBox="1"/>
          <p:nvPr/>
        </p:nvSpPr>
        <p:spPr>
          <a:xfrm>
            <a:off x="804672" y="2157984"/>
            <a:ext cx="402336" cy="402336"/>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1353312" y="2112264"/>
            <a:ext cx="2377440" cy="493776"/>
          </a:xfrm>
          <a:prstGeom prst="rect">
            <a:avLst/>
          </a:prstGeom>
          <a:noFill/>
          <a:ln/>
        </p:spPr>
        <p:txBody>
          <a:bodyPr wrap="square" lIns="0" tIns="0" rIns="0" bIns="0" rtlCol="0" anchor="ctr"/>
          <a:lstStyle/>
          <a:p>
            <a:pPr indent="0" marL="0">
              <a:buNone/>
            </a:pPr>
            <a:r>
              <a:rPr lang="en-US" sz="1300" b="1" dirty="0">
                <a:solidFill>
                  <a:srgbClr val="58BFD6"/>
                </a:solidFill>
                <a:latin typeface="Courier New" pitchFamily="34" charset="0"/>
                <a:ea typeface="Courier New" pitchFamily="34" charset="-122"/>
                <a:cs typeface="Courier New" pitchFamily="34" charset="-120"/>
              </a:rPr>
              <a:t>make dash-setup</a:t>
            </a:r>
            <a:endParaRPr lang="en-US" sz="1300" dirty="0"/>
          </a:p>
        </p:txBody>
      </p:sp>
      <p:sp>
        <p:nvSpPr>
          <p:cNvPr id="13" name="Text 11"/>
          <p:cNvSpPr txBox="1"/>
          <p:nvPr/>
        </p:nvSpPr>
        <p:spPr>
          <a:xfrm>
            <a:off x="3840480" y="2112264"/>
            <a:ext cx="7345375" cy="493776"/>
          </a:xfrm>
          <a:prstGeom prst="rect">
            <a:avLst/>
          </a:prstGeom>
          <a:noFill/>
          <a:ln/>
        </p:spPr>
        <p:txBody>
          <a:bodyPr wrap="square" lIns="0" tIns="0" rIns="0" bIns="0" rtlCol="0" anchor="ctr"/>
          <a:lstStyle/>
          <a:p>
            <a:pPr indent="0" marL="0">
              <a:buNone/>
            </a:pPr>
            <a:r>
              <a:rPr lang="en-US" sz="1200" dirty="0">
                <a:solidFill>
                  <a:srgbClr val="BCC9D5"/>
                </a:solidFill>
                <a:latin typeface="Calibri" pitchFamily="34" charset="0"/>
                <a:ea typeface="Calibri" pitchFamily="34" charset="-122"/>
                <a:cs typeface="Calibri" pitchFamily="34" charset="-120"/>
              </a:rPr>
              <a:t>Downloads the dashboard libraries. Needs internet. Once per machine.</a:t>
            </a:r>
            <a:endParaRPr lang="en-US" sz="1200" dirty="0"/>
          </a:p>
        </p:txBody>
      </p:sp>
      <p:sp>
        <p:nvSpPr>
          <p:cNvPr id="14" name="Shape 12"/>
          <p:cNvSpPr/>
          <p:nvPr/>
        </p:nvSpPr>
        <p:spPr>
          <a:xfrm>
            <a:off x="640080" y="2688336"/>
            <a:ext cx="10911535" cy="493776"/>
          </a:xfrm>
          <a:prstGeom prst="roundRect">
            <a:avLst>
              <a:gd name="adj" fmla="val 11111"/>
            </a:avLst>
          </a:prstGeom>
          <a:solidFill>
            <a:srgbClr val="18242F"/>
          </a:solidFill>
          <a:ln w="12700">
            <a:solidFill>
              <a:srgbClr val="2E3F4E"/>
            </a:solidFill>
            <a:prstDash val="solid"/>
          </a:ln>
        </p:spPr>
      </p:sp>
      <p:sp>
        <p:nvSpPr>
          <p:cNvPr id="15" name="Shape 13"/>
          <p:cNvSpPr/>
          <p:nvPr/>
        </p:nvSpPr>
        <p:spPr>
          <a:xfrm>
            <a:off x="804672" y="2734056"/>
            <a:ext cx="402336" cy="402336"/>
          </a:xfrm>
          <a:prstGeom prst="ellipse">
            <a:avLst/>
          </a:prstGeom>
          <a:solidFill>
            <a:srgbClr val="F0B23F"/>
          </a:solidFill>
          <a:ln w="12700">
            <a:solidFill>
              <a:srgbClr val="F0B23F"/>
            </a:solidFill>
            <a:prstDash val="solid"/>
          </a:ln>
        </p:spPr>
      </p:sp>
      <p:sp>
        <p:nvSpPr>
          <p:cNvPr id="16" name="Text 14"/>
          <p:cNvSpPr txBox="1"/>
          <p:nvPr/>
        </p:nvSpPr>
        <p:spPr>
          <a:xfrm>
            <a:off x="804672" y="2734056"/>
            <a:ext cx="402336" cy="402336"/>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1353312" y="2688336"/>
            <a:ext cx="2377440" cy="493776"/>
          </a:xfrm>
          <a:prstGeom prst="rect">
            <a:avLst/>
          </a:prstGeom>
          <a:noFill/>
          <a:ln/>
        </p:spPr>
        <p:txBody>
          <a:bodyPr wrap="square" lIns="0" tIns="0" rIns="0" bIns="0" rtlCol="0" anchor="ctr"/>
          <a:lstStyle/>
          <a:p>
            <a:pPr indent="0" marL="0">
              <a:buNone/>
            </a:pPr>
            <a:r>
              <a:rPr lang="en-US" sz="1300" b="1" dirty="0">
                <a:solidFill>
                  <a:srgbClr val="58BFD6"/>
                </a:solidFill>
                <a:latin typeface="Courier New" pitchFamily="34" charset="0"/>
                <a:ea typeface="Courier New" pitchFamily="34" charset="-122"/>
                <a:cs typeface="Courier New" pitchFamily="34" charset="-120"/>
              </a:rPr>
              <a:t>make warm</a:t>
            </a:r>
            <a:endParaRPr lang="en-US" sz="1300" dirty="0"/>
          </a:p>
        </p:txBody>
      </p:sp>
      <p:sp>
        <p:nvSpPr>
          <p:cNvPr id="18" name="Text 16"/>
          <p:cNvSpPr txBox="1"/>
          <p:nvPr/>
        </p:nvSpPr>
        <p:spPr>
          <a:xfrm>
            <a:off x="3840480" y="2688336"/>
            <a:ext cx="7345375" cy="493776"/>
          </a:xfrm>
          <a:prstGeom prst="rect">
            <a:avLst/>
          </a:prstGeom>
          <a:noFill/>
          <a:ln/>
        </p:spPr>
        <p:txBody>
          <a:bodyPr wrap="square" lIns="0" tIns="0" rIns="0" bIns="0" rtlCol="0" anchor="ctr"/>
          <a:lstStyle/>
          <a:p>
            <a:pPr indent="0" marL="0">
              <a:buNone/>
            </a:pPr>
            <a:r>
              <a:rPr lang="en-US" sz="1200" dirty="0">
                <a:solidFill>
                  <a:srgbClr val="BCC9D5"/>
                </a:solidFill>
                <a:latin typeface="Calibri" pitchFamily="34" charset="0"/>
                <a:ea typeface="Calibri" pitchFamily="34" charset="-122"/>
                <a:cs typeface="Calibri" pitchFamily="34" charset="-120"/>
              </a:rPr>
              <a:t>Downloads the AI model files. Needs internet. Once. NEVER skip this — otherwise the first run tries to download mid-demo.</a:t>
            </a:r>
            <a:endParaRPr lang="en-US" sz="1200" dirty="0"/>
          </a:p>
        </p:txBody>
      </p:sp>
      <p:sp>
        <p:nvSpPr>
          <p:cNvPr id="19" name="Shape 17"/>
          <p:cNvSpPr/>
          <p:nvPr/>
        </p:nvSpPr>
        <p:spPr>
          <a:xfrm>
            <a:off x="640080" y="3264408"/>
            <a:ext cx="10911535" cy="493776"/>
          </a:xfrm>
          <a:prstGeom prst="roundRect">
            <a:avLst>
              <a:gd name="adj" fmla="val 11111"/>
            </a:avLst>
          </a:prstGeom>
          <a:solidFill>
            <a:srgbClr val="18242F"/>
          </a:solidFill>
          <a:ln w="12700">
            <a:solidFill>
              <a:srgbClr val="2E3F4E"/>
            </a:solidFill>
            <a:prstDash val="solid"/>
          </a:ln>
        </p:spPr>
      </p:sp>
      <p:sp>
        <p:nvSpPr>
          <p:cNvPr id="20" name="Shape 18"/>
          <p:cNvSpPr/>
          <p:nvPr/>
        </p:nvSpPr>
        <p:spPr>
          <a:xfrm>
            <a:off x="804672" y="3310128"/>
            <a:ext cx="402336" cy="402336"/>
          </a:xfrm>
          <a:prstGeom prst="ellipse">
            <a:avLst/>
          </a:prstGeom>
          <a:solidFill>
            <a:srgbClr val="F0B23F"/>
          </a:solidFill>
          <a:ln w="12700">
            <a:solidFill>
              <a:srgbClr val="F0B23F"/>
            </a:solidFill>
            <a:prstDash val="solid"/>
          </a:ln>
        </p:spPr>
      </p:sp>
      <p:sp>
        <p:nvSpPr>
          <p:cNvPr id="21" name="Text 19"/>
          <p:cNvSpPr txBox="1"/>
          <p:nvPr/>
        </p:nvSpPr>
        <p:spPr>
          <a:xfrm>
            <a:off x="804672" y="3310128"/>
            <a:ext cx="402336" cy="402336"/>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4</a:t>
            </a:r>
            <a:endParaRPr lang="en-US" sz="1500" dirty="0"/>
          </a:p>
        </p:txBody>
      </p:sp>
      <p:sp>
        <p:nvSpPr>
          <p:cNvPr id="22" name="Text 20"/>
          <p:cNvSpPr txBox="1"/>
          <p:nvPr/>
        </p:nvSpPr>
        <p:spPr>
          <a:xfrm>
            <a:off x="1353312" y="3264408"/>
            <a:ext cx="2377440" cy="493776"/>
          </a:xfrm>
          <a:prstGeom prst="rect">
            <a:avLst/>
          </a:prstGeom>
          <a:noFill/>
          <a:ln/>
        </p:spPr>
        <p:txBody>
          <a:bodyPr wrap="square" lIns="0" tIns="0" rIns="0" bIns="0" rtlCol="0" anchor="ctr"/>
          <a:lstStyle/>
          <a:p>
            <a:pPr indent="0" marL="0">
              <a:buNone/>
            </a:pPr>
            <a:r>
              <a:rPr lang="en-US" sz="1300" b="1" dirty="0">
                <a:solidFill>
                  <a:srgbClr val="58BFD6"/>
                </a:solidFill>
                <a:latin typeface="Courier New" pitchFamily="34" charset="0"/>
                <a:ea typeface="Courier New" pitchFamily="34" charset="-122"/>
                <a:cs typeface="Courier New" pitchFamily="34" charset="-120"/>
              </a:rPr>
              <a:t>make run</a:t>
            </a:r>
            <a:endParaRPr lang="en-US" sz="1300" dirty="0"/>
          </a:p>
        </p:txBody>
      </p:sp>
      <p:sp>
        <p:nvSpPr>
          <p:cNvPr id="23" name="Text 21"/>
          <p:cNvSpPr txBox="1"/>
          <p:nvPr/>
        </p:nvSpPr>
        <p:spPr>
          <a:xfrm>
            <a:off x="3840480" y="3264408"/>
            <a:ext cx="7345375" cy="493776"/>
          </a:xfrm>
          <a:prstGeom prst="rect">
            <a:avLst/>
          </a:prstGeom>
          <a:noFill/>
          <a:ln/>
        </p:spPr>
        <p:txBody>
          <a:bodyPr wrap="square" lIns="0" tIns="0" rIns="0" bIns="0" rtlCol="0" anchor="ctr"/>
          <a:lstStyle/>
          <a:p>
            <a:pPr indent="0" marL="0">
              <a:buNone/>
            </a:pPr>
            <a:r>
              <a:rPr lang="en-US" sz="1200" dirty="0">
                <a:solidFill>
                  <a:srgbClr val="BCC9D5"/>
                </a:solidFill>
                <a:latin typeface="Calibri" pitchFamily="34" charset="0"/>
                <a:ea typeface="Calibri" pitchFamily="34" charset="-122"/>
                <a:cs typeface="Calibri" pitchFamily="34" charset="-120"/>
              </a:rPr>
              <a:t>Starts the camera programs. Watches the videos, fills the database. Takes a couple of minutes.</a:t>
            </a:r>
            <a:endParaRPr lang="en-US" sz="1200" dirty="0"/>
          </a:p>
        </p:txBody>
      </p:sp>
      <p:sp>
        <p:nvSpPr>
          <p:cNvPr id="24" name="Shape 22"/>
          <p:cNvSpPr/>
          <p:nvPr/>
        </p:nvSpPr>
        <p:spPr>
          <a:xfrm>
            <a:off x="640080" y="3840480"/>
            <a:ext cx="10911535" cy="493776"/>
          </a:xfrm>
          <a:prstGeom prst="roundRect">
            <a:avLst>
              <a:gd name="adj" fmla="val 11111"/>
            </a:avLst>
          </a:prstGeom>
          <a:solidFill>
            <a:srgbClr val="18242F"/>
          </a:solidFill>
          <a:ln w="12700">
            <a:solidFill>
              <a:srgbClr val="2E3F4E"/>
            </a:solidFill>
            <a:prstDash val="solid"/>
          </a:ln>
        </p:spPr>
      </p:sp>
      <p:sp>
        <p:nvSpPr>
          <p:cNvPr id="25" name="Shape 23"/>
          <p:cNvSpPr/>
          <p:nvPr/>
        </p:nvSpPr>
        <p:spPr>
          <a:xfrm>
            <a:off x="804672" y="3886200"/>
            <a:ext cx="402336" cy="402336"/>
          </a:xfrm>
          <a:prstGeom prst="ellipse">
            <a:avLst/>
          </a:prstGeom>
          <a:solidFill>
            <a:srgbClr val="F0B23F"/>
          </a:solidFill>
          <a:ln w="12700">
            <a:solidFill>
              <a:srgbClr val="F0B23F"/>
            </a:solidFill>
            <a:prstDash val="solid"/>
          </a:ln>
        </p:spPr>
      </p:sp>
      <p:sp>
        <p:nvSpPr>
          <p:cNvPr id="26" name="Text 24"/>
          <p:cNvSpPr txBox="1"/>
          <p:nvPr/>
        </p:nvSpPr>
        <p:spPr>
          <a:xfrm>
            <a:off x="804672" y="3886200"/>
            <a:ext cx="402336" cy="402336"/>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5</a:t>
            </a:r>
            <a:endParaRPr lang="en-US" sz="1500" dirty="0"/>
          </a:p>
        </p:txBody>
      </p:sp>
      <p:sp>
        <p:nvSpPr>
          <p:cNvPr id="27" name="Text 25"/>
          <p:cNvSpPr txBox="1"/>
          <p:nvPr/>
        </p:nvSpPr>
        <p:spPr>
          <a:xfrm>
            <a:off x="1353312" y="3840480"/>
            <a:ext cx="2377440" cy="493776"/>
          </a:xfrm>
          <a:prstGeom prst="rect">
            <a:avLst/>
          </a:prstGeom>
          <a:noFill/>
          <a:ln/>
        </p:spPr>
        <p:txBody>
          <a:bodyPr wrap="square" lIns="0" tIns="0" rIns="0" bIns="0" rtlCol="0" anchor="ctr"/>
          <a:lstStyle/>
          <a:p>
            <a:pPr indent="0" marL="0">
              <a:buNone/>
            </a:pPr>
            <a:r>
              <a:rPr lang="en-US" sz="1300" b="1" dirty="0">
                <a:solidFill>
                  <a:srgbClr val="58BFD6"/>
                </a:solidFill>
                <a:latin typeface="Courier New" pitchFamily="34" charset="0"/>
                <a:ea typeface="Courier New" pitchFamily="34" charset="-122"/>
                <a:cs typeface="Courier New" pitchFamily="34" charset="-120"/>
              </a:rPr>
              <a:t>make resolve</a:t>
            </a:r>
            <a:endParaRPr lang="en-US" sz="1300" dirty="0"/>
          </a:p>
        </p:txBody>
      </p:sp>
      <p:sp>
        <p:nvSpPr>
          <p:cNvPr id="28" name="Text 26"/>
          <p:cNvSpPr txBox="1"/>
          <p:nvPr/>
        </p:nvSpPr>
        <p:spPr>
          <a:xfrm>
            <a:off x="3840480" y="3840480"/>
            <a:ext cx="7345375" cy="493776"/>
          </a:xfrm>
          <a:prstGeom prst="rect">
            <a:avLst/>
          </a:prstGeom>
          <a:noFill/>
          <a:ln/>
        </p:spPr>
        <p:txBody>
          <a:bodyPr wrap="square" lIns="0" tIns="0" rIns="0" bIns="0" rtlCol="0" anchor="ctr"/>
          <a:lstStyle/>
          <a:p>
            <a:pPr indent="0" marL="0">
              <a:buNone/>
            </a:pPr>
            <a:r>
              <a:rPr lang="en-US" sz="1200" dirty="0">
                <a:solidFill>
                  <a:srgbClr val="BCC9D5"/>
                </a:solidFill>
                <a:latin typeface="Calibri" pitchFamily="34" charset="0"/>
                <a:ea typeface="Calibri" pitchFamily="34" charset="-122"/>
                <a:cs typeface="Calibri" pitchFamily="34" charset="-120"/>
              </a:rPr>
              <a:t>The matching pass. Decides which sightings are the same vehicle.</a:t>
            </a:r>
            <a:endParaRPr lang="en-US" sz="1200" dirty="0"/>
          </a:p>
        </p:txBody>
      </p:sp>
      <p:sp>
        <p:nvSpPr>
          <p:cNvPr id="29" name="Shape 27"/>
          <p:cNvSpPr/>
          <p:nvPr/>
        </p:nvSpPr>
        <p:spPr>
          <a:xfrm>
            <a:off x="640080" y="4416552"/>
            <a:ext cx="10911535" cy="493776"/>
          </a:xfrm>
          <a:prstGeom prst="roundRect">
            <a:avLst>
              <a:gd name="adj" fmla="val 11111"/>
            </a:avLst>
          </a:prstGeom>
          <a:solidFill>
            <a:srgbClr val="18242F"/>
          </a:solidFill>
          <a:ln w="12700">
            <a:solidFill>
              <a:srgbClr val="2E3F4E"/>
            </a:solidFill>
            <a:prstDash val="solid"/>
          </a:ln>
        </p:spPr>
      </p:sp>
      <p:sp>
        <p:nvSpPr>
          <p:cNvPr id="30" name="Shape 28"/>
          <p:cNvSpPr/>
          <p:nvPr/>
        </p:nvSpPr>
        <p:spPr>
          <a:xfrm>
            <a:off x="804672" y="4462272"/>
            <a:ext cx="402336" cy="402336"/>
          </a:xfrm>
          <a:prstGeom prst="ellipse">
            <a:avLst/>
          </a:prstGeom>
          <a:solidFill>
            <a:srgbClr val="F0B23F"/>
          </a:solidFill>
          <a:ln w="12700">
            <a:solidFill>
              <a:srgbClr val="F0B23F"/>
            </a:solidFill>
            <a:prstDash val="solid"/>
          </a:ln>
        </p:spPr>
      </p:sp>
      <p:sp>
        <p:nvSpPr>
          <p:cNvPr id="31" name="Text 29"/>
          <p:cNvSpPr txBox="1"/>
          <p:nvPr/>
        </p:nvSpPr>
        <p:spPr>
          <a:xfrm>
            <a:off x="804672" y="4462272"/>
            <a:ext cx="402336" cy="402336"/>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6</a:t>
            </a:r>
            <a:endParaRPr lang="en-US" sz="1500" dirty="0"/>
          </a:p>
        </p:txBody>
      </p:sp>
      <p:sp>
        <p:nvSpPr>
          <p:cNvPr id="32" name="Text 30"/>
          <p:cNvSpPr txBox="1"/>
          <p:nvPr/>
        </p:nvSpPr>
        <p:spPr>
          <a:xfrm>
            <a:off x="1353312" y="4416552"/>
            <a:ext cx="2377440" cy="493776"/>
          </a:xfrm>
          <a:prstGeom prst="rect">
            <a:avLst/>
          </a:prstGeom>
          <a:noFill/>
          <a:ln/>
        </p:spPr>
        <p:txBody>
          <a:bodyPr wrap="square" lIns="0" tIns="0" rIns="0" bIns="0" rtlCol="0" anchor="ctr"/>
          <a:lstStyle/>
          <a:p>
            <a:pPr indent="0" marL="0">
              <a:buNone/>
            </a:pPr>
            <a:r>
              <a:rPr lang="en-US" sz="1300" b="1" dirty="0">
                <a:solidFill>
                  <a:srgbClr val="58BFD6"/>
                </a:solidFill>
                <a:latin typeface="Courier New" pitchFamily="34" charset="0"/>
                <a:ea typeface="Courier New" pitchFamily="34" charset="-122"/>
                <a:cs typeface="Courier New" pitchFamily="34" charset="-120"/>
              </a:rPr>
              <a:t>make analytics</a:t>
            </a:r>
            <a:endParaRPr lang="en-US" sz="1300" dirty="0"/>
          </a:p>
        </p:txBody>
      </p:sp>
      <p:sp>
        <p:nvSpPr>
          <p:cNvPr id="33" name="Text 31"/>
          <p:cNvSpPr txBox="1"/>
          <p:nvPr/>
        </p:nvSpPr>
        <p:spPr>
          <a:xfrm>
            <a:off x="3840480" y="4416552"/>
            <a:ext cx="7345375" cy="493776"/>
          </a:xfrm>
          <a:prstGeom prst="rect">
            <a:avLst/>
          </a:prstGeom>
          <a:noFill/>
          <a:ln/>
        </p:spPr>
        <p:txBody>
          <a:bodyPr wrap="square" lIns="0" tIns="0" rIns="0" bIns="0" rtlCol="0" anchor="ctr"/>
          <a:lstStyle/>
          <a:p>
            <a:pPr indent="0" marL="0">
              <a:buNone/>
            </a:pPr>
            <a:r>
              <a:rPr lang="en-US" sz="1200" dirty="0">
                <a:solidFill>
                  <a:srgbClr val="BCC9D5"/>
                </a:solidFill>
                <a:latin typeface="Calibri" pitchFamily="34" charset="0"/>
                <a:ea typeface="Calibri" pitchFamily="34" charset="-122"/>
                <a:cs typeface="Calibri" pitchFamily="34" charset="-120"/>
              </a:rPr>
              <a:t>Works out the traffic numbers.</a:t>
            </a:r>
            <a:endParaRPr lang="en-US" sz="1200" dirty="0"/>
          </a:p>
        </p:txBody>
      </p:sp>
      <p:sp>
        <p:nvSpPr>
          <p:cNvPr id="34" name="Shape 32"/>
          <p:cNvSpPr/>
          <p:nvPr/>
        </p:nvSpPr>
        <p:spPr>
          <a:xfrm>
            <a:off x="640080" y="4992624"/>
            <a:ext cx="10911535" cy="493776"/>
          </a:xfrm>
          <a:prstGeom prst="roundRect">
            <a:avLst>
              <a:gd name="adj" fmla="val 11111"/>
            </a:avLst>
          </a:prstGeom>
          <a:solidFill>
            <a:srgbClr val="213040"/>
          </a:solidFill>
          <a:ln w="12700">
            <a:solidFill>
              <a:srgbClr val="2E3F4E"/>
            </a:solidFill>
            <a:prstDash val="solid"/>
          </a:ln>
        </p:spPr>
      </p:sp>
      <p:sp>
        <p:nvSpPr>
          <p:cNvPr id="35" name="Shape 33"/>
          <p:cNvSpPr/>
          <p:nvPr/>
        </p:nvSpPr>
        <p:spPr>
          <a:xfrm>
            <a:off x="804672" y="5038344"/>
            <a:ext cx="402336" cy="402336"/>
          </a:xfrm>
          <a:prstGeom prst="ellipse">
            <a:avLst/>
          </a:prstGeom>
          <a:solidFill>
            <a:srgbClr val="F0B23F"/>
          </a:solidFill>
          <a:ln w="12700">
            <a:solidFill>
              <a:srgbClr val="F0B23F"/>
            </a:solidFill>
            <a:prstDash val="solid"/>
          </a:ln>
        </p:spPr>
      </p:sp>
      <p:sp>
        <p:nvSpPr>
          <p:cNvPr id="36" name="Text 34"/>
          <p:cNvSpPr txBox="1"/>
          <p:nvPr/>
        </p:nvSpPr>
        <p:spPr>
          <a:xfrm>
            <a:off x="804672" y="5038344"/>
            <a:ext cx="402336" cy="402336"/>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7</a:t>
            </a:r>
            <a:endParaRPr lang="en-US" sz="1500" dirty="0"/>
          </a:p>
        </p:txBody>
      </p:sp>
      <p:sp>
        <p:nvSpPr>
          <p:cNvPr id="37" name="Text 35"/>
          <p:cNvSpPr txBox="1"/>
          <p:nvPr/>
        </p:nvSpPr>
        <p:spPr>
          <a:xfrm>
            <a:off x="1353312" y="4992624"/>
            <a:ext cx="2377440" cy="493776"/>
          </a:xfrm>
          <a:prstGeom prst="rect">
            <a:avLst/>
          </a:prstGeom>
          <a:noFill/>
          <a:ln/>
        </p:spPr>
        <p:txBody>
          <a:bodyPr wrap="square" lIns="0" tIns="0" rIns="0" bIns="0" rtlCol="0" anchor="ctr"/>
          <a:lstStyle/>
          <a:p>
            <a:pPr indent="0" marL="0">
              <a:buNone/>
            </a:pPr>
            <a:r>
              <a:rPr lang="en-US" sz="1300" b="1" dirty="0">
                <a:solidFill>
                  <a:srgbClr val="F0B23F"/>
                </a:solidFill>
                <a:latin typeface="Courier New" pitchFamily="34" charset="0"/>
                <a:ea typeface="Courier New" pitchFamily="34" charset="-122"/>
                <a:cs typeface="Courier New" pitchFamily="34" charset="-120"/>
              </a:rPr>
              <a:t>make api</a:t>
            </a:r>
            <a:endParaRPr lang="en-US" sz="1300" dirty="0"/>
          </a:p>
        </p:txBody>
      </p:sp>
      <p:sp>
        <p:nvSpPr>
          <p:cNvPr id="38" name="Text 36"/>
          <p:cNvSpPr txBox="1"/>
          <p:nvPr/>
        </p:nvSpPr>
        <p:spPr>
          <a:xfrm>
            <a:off x="3840480" y="4992624"/>
            <a:ext cx="7345375" cy="493776"/>
          </a:xfrm>
          <a:prstGeom prst="rect">
            <a:avLst/>
          </a:prstGeom>
          <a:noFill/>
          <a:ln/>
        </p:spPr>
        <p:txBody>
          <a:bodyPr wrap="square" lIns="0" tIns="0" rIns="0" bIns="0" rtlCol="0" anchor="ctr"/>
          <a:lstStyle/>
          <a:p>
            <a:pPr indent="0" marL="0">
              <a:buNone/>
            </a:pPr>
            <a:r>
              <a:rPr lang="en-US" sz="1200" dirty="0">
                <a:solidFill>
                  <a:srgbClr val="BCC9D5"/>
                </a:solidFill>
                <a:latin typeface="Calibri" pitchFamily="34" charset="0"/>
                <a:ea typeface="Calibri" pitchFamily="34" charset="-122"/>
                <a:cs typeface="Calibri" pitchFamily="34" charset="-120"/>
              </a:rPr>
              <a:t>Starts the backend on port 8000. NEEDS ITS OWN TERMINAL. Leave it running.</a:t>
            </a:r>
            <a:endParaRPr lang="en-US" sz="1200" dirty="0"/>
          </a:p>
        </p:txBody>
      </p:sp>
      <p:sp>
        <p:nvSpPr>
          <p:cNvPr id="39" name="Shape 37"/>
          <p:cNvSpPr/>
          <p:nvPr/>
        </p:nvSpPr>
        <p:spPr>
          <a:xfrm>
            <a:off x="640080" y="5568696"/>
            <a:ext cx="10911535" cy="493776"/>
          </a:xfrm>
          <a:prstGeom prst="roundRect">
            <a:avLst>
              <a:gd name="adj" fmla="val 11111"/>
            </a:avLst>
          </a:prstGeom>
          <a:solidFill>
            <a:srgbClr val="213040"/>
          </a:solidFill>
          <a:ln w="12700">
            <a:solidFill>
              <a:srgbClr val="2E3F4E"/>
            </a:solidFill>
            <a:prstDash val="solid"/>
          </a:ln>
        </p:spPr>
      </p:sp>
      <p:sp>
        <p:nvSpPr>
          <p:cNvPr id="40" name="Shape 38"/>
          <p:cNvSpPr/>
          <p:nvPr/>
        </p:nvSpPr>
        <p:spPr>
          <a:xfrm>
            <a:off x="804672" y="5614416"/>
            <a:ext cx="402336" cy="402336"/>
          </a:xfrm>
          <a:prstGeom prst="ellipse">
            <a:avLst/>
          </a:prstGeom>
          <a:solidFill>
            <a:srgbClr val="F0B23F"/>
          </a:solidFill>
          <a:ln w="12700">
            <a:solidFill>
              <a:srgbClr val="F0B23F"/>
            </a:solidFill>
            <a:prstDash val="solid"/>
          </a:ln>
        </p:spPr>
      </p:sp>
      <p:sp>
        <p:nvSpPr>
          <p:cNvPr id="41" name="Text 39"/>
          <p:cNvSpPr txBox="1"/>
          <p:nvPr/>
        </p:nvSpPr>
        <p:spPr>
          <a:xfrm>
            <a:off x="804672" y="5614416"/>
            <a:ext cx="402336" cy="402336"/>
          </a:xfrm>
          <a:prstGeom prst="rect">
            <a:avLst/>
          </a:prstGeom>
          <a:noFill/>
          <a:ln/>
        </p:spPr>
        <p:txBody>
          <a:bodyPr wrap="square" lIns="0" tIns="0" rIns="0" bIns="0" rtlCol="0" anchor="ctr"/>
          <a:lstStyle/>
          <a:p>
            <a:pPr algn="ctr" indent="0" marL="0">
              <a:buNone/>
            </a:pPr>
            <a:r>
              <a:rPr lang="en-US" sz="1500" b="1" dirty="0">
                <a:solidFill>
                  <a:srgbClr val="060A0E"/>
                </a:solidFill>
                <a:latin typeface="Arial" pitchFamily="34" charset="0"/>
                <a:ea typeface="Arial" pitchFamily="34" charset="-122"/>
                <a:cs typeface="Arial" pitchFamily="34" charset="-120"/>
              </a:rPr>
              <a:t>8</a:t>
            </a:r>
            <a:endParaRPr lang="en-US" sz="1500" dirty="0"/>
          </a:p>
        </p:txBody>
      </p:sp>
      <p:sp>
        <p:nvSpPr>
          <p:cNvPr id="42" name="Text 40"/>
          <p:cNvSpPr txBox="1"/>
          <p:nvPr/>
        </p:nvSpPr>
        <p:spPr>
          <a:xfrm>
            <a:off x="1353312" y="5568696"/>
            <a:ext cx="2377440" cy="493776"/>
          </a:xfrm>
          <a:prstGeom prst="rect">
            <a:avLst/>
          </a:prstGeom>
          <a:noFill/>
          <a:ln/>
        </p:spPr>
        <p:txBody>
          <a:bodyPr wrap="square" lIns="0" tIns="0" rIns="0" bIns="0" rtlCol="0" anchor="ctr"/>
          <a:lstStyle/>
          <a:p>
            <a:pPr indent="0" marL="0">
              <a:buNone/>
            </a:pPr>
            <a:r>
              <a:rPr lang="en-US" sz="1300" b="1" dirty="0">
                <a:solidFill>
                  <a:srgbClr val="F0B23F"/>
                </a:solidFill>
                <a:latin typeface="Courier New" pitchFamily="34" charset="0"/>
                <a:ea typeface="Courier New" pitchFamily="34" charset="-122"/>
                <a:cs typeface="Courier New" pitchFamily="34" charset="-120"/>
              </a:rPr>
              <a:t>make dash</a:t>
            </a:r>
            <a:endParaRPr lang="en-US" sz="1300" dirty="0"/>
          </a:p>
        </p:txBody>
      </p:sp>
      <p:sp>
        <p:nvSpPr>
          <p:cNvPr id="43" name="Text 41"/>
          <p:cNvSpPr txBox="1"/>
          <p:nvPr/>
        </p:nvSpPr>
        <p:spPr>
          <a:xfrm>
            <a:off x="3840480" y="5568696"/>
            <a:ext cx="7345375" cy="493776"/>
          </a:xfrm>
          <a:prstGeom prst="rect">
            <a:avLst/>
          </a:prstGeom>
          <a:noFill/>
          <a:ln/>
        </p:spPr>
        <p:txBody>
          <a:bodyPr wrap="square" lIns="0" tIns="0" rIns="0" bIns="0" rtlCol="0" anchor="ctr"/>
          <a:lstStyle/>
          <a:p>
            <a:pPr indent="0" marL="0">
              <a:buNone/>
            </a:pPr>
            <a:r>
              <a:rPr lang="en-US" sz="1200" dirty="0">
                <a:solidFill>
                  <a:srgbClr val="BCC9D5"/>
                </a:solidFill>
                <a:latin typeface="Calibri" pitchFamily="34" charset="0"/>
                <a:ea typeface="Calibri" pitchFamily="34" charset="-122"/>
                <a:cs typeface="Calibri" pitchFamily="34" charset="-120"/>
              </a:rPr>
              <a:t>Starts the dashboard on port 5173. NEEDS A SECOND TERMINAL. Leave it running.</a:t>
            </a:r>
            <a:endParaRPr lang="en-US" sz="1200" dirty="0"/>
          </a:p>
        </p:txBody>
      </p:sp>
      <p:sp>
        <p:nvSpPr>
          <p:cNvPr id="44" name="Shape 42"/>
          <p:cNvSpPr/>
          <p:nvPr/>
        </p:nvSpPr>
        <p:spPr>
          <a:xfrm>
            <a:off x="640080" y="6126480"/>
            <a:ext cx="10911535" cy="457200"/>
          </a:xfrm>
          <a:prstGeom prst="roundRect">
            <a:avLst>
              <a:gd name="adj" fmla="val 12000"/>
            </a:avLst>
          </a:prstGeom>
          <a:solidFill>
            <a:srgbClr val="1E2A1B"/>
          </a:solidFill>
          <a:ln w="12700">
            <a:solidFill>
              <a:srgbClr val="2E3F4E"/>
            </a:solidFill>
            <a:prstDash val="solid"/>
          </a:ln>
        </p:spPr>
      </p:sp>
      <p:sp>
        <p:nvSpPr>
          <p:cNvPr id="45" name="Text 43"/>
          <p:cNvSpPr txBox="1"/>
          <p:nvPr/>
        </p:nvSpPr>
        <p:spPr>
          <a:xfrm>
            <a:off x="1005840" y="6126480"/>
            <a:ext cx="10180015" cy="457200"/>
          </a:xfrm>
          <a:prstGeom prst="rect">
            <a:avLst/>
          </a:prstGeom>
          <a:noFill/>
          <a:ln/>
        </p:spPr>
        <p:txBody>
          <a:bodyPr wrap="square" lIns="0" tIns="0" rIns="0" bIns="0" rtlCol="0" anchor="ctr"/>
          <a:lstStyle/>
          <a:p>
            <a:pPr indent="0" marL="0">
              <a:buNone/>
            </a:pPr>
            <a:r>
              <a:rPr lang="en-US" sz="1250" b="1" dirty="0">
                <a:solidFill>
                  <a:srgbClr val="46C888"/>
                </a:solidFill>
                <a:latin typeface="Courier New" pitchFamily="34" charset="0"/>
                <a:ea typeface="Courier New" pitchFamily="34" charset="-122"/>
                <a:cs typeface="Courier New" pitchFamily="34" charset="-120"/>
              </a:rPr>
              <a:t>Then open  http://localhost:5173  in your browser.        Steps 1-3 are needed only once, ever.</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12 — WHEN IT BREAKS</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The four things that actually go wrong</a:t>
            </a:r>
            <a:endParaRPr lang="en-US" sz="3200" dirty="0"/>
          </a:p>
        </p:txBody>
      </p:sp>
      <p:sp>
        <p:nvSpPr>
          <p:cNvPr id="4" name="Shape 2"/>
          <p:cNvSpPr/>
          <p:nvPr/>
        </p:nvSpPr>
        <p:spPr>
          <a:xfrm>
            <a:off x="640080" y="1645920"/>
            <a:ext cx="10911535" cy="1005840"/>
          </a:xfrm>
          <a:prstGeom prst="roundRect">
            <a:avLst>
              <a:gd name="adj" fmla="val 5455"/>
            </a:avLst>
          </a:prstGeom>
          <a:solidFill>
            <a:srgbClr val="18242F"/>
          </a:solidFill>
          <a:ln w="12700">
            <a:solidFill>
              <a:srgbClr val="2E3F4E"/>
            </a:solidFill>
            <a:prstDash val="solid"/>
          </a:ln>
        </p:spPr>
      </p:sp>
      <p:sp>
        <p:nvSpPr>
          <p:cNvPr id="5" name="Text 3"/>
          <p:cNvSpPr txBox="1"/>
          <p:nvPr/>
        </p:nvSpPr>
        <p:spPr>
          <a:xfrm>
            <a:off x="1005840" y="1783080"/>
            <a:ext cx="10180015" cy="320040"/>
          </a:xfrm>
          <a:prstGeom prst="rect">
            <a:avLst/>
          </a:prstGeom>
          <a:noFill/>
          <a:ln/>
        </p:spPr>
        <p:txBody>
          <a:bodyPr wrap="square" lIns="0" tIns="0" rIns="0" bIns="0" rtlCol="0" anchor="ctr"/>
          <a:lstStyle/>
          <a:p>
            <a:pPr indent="0" marL="0">
              <a:buNone/>
            </a:pPr>
            <a:r>
              <a:rPr lang="en-US" sz="1500" b="1" dirty="0">
                <a:solidFill>
                  <a:srgbClr val="EC6055"/>
                </a:solidFill>
                <a:latin typeface="Arial" pitchFamily="34" charset="0"/>
                <a:ea typeface="Arial" pitchFamily="34" charset="-122"/>
                <a:cs typeface="Arial" pitchFamily="34" charset="-120"/>
              </a:rPr>
              <a:t>Dashboard shows nothing at all</a:t>
            </a:r>
            <a:endParaRPr lang="en-US" sz="1500" dirty="0"/>
          </a:p>
        </p:txBody>
      </p:sp>
      <p:sp>
        <p:nvSpPr>
          <p:cNvPr id="6" name="Text 4"/>
          <p:cNvSpPr txBox="1"/>
          <p:nvPr/>
        </p:nvSpPr>
        <p:spPr>
          <a:xfrm>
            <a:off x="1005840" y="2112264"/>
            <a:ext cx="10180015" cy="457200"/>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The backend is not running. Check terminal 2. Then open localhost:8000/api/health — it should say ok.</a:t>
            </a:r>
            <a:endParaRPr lang="en-US" sz="1350" dirty="0"/>
          </a:p>
        </p:txBody>
      </p:sp>
      <p:sp>
        <p:nvSpPr>
          <p:cNvPr id="7" name="Shape 5"/>
          <p:cNvSpPr/>
          <p:nvPr/>
        </p:nvSpPr>
        <p:spPr>
          <a:xfrm>
            <a:off x="640080" y="2779776"/>
            <a:ext cx="10911535" cy="1005840"/>
          </a:xfrm>
          <a:prstGeom prst="roundRect">
            <a:avLst>
              <a:gd name="adj" fmla="val 5455"/>
            </a:avLst>
          </a:prstGeom>
          <a:solidFill>
            <a:srgbClr val="18242F"/>
          </a:solidFill>
          <a:ln w="12700">
            <a:solidFill>
              <a:srgbClr val="2E3F4E"/>
            </a:solidFill>
            <a:prstDash val="solid"/>
          </a:ln>
        </p:spPr>
      </p:sp>
      <p:sp>
        <p:nvSpPr>
          <p:cNvPr id="8" name="Text 6"/>
          <p:cNvSpPr txBox="1"/>
          <p:nvPr/>
        </p:nvSpPr>
        <p:spPr>
          <a:xfrm>
            <a:off x="1005840" y="2916936"/>
            <a:ext cx="10180015" cy="320040"/>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Numbers are all zero</a:t>
            </a:r>
            <a:endParaRPr lang="en-US" sz="1500" dirty="0"/>
          </a:p>
        </p:txBody>
      </p:sp>
      <p:sp>
        <p:nvSpPr>
          <p:cNvPr id="9" name="Text 7"/>
          <p:cNvSpPr txBox="1"/>
          <p:nvPr/>
        </p:nvSpPr>
        <p:spPr>
          <a:xfrm>
            <a:off x="1005840" y="3246120"/>
            <a:ext cx="10180015" cy="457200"/>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You never ran the camera pass, or the database is empty. Run make run, then make resolve, then make analytics.</a:t>
            </a:r>
            <a:endParaRPr lang="en-US" sz="1350" dirty="0"/>
          </a:p>
        </p:txBody>
      </p:sp>
      <p:sp>
        <p:nvSpPr>
          <p:cNvPr id="10" name="Shape 8"/>
          <p:cNvSpPr/>
          <p:nvPr/>
        </p:nvSpPr>
        <p:spPr>
          <a:xfrm>
            <a:off x="640080" y="3913632"/>
            <a:ext cx="10911535" cy="1005840"/>
          </a:xfrm>
          <a:prstGeom prst="roundRect">
            <a:avLst>
              <a:gd name="adj" fmla="val 5455"/>
            </a:avLst>
          </a:prstGeom>
          <a:solidFill>
            <a:srgbClr val="18242F"/>
          </a:solidFill>
          <a:ln w="12700">
            <a:solidFill>
              <a:srgbClr val="2E3F4E"/>
            </a:solidFill>
            <a:prstDash val="solid"/>
          </a:ln>
        </p:spPr>
      </p:sp>
      <p:sp>
        <p:nvSpPr>
          <p:cNvPr id="11" name="Text 9"/>
          <p:cNvSpPr txBox="1"/>
          <p:nvPr/>
        </p:nvSpPr>
        <p:spPr>
          <a:xfrm>
            <a:off x="1005840" y="4050792"/>
            <a:ext cx="10180015" cy="320040"/>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No journeys on the Trace screen</a:t>
            </a:r>
            <a:endParaRPr lang="en-US" sz="1500" dirty="0"/>
          </a:p>
        </p:txBody>
      </p:sp>
      <p:sp>
        <p:nvSpPr>
          <p:cNvPr id="12" name="Text 10"/>
          <p:cNvSpPr txBox="1"/>
          <p:nvPr/>
        </p:nvSpPr>
        <p:spPr>
          <a:xfrm>
            <a:off x="1005840" y="4379976"/>
            <a:ext cx="10180015" cy="457200"/>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make resolve has not been run since the last make run. Run it.</a:t>
            </a:r>
            <a:endParaRPr lang="en-US" sz="1350" dirty="0"/>
          </a:p>
        </p:txBody>
      </p:sp>
      <p:sp>
        <p:nvSpPr>
          <p:cNvPr id="13" name="Shape 11"/>
          <p:cNvSpPr/>
          <p:nvPr/>
        </p:nvSpPr>
        <p:spPr>
          <a:xfrm>
            <a:off x="640080" y="5047488"/>
            <a:ext cx="10911535" cy="1005840"/>
          </a:xfrm>
          <a:prstGeom prst="roundRect">
            <a:avLst>
              <a:gd name="adj" fmla="val 5455"/>
            </a:avLst>
          </a:prstGeom>
          <a:solidFill>
            <a:srgbClr val="18242F"/>
          </a:solidFill>
          <a:ln w="12700">
            <a:solidFill>
              <a:srgbClr val="2E3F4E"/>
            </a:solidFill>
            <a:prstDash val="solid"/>
          </a:ln>
        </p:spPr>
      </p:sp>
      <p:sp>
        <p:nvSpPr>
          <p:cNvPr id="14" name="Text 12"/>
          <p:cNvSpPr txBox="1"/>
          <p:nvPr/>
        </p:nvSpPr>
        <p:spPr>
          <a:xfrm>
            <a:off x="1005840" y="5184648"/>
            <a:ext cx="10180015" cy="320040"/>
          </a:xfrm>
          <a:prstGeom prst="rect">
            <a:avLst/>
          </a:prstGeom>
          <a:noFill/>
          <a:ln/>
        </p:spPr>
        <p:txBody>
          <a:bodyPr wrap="square" lIns="0" tIns="0" rIns="0" bIns="0" rtlCol="0" anchor="ctr"/>
          <a:lstStyle/>
          <a:p>
            <a:pPr indent="0" marL="0">
              <a:buNone/>
            </a:pPr>
            <a:r>
              <a:rPr lang="en-US" sz="1500" b="1" dirty="0">
                <a:solidFill>
                  <a:srgbClr val="EC6055"/>
                </a:solidFill>
                <a:latin typeface="Arial" pitchFamily="34" charset="0"/>
                <a:ea typeface="Arial" pitchFamily="34" charset="-122"/>
                <a:cs typeface="Arial" pitchFamily="34" charset="-120"/>
              </a:rPr>
              <a:t>Install fails with a network error</a:t>
            </a:r>
            <a:endParaRPr lang="en-US" sz="1500" dirty="0"/>
          </a:p>
        </p:txBody>
      </p:sp>
      <p:sp>
        <p:nvSpPr>
          <p:cNvPr id="15" name="Text 13"/>
          <p:cNvSpPr txBox="1"/>
          <p:nvPr/>
        </p:nvSpPr>
        <p:spPr>
          <a:xfrm>
            <a:off x="1005840" y="5513832"/>
            <a:ext cx="10180015" cy="457200"/>
          </a:xfrm>
          <a:prstGeom prst="rect">
            <a:avLst/>
          </a:prstGeom>
          <a:noFill/>
          <a:ln/>
        </p:spPr>
        <p:txBody>
          <a:bodyPr wrap="square" lIns="0" tIns="0" rIns="0" bIns="0" rtlCol="0" anchor="ctr"/>
          <a:lstStyle/>
          <a:p>
            <a:pPr indent="0" marL="0">
              <a:buNone/>
            </a:pPr>
            <a:r>
              <a:rPr lang="en-US" sz="1350" dirty="0">
                <a:solidFill>
                  <a:srgbClr val="BCC9D5"/>
                </a:solidFill>
                <a:latin typeface="Calibri" pitchFamily="34" charset="0"/>
                <a:ea typeface="Calibri" pitchFamily="34" charset="-122"/>
                <a:cs typeface="Calibri" pitchFamily="34" charset="-120"/>
              </a:rPr>
              <a:t>No internet, or the wrong Python version. torch needs Python 3.11 or 3.12, not 3.13. Rebuild with: make setup PY=python3.12</a:t>
            </a:r>
            <a:endParaRPr lang="en-US" sz="1350" dirty="0"/>
          </a:p>
        </p:txBody>
      </p:sp>
      <p:sp>
        <p:nvSpPr>
          <p:cNvPr id="16" name="Shape 14"/>
          <p:cNvSpPr/>
          <p:nvPr/>
        </p:nvSpPr>
        <p:spPr>
          <a:xfrm>
            <a:off x="640080" y="6089904"/>
            <a:ext cx="10911535" cy="502920"/>
          </a:xfrm>
          <a:prstGeom prst="roundRect">
            <a:avLst>
              <a:gd name="adj" fmla="val 10909"/>
            </a:avLst>
          </a:prstGeom>
          <a:solidFill>
            <a:srgbClr val="2A1A18"/>
          </a:solidFill>
          <a:ln w="12700">
            <a:solidFill>
              <a:srgbClr val="2E3F4E"/>
            </a:solidFill>
            <a:prstDash val="solid"/>
          </a:ln>
        </p:spPr>
      </p:sp>
      <p:sp>
        <p:nvSpPr>
          <p:cNvPr id="17" name="Text 15"/>
          <p:cNvSpPr txBox="1"/>
          <p:nvPr/>
        </p:nvSpPr>
        <p:spPr>
          <a:xfrm>
            <a:off x="1005840" y="6089904"/>
            <a:ext cx="10180015" cy="502920"/>
          </a:xfrm>
          <a:prstGeom prst="rect">
            <a:avLst/>
          </a:prstGeom>
          <a:noFill/>
          <a:ln/>
        </p:spPr>
        <p:txBody>
          <a:bodyPr wrap="square" lIns="0" tIns="0" rIns="0" bIns="0" rtlCol="0" anchor="ctr"/>
          <a:lstStyle/>
          <a:p>
            <a:pPr indent="0" marL="0">
              <a:buNone/>
            </a:pPr>
            <a:r>
              <a:rPr lang="en-US" sz="1250" b="1" dirty="0">
                <a:solidFill>
                  <a:srgbClr val="F0A090"/>
                </a:solidFill>
                <a:latin typeface="Calibri" pitchFamily="34" charset="0"/>
                <a:ea typeface="Calibri" pitchFamily="34" charset="-122"/>
                <a:cs typeface="Calibri" pitchFamily="34" charset="-120"/>
              </a:rPr>
              <a:t>Known bug: do NOT type a plate into the search box and press Trace — that door returns an error. Click a journey in the list instead.</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60A0E"/>
        </a:solidFill>
      </p:bgPr>
    </p:bg>
    <p:spTree>
      <p:nvGrpSpPr>
        <p:cNvPr id="1" name=""/>
        <p:cNvGrpSpPr/>
        <p:nvPr/>
      </p:nvGrpSpPr>
      <p:grpSpPr>
        <a:xfrm>
          <a:off x="0" y="0"/>
          <a:ext cx="0" cy="0"/>
          <a:chOff x="0" y="0"/>
          <a:chExt cx="0" cy="0"/>
        </a:xfrm>
      </p:grpSpPr>
      <p:sp>
        <p:nvSpPr>
          <p:cNvPr id="2" name="Text 0"/>
          <p:cNvSpPr txBox="1"/>
          <p:nvPr/>
        </p:nvSpPr>
        <p:spPr>
          <a:xfrm>
            <a:off x="640080" y="1325880"/>
            <a:ext cx="5394960" cy="365760"/>
          </a:xfrm>
          <a:prstGeom prst="rect">
            <a:avLst/>
          </a:prstGeom>
          <a:noFill/>
          <a:ln/>
        </p:spPr>
        <p:txBody>
          <a:bodyPr wrap="square" lIns="0" tIns="0" rIns="0" bIns="0" rtlCol="0" anchor="ctr"/>
          <a:lstStyle/>
          <a:p>
            <a:pPr indent="0" marL="0">
              <a:buNone/>
            </a:pPr>
            <a:r>
              <a:rPr lang="en-US" sz="1200" b="1" spc="250" kern="0" dirty="0">
                <a:solidFill>
                  <a:srgbClr val="F0B23F"/>
                </a:solidFill>
                <a:latin typeface="Arial" pitchFamily="34" charset="0"/>
                <a:ea typeface="Arial" pitchFamily="34" charset="-122"/>
                <a:cs typeface="Arial" pitchFamily="34" charset="-120"/>
              </a:rPr>
              <a:t>Part 13</a:t>
            </a:r>
            <a:endParaRPr lang="en-US" sz="1200" dirty="0"/>
          </a:p>
        </p:txBody>
      </p:sp>
      <p:sp>
        <p:nvSpPr>
          <p:cNvPr id="3" name="Text 1"/>
          <p:cNvSpPr txBox="1"/>
          <p:nvPr/>
        </p:nvSpPr>
        <p:spPr>
          <a:xfrm>
            <a:off x="640080" y="1783080"/>
            <a:ext cx="7315200" cy="2011680"/>
          </a:xfrm>
          <a:prstGeom prst="rect">
            <a:avLst/>
          </a:prstGeom>
          <a:noFill/>
          <a:ln/>
        </p:spPr>
        <p:txBody>
          <a:bodyPr wrap="square" lIns="0" tIns="0" rIns="0" bIns="0" rtlCol="0" anchor="ctr"/>
          <a:lstStyle/>
          <a:p>
            <a:pPr indent="0" marL="0">
              <a:lnSpc>
                <a:spcPct val="95000"/>
              </a:lnSpc>
              <a:buNone/>
            </a:pPr>
            <a:r>
              <a:rPr lang="en-US" sz="5200" b="1" dirty="0">
                <a:solidFill>
                  <a:srgbClr val="FFFFFF"/>
                </a:solidFill>
                <a:latin typeface="Arial" pitchFamily="34" charset="0"/>
                <a:ea typeface="Arial" pitchFamily="34" charset="-122"/>
                <a:cs typeface="Arial" pitchFamily="34" charset="-120"/>
              </a:rPr>
              <a:t>Facing</a:t>
            </a:r>
            <a:endParaRPr lang="en-US" sz="5200" dirty="0"/>
          </a:p>
          <a:p>
            <a:pPr indent="0" marL="0">
              <a:lnSpc>
                <a:spcPct val="95000"/>
              </a:lnSpc>
              <a:buNone/>
            </a:pPr>
            <a:r>
              <a:rPr lang="en-US" sz="5200" b="1" dirty="0">
                <a:solidFill>
                  <a:srgbClr val="FFFFFF"/>
                </a:solidFill>
                <a:latin typeface="Arial" pitchFamily="34" charset="0"/>
                <a:ea typeface="Arial" pitchFamily="34" charset="-122"/>
                <a:cs typeface="Arial" pitchFamily="34" charset="-120"/>
              </a:rPr>
              <a:t>the judges</a:t>
            </a:r>
            <a:endParaRPr lang="en-US" sz="5200" dirty="0"/>
          </a:p>
        </p:txBody>
      </p:sp>
      <p:sp>
        <p:nvSpPr>
          <p:cNvPr id="4" name="Text 2"/>
          <p:cNvSpPr txBox="1"/>
          <p:nvPr/>
        </p:nvSpPr>
        <p:spPr>
          <a:xfrm>
            <a:off x="640080" y="4023360"/>
            <a:ext cx="6949440" cy="914400"/>
          </a:xfrm>
          <a:prstGeom prst="rect">
            <a:avLst/>
          </a:prstGeom>
          <a:noFill/>
          <a:ln/>
        </p:spPr>
        <p:txBody>
          <a:bodyPr wrap="square" lIns="0" tIns="0" rIns="0" bIns="0" rtlCol="0" anchor="ctr"/>
          <a:lstStyle/>
          <a:p>
            <a:pPr indent="0" marL="0">
              <a:lnSpc>
                <a:spcPct val="125000"/>
              </a:lnSpc>
              <a:buNone/>
            </a:pPr>
            <a:r>
              <a:rPr lang="en-US" sz="1700" dirty="0">
                <a:solidFill>
                  <a:srgbClr val="BCC9D5"/>
                </a:solidFill>
                <a:latin typeface="Calibri" pitchFamily="34" charset="0"/>
                <a:ea typeface="Calibri" pitchFamily="34" charset="-122"/>
                <a:cs typeface="Calibri" pitchFamily="34" charset="-120"/>
              </a:rPr>
              <a:t>Answers built only from what the code actually does.</a:t>
            </a:r>
            <a:endParaRPr lang="en-US" sz="1700" dirty="0"/>
          </a:p>
          <a:p>
            <a:pPr indent="0" marL="0">
              <a:lnSpc>
                <a:spcPct val="125000"/>
              </a:lnSpc>
              <a:buNone/>
            </a:pPr>
            <a:r>
              <a:rPr lang="en-US" sz="1700" dirty="0">
                <a:solidFill>
                  <a:srgbClr val="BCC9D5"/>
                </a:solidFill>
                <a:latin typeface="Calibri" pitchFamily="34" charset="0"/>
                <a:ea typeface="Calibri" pitchFamily="34" charset="-122"/>
                <a:cs typeface="Calibri" pitchFamily="34" charset="-120"/>
              </a:rPr>
              <a:t>Nothing here is invented.</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MEMORISE THIS ONE</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The 30-second answer</a:t>
            </a:r>
            <a:endParaRPr lang="en-US" sz="3200" dirty="0"/>
          </a:p>
        </p:txBody>
      </p:sp>
      <p:sp>
        <p:nvSpPr>
          <p:cNvPr id="4" name="Shape 2"/>
          <p:cNvSpPr/>
          <p:nvPr/>
        </p:nvSpPr>
        <p:spPr>
          <a:xfrm>
            <a:off x="640080" y="1691640"/>
            <a:ext cx="10911535" cy="3246120"/>
          </a:xfrm>
          <a:prstGeom prst="roundRect">
            <a:avLst>
              <a:gd name="adj" fmla="val 1690"/>
            </a:avLst>
          </a:prstGeom>
          <a:solidFill>
            <a:srgbClr val="213040"/>
          </a:solidFill>
          <a:ln w="12700">
            <a:solidFill>
              <a:srgbClr val="2E3F4E"/>
            </a:solidFill>
            <a:prstDash val="solid"/>
          </a:ln>
        </p:spPr>
      </p:sp>
      <p:sp>
        <p:nvSpPr>
          <p:cNvPr id="5" name="Text 3"/>
          <p:cNvSpPr txBox="1"/>
          <p:nvPr/>
        </p:nvSpPr>
        <p:spPr>
          <a:xfrm>
            <a:off x="1097280" y="1874520"/>
            <a:ext cx="9997135" cy="2880360"/>
          </a:xfrm>
          <a:prstGeom prst="rect">
            <a:avLst/>
          </a:prstGeom>
          <a:noFill/>
          <a:ln/>
        </p:spPr>
        <p:txBody>
          <a:bodyPr wrap="square" lIns="0" tIns="0" rIns="0" bIns="0" rtlCol="0" anchor="ctr"/>
          <a:lstStyle/>
          <a:p>
            <a:pPr indent="0" marL="0">
              <a:lnSpc>
                <a:spcPct val="118000"/>
              </a:lnSpc>
              <a:buNone/>
            </a:pPr>
            <a:r>
              <a:rPr lang="en-US" sz="1450" dirty="0">
                <a:solidFill>
                  <a:srgbClr val="FFFFFF"/>
                </a:solidFill>
                <a:latin typeface="Calibri" pitchFamily="34" charset="0"/>
                <a:ea typeface="Calibri" pitchFamily="34" charset="-122"/>
                <a:cs typeface="Calibri" pitchFamily="34" charset="-120"/>
              </a:rPr>
              <a:t>"A city has hundreds of cameras that do not talk to each other. Camera 1 saw a vehicle, Camera 5 saw a vehicle, and nothing today can tell you it was the same one.</a:t>
            </a:r>
            <a:endParaRPr lang="en-US" sz="1450" dirty="0"/>
          </a:p>
          <a:p>
            <a:pPr indent="0" marL="0">
              <a:lnSpc>
                <a:spcPct val="118000"/>
              </a:lnSpc>
              <a:buNone/>
            </a:pPr>
            <a:endParaRPr lang="en-US" sz="1450" dirty="0"/>
          </a:p>
          <a:p>
            <a:pPr indent="0" marL="0">
              <a:lnSpc>
                <a:spcPct val="118000"/>
              </a:lnSpc>
              <a:buNone/>
            </a:pPr>
            <a:r>
              <a:rPr lang="en-US" sz="1450" dirty="0">
                <a:solidFill>
                  <a:srgbClr val="FFFFFF"/>
                </a:solidFill>
                <a:latin typeface="Calibri" pitchFamily="34" charset="0"/>
                <a:ea typeface="Calibri" pitchFamily="34" charset="-122"/>
                <a:cs typeface="Calibri" pitchFamily="34" charset="-120"/>
              </a:rPr>
              <a:t>We find every vehicle, read its plate many times over and vote on the answer, then work out which sightings on different cameras are the same physical vehicle — using the plate, the appearance, and physics, where physics can veto a match that would need an impossible speed.</a:t>
            </a:r>
            <a:endParaRPr lang="en-US" sz="1450" dirty="0"/>
          </a:p>
          <a:p>
            <a:pPr indent="0" marL="0">
              <a:lnSpc>
                <a:spcPct val="118000"/>
              </a:lnSpc>
              <a:buNone/>
            </a:pPr>
            <a:endParaRPr lang="en-US" sz="1450" dirty="0"/>
          </a:p>
          <a:p>
            <a:pPr indent="0" marL="0">
              <a:lnSpc>
                <a:spcPct val="118000"/>
              </a:lnSpc>
              <a:buNone/>
            </a:pPr>
            <a:r>
              <a:rPr lang="en-US" sz="1450" dirty="0">
                <a:solidFill>
                  <a:srgbClr val="FFFFFF"/>
                </a:solidFill>
                <a:latin typeface="Calibri" pitchFamily="34" charset="0"/>
                <a:ea typeface="Calibri" pitchFamily="34" charset="-122"/>
                <a:cs typeface="Calibri" pitchFamily="34" charset="-120"/>
              </a:rPr>
              <a:t>From those confirmed links we rebuild each vehicle's journey across the city, and measure congestion from real travel times instead of car counts.</a:t>
            </a:r>
            <a:endParaRPr lang="en-US" sz="1450" dirty="0"/>
          </a:p>
          <a:p>
            <a:pPr indent="0" marL="0">
              <a:lnSpc>
                <a:spcPct val="118000"/>
              </a:lnSpc>
              <a:buNone/>
            </a:pPr>
            <a:endParaRPr lang="en-US" sz="1450" dirty="0"/>
          </a:p>
          <a:p>
            <a:pPr indent="0" marL="0">
              <a:lnSpc>
                <a:spcPct val="118000"/>
              </a:lnSpc>
              <a:buNone/>
            </a:pPr>
            <a:r>
              <a:rPr lang="en-US" sz="1450" dirty="0">
                <a:solidFill>
                  <a:srgbClr val="FFFFFF"/>
                </a:solidFill>
                <a:latin typeface="Calibri" pitchFamily="34" charset="0"/>
                <a:ea typeface="Calibri" pitchFamily="34" charset="-122"/>
                <a:cs typeface="Calibri" pitchFamily="34" charset="-120"/>
              </a:rPr>
              <a:t>Everything is open source. It runs on a laptop. It costs nothing."</a:t>
            </a:r>
            <a:endParaRPr lang="en-US" sz="1450" dirty="0"/>
          </a:p>
        </p:txBody>
      </p:sp>
      <p:sp>
        <p:nvSpPr>
          <p:cNvPr id="6" name="Text 4"/>
          <p:cNvSpPr txBox="1"/>
          <p:nvPr/>
        </p:nvSpPr>
        <p:spPr>
          <a:xfrm>
            <a:off x="640080" y="5166360"/>
            <a:ext cx="10911535" cy="310896"/>
          </a:xfrm>
          <a:prstGeom prst="rect">
            <a:avLst/>
          </a:prstGeom>
          <a:noFill/>
          <a:ln/>
        </p:spPr>
        <p:txBody>
          <a:bodyPr wrap="square" lIns="0" tIns="0" rIns="0" bIns="0" rtlCol="0" anchor="ctr"/>
          <a:lstStyle/>
          <a:p>
            <a:pPr indent="0" marL="0">
              <a:lnSpc>
                <a:spcPct val="115000"/>
              </a:lnSpc>
              <a:buNone/>
            </a:pPr>
            <a:r>
              <a:rPr lang="en-US" sz="1400" dirty="0">
                <a:solidFill>
                  <a:srgbClr val="8496A6"/>
                </a:solidFill>
                <a:latin typeface="Calibri" pitchFamily="34" charset="0"/>
                <a:ea typeface="Calibri" pitchFamily="34" charset="-122"/>
                <a:cs typeface="Calibri" pitchFamily="34" charset="-120"/>
              </a:rPr>
              <a:t>Three phrases to land in that answer:</a:t>
            </a:r>
            <a:endParaRPr lang="en-US" sz="1400" dirty="0"/>
          </a:p>
        </p:txBody>
      </p:sp>
      <p:sp>
        <p:nvSpPr>
          <p:cNvPr id="7" name="Shape 5"/>
          <p:cNvSpPr/>
          <p:nvPr/>
        </p:nvSpPr>
        <p:spPr>
          <a:xfrm>
            <a:off x="640080" y="5596128"/>
            <a:ext cx="3392424" cy="384048"/>
          </a:xfrm>
          <a:prstGeom prst="roundRect">
            <a:avLst>
              <a:gd name="adj" fmla="val 47619"/>
            </a:avLst>
          </a:prstGeom>
          <a:solidFill>
            <a:srgbClr val="213040"/>
          </a:solidFill>
          <a:ln w="12700">
            <a:solidFill>
              <a:srgbClr val="F0B23F"/>
            </a:solidFill>
            <a:prstDash val="solid"/>
          </a:ln>
        </p:spPr>
      </p:sp>
      <p:sp>
        <p:nvSpPr>
          <p:cNvPr id="8" name="Text 6"/>
          <p:cNvSpPr txBox="1"/>
          <p:nvPr/>
        </p:nvSpPr>
        <p:spPr>
          <a:xfrm>
            <a:off x="640080" y="5596128"/>
            <a:ext cx="3392424"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"vote, not one frame"</a:t>
            </a:r>
            <a:endParaRPr lang="en-US" sz="1150" dirty="0"/>
          </a:p>
        </p:txBody>
      </p:sp>
      <p:sp>
        <p:nvSpPr>
          <p:cNvPr id="9" name="Shape 7"/>
          <p:cNvSpPr/>
          <p:nvPr/>
        </p:nvSpPr>
        <p:spPr>
          <a:xfrm>
            <a:off x="4398264" y="5596128"/>
            <a:ext cx="3392424" cy="384048"/>
          </a:xfrm>
          <a:prstGeom prst="roundRect">
            <a:avLst>
              <a:gd name="adj" fmla="val 47619"/>
            </a:avLst>
          </a:prstGeom>
          <a:solidFill>
            <a:srgbClr val="213040"/>
          </a:solidFill>
          <a:ln w="12700">
            <a:solidFill>
              <a:srgbClr val="F0B23F"/>
            </a:solidFill>
            <a:prstDash val="solid"/>
          </a:ln>
        </p:spPr>
      </p:sp>
      <p:sp>
        <p:nvSpPr>
          <p:cNvPr id="10" name="Text 8"/>
          <p:cNvSpPr txBox="1"/>
          <p:nvPr/>
        </p:nvSpPr>
        <p:spPr>
          <a:xfrm>
            <a:off x="4398264" y="5596128"/>
            <a:ext cx="3392424"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"physics can veto"</a:t>
            </a:r>
            <a:endParaRPr lang="en-US" sz="1150" dirty="0"/>
          </a:p>
        </p:txBody>
      </p:sp>
      <p:sp>
        <p:nvSpPr>
          <p:cNvPr id="11" name="Shape 9"/>
          <p:cNvSpPr/>
          <p:nvPr/>
        </p:nvSpPr>
        <p:spPr>
          <a:xfrm>
            <a:off x="8156448" y="5596128"/>
            <a:ext cx="3392424" cy="384048"/>
          </a:xfrm>
          <a:prstGeom prst="roundRect">
            <a:avLst>
              <a:gd name="adj" fmla="val 47619"/>
            </a:avLst>
          </a:prstGeom>
          <a:solidFill>
            <a:srgbClr val="213040"/>
          </a:solidFill>
          <a:ln w="12700">
            <a:solidFill>
              <a:srgbClr val="F0B23F"/>
            </a:solidFill>
            <a:prstDash val="solid"/>
          </a:ln>
        </p:spPr>
      </p:sp>
      <p:sp>
        <p:nvSpPr>
          <p:cNvPr id="12" name="Text 10"/>
          <p:cNvSpPr txBox="1"/>
          <p:nvPr/>
        </p:nvSpPr>
        <p:spPr>
          <a:xfrm>
            <a:off x="8156448" y="5596128"/>
            <a:ext cx="3392424" cy="384048"/>
          </a:xfrm>
          <a:prstGeom prst="rect">
            <a:avLst/>
          </a:prstGeom>
          <a:noFill/>
          <a:ln/>
        </p:spPr>
        <p:txBody>
          <a:bodyPr wrap="square" lIns="0" tIns="0" rIns="0" bIns="0" rtlCol="0" anchor="ctr"/>
          <a:lstStyle/>
          <a:p>
            <a:pPr algn="ctr" indent="0" marL="0">
              <a:buNone/>
            </a:pPr>
            <a:r>
              <a:rPr lang="en-US" sz="1150" b="1" dirty="0">
                <a:solidFill>
                  <a:srgbClr val="F0B23F"/>
                </a:solidFill>
                <a:latin typeface="Courier New" pitchFamily="34" charset="0"/>
                <a:ea typeface="Courier New" pitchFamily="34" charset="-122"/>
                <a:cs typeface="Courier New" pitchFamily="34" charset="-120"/>
              </a:rPr>
              <a:t>"zero cost, runs on a laptop"</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13 — LIKELY QUESTIONS</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Questions you will definitely get</a:t>
            </a:r>
            <a:endParaRPr lang="en-US" sz="3200" dirty="0"/>
          </a:p>
        </p:txBody>
      </p:sp>
      <p:sp>
        <p:nvSpPr>
          <p:cNvPr id="4" name="Shape 2"/>
          <p:cNvSpPr/>
          <p:nvPr/>
        </p:nvSpPr>
        <p:spPr>
          <a:xfrm>
            <a:off x="640080" y="1645920"/>
            <a:ext cx="10911535" cy="1078992"/>
          </a:xfrm>
          <a:prstGeom prst="roundRect">
            <a:avLst>
              <a:gd name="adj" fmla="val 5085"/>
            </a:avLst>
          </a:prstGeom>
          <a:solidFill>
            <a:srgbClr val="18242F"/>
          </a:solidFill>
          <a:ln w="12700">
            <a:solidFill>
              <a:srgbClr val="2E3F4E"/>
            </a:solidFill>
            <a:prstDash val="solid"/>
          </a:ln>
        </p:spPr>
      </p:sp>
      <p:sp>
        <p:nvSpPr>
          <p:cNvPr id="5" name="Text 3"/>
          <p:cNvSpPr txBox="1"/>
          <p:nvPr/>
        </p:nvSpPr>
        <p:spPr>
          <a:xfrm>
            <a:off x="1005840" y="1764792"/>
            <a:ext cx="10180015" cy="292608"/>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Why YOLO?</a:t>
            </a:r>
            <a:endParaRPr lang="en-US" sz="1500" dirty="0"/>
          </a:p>
        </p:txBody>
      </p:sp>
      <p:sp>
        <p:nvSpPr>
          <p:cNvPr id="6" name="Text 4"/>
          <p:cNvSpPr txBox="1"/>
          <p:nvPr/>
        </p:nvSpPr>
        <p:spPr>
          <a:xfrm>
            <a:off x="1005840" y="2075688"/>
            <a:ext cx="10180015" cy="566928"/>
          </a:xfrm>
          <a:prstGeom prst="rect">
            <a:avLst/>
          </a:prstGeom>
          <a:noFill/>
          <a:ln/>
        </p:spPr>
        <p:txBody>
          <a:bodyPr wrap="square" lIns="0" tIns="0" rIns="0" bIns="0" rtlCol="0" anchor="ctr"/>
          <a:lstStyle/>
          <a:p>
            <a:pPr indent="0" marL="0">
              <a:lnSpc>
                <a:spcPct val="110000"/>
              </a:lnSpc>
              <a:buNone/>
            </a:pPr>
            <a:r>
              <a:rPr lang="en-US" sz="1250" dirty="0">
                <a:solidFill>
                  <a:srgbClr val="BCC9D5"/>
                </a:solidFill>
                <a:latin typeface="Calibri" pitchFamily="34" charset="0"/>
                <a:ea typeface="Calibri" pitchFamily="34" charset="-122"/>
                <a:cs typeface="Calibri" pitchFamily="34" charset="-120"/>
              </a:rPr>
              <a:t>It looks at a whole frame once instead of scanning it in patches, which is what makes it fast enough for video. We use the smallest version and did not train it — the model name is a setting, so we can swap it without touching code.</a:t>
            </a:r>
            <a:endParaRPr lang="en-US" sz="1250" dirty="0"/>
          </a:p>
        </p:txBody>
      </p:sp>
      <p:sp>
        <p:nvSpPr>
          <p:cNvPr id="7" name="Shape 5"/>
          <p:cNvSpPr/>
          <p:nvPr/>
        </p:nvSpPr>
        <p:spPr>
          <a:xfrm>
            <a:off x="640080" y="2852928"/>
            <a:ext cx="10911535" cy="1078992"/>
          </a:xfrm>
          <a:prstGeom prst="roundRect">
            <a:avLst>
              <a:gd name="adj" fmla="val 5085"/>
            </a:avLst>
          </a:prstGeom>
          <a:solidFill>
            <a:srgbClr val="18242F"/>
          </a:solidFill>
          <a:ln w="12700">
            <a:solidFill>
              <a:srgbClr val="2E3F4E"/>
            </a:solidFill>
            <a:prstDash val="solid"/>
          </a:ln>
        </p:spPr>
      </p:sp>
      <p:sp>
        <p:nvSpPr>
          <p:cNvPr id="8" name="Text 6"/>
          <p:cNvSpPr txBox="1"/>
          <p:nvPr/>
        </p:nvSpPr>
        <p:spPr>
          <a:xfrm>
            <a:off x="1005840" y="2971800"/>
            <a:ext cx="10180015" cy="292608"/>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How do you track a vehicle?</a:t>
            </a:r>
            <a:endParaRPr lang="en-US" sz="1500" dirty="0"/>
          </a:p>
        </p:txBody>
      </p:sp>
      <p:sp>
        <p:nvSpPr>
          <p:cNvPr id="9" name="Text 7"/>
          <p:cNvSpPr txBox="1"/>
          <p:nvPr/>
        </p:nvSpPr>
        <p:spPr>
          <a:xfrm>
            <a:off x="1005840" y="3282696"/>
            <a:ext cx="10180015" cy="566928"/>
          </a:xfrm>
          <a:prstGeom prst="rect">
            <a:avLst/>
          </a:prstGeom>
          <a:noFill/>
          <a:ln/>
        </p:spPr>
        <p:txBody>
          <a:bodyPr wrap="square" lIns="0" tIns="0" rIns="0" bIns="0" rtlCol="0" anchor="ctr"/>
          <a:lstStyle/>
          <a:p>
            <a:pPr indent="0" marL="0">
              <a:lnSpc>
                <a:spcPct val="110000"/>
              </a:lnSpc>
              <a:buNone/>
            </a:pPr>
            <a:r>
              <a:rPr lang="en-US" sz="1250" dirty="0">
                <a:solidFill>
                  <a:srgbClr val="BCC9D5"/>
                </a:solidFill>
                <a:latin typeface="Calibri" pitchFamily="34" charset="0"/>
                <a:ea typeface="Calibri" pitchFamily="34" charset="-122"/>
                <a:cs typeface="Calibri" pitchFamily="34" charset="-120"/>
              </a:rPr>
              <a:t>ByteTrack keeps an ID on it inside one camera. It keeps low-confidence boxes that other trackers throw away, so it holds on when a vehicle goes half-behind a bus. But that ID dies the moment the vehicle leaves the frame.</a:t>
            </a:r>
            <a:endParaRPr lang="en-US" sz="1250" dirty="0"/>
          </a:p>
        </p:txBody>
      </p:sp>
      <p:sp>
        <p:nvSpPr>
          <p:cNvPr id="10" name="Shape 8"/>
          <p:cNvSpPr/>
          <p:nvPr/>
        </p:nvSpPr>
        <p:spPr>
          <a:xfrm>
            <a:off x="640080" y="4059936"/>
            <a:ext cx="10911535" cy="1078992"/>
          </a:xfrm>
          <a:prstGeom prst="roundRect">
            <a:avLst>
              <a:gd name="adj" fmla="val 5085"/>
            </a:avLst>
          </a:prstGeom>
          <a:solidFill>
            <a:srgbClr val="18242F"/>
          </a:solidFill>
          <a:ln w="12700">
            <a:solidFill>
              <a:srgbClr val="2E3F4E"/>
            </a:solidFill>
            <a:prstDash val="solid"/>
          </a:ln>
        </p:spPr>
      </p:sp>
      <p:sp>
        <p:nvSpPr>
          <p:cNvPr id="11" name="Text 9"/>
          <p:cNvSpPr txBox="1"/>
          <p:nvPr/>
        </p:nvSpPr>
        <p:spPr>
          <a:xfrm>
            <a:off x="1005840" y="4178808"/>
            <a:ext cx="10180015" cy="292608"/>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What if OCR reads the plate wrong?</a:t>
            </a:r>
            <a:endParaRPr lang="en-US" sz="1500" dirty="0"/>
          </a:p>
        </p:txBody>
      </p:sp>
      <p:sp>
        <p:nvSpPr>
          <p:cNvPr id="12" name="Text 10"/>
          <p:cNvSpPr txBox="1"/>
          <p:nvPr/>
        </p:nvSpPr>
        <p:spPr>
          <a:xfrm>
            <a:off x="1005840" y="4489704"/>
            <a:ext cx="10180015" cy="566928"/>
          </a:xfrm>
          <a:prstGeom prst="rect">
            <a:avLst/>
          </a:prstGeom>
          <a:noFill/>
          <a:ln/>
        </p:spPr>
        <p:txBody>
          <a:bodyPr wrap="square" lIns="0" tIns="0" rIns="0" bIns="0" rtlCol="0" anchor="ctr"/>
          <a:lstStyle/>
          <a:p>
            <a:pPr indent="0" marL="0">
              <a:lnSpc>
                <a:spcPct val="110000"/>
              </a:lnSpc>
              <a:buNone/>
            </a:pPr>
            <a:r>
              <a:rPr lang="en-US" sz="1250" dirty="0">
                <a:solidFill>
                  <a:srgbClr val="BCC9D5"/>
                </a:solidFill>
                <a:latin typeface="Calibri" pitchFamily="34" charset="0"/>
                <a:ea typeface="Calibri" pitchFamily="34" charset="-122"/>
                <a:cs typeface="Calibri" pitchFamily="34" charset="-120"/>
              </a:rPr>
              <a:t>We assume it will. We read the plate on many frames and vote character by character, weighted by confidence. Then we check the result against the legal Indian plate shape and repair it. And when we compare two plates we know which characters cameras genuinely confuse.</a:t>
            </a:r>
            <a:endParaRPr lang="en-US" sz="1250" dirty="0"/>
          </a:p>
        </p:txBody>
      </p:sp>
      <p:sp>
        <p:nvSpPr>
          <p:cNvPr id="13" name="Shape 11"/>
          <p:cNvSpPr/>
          <p:nvPr/>
        </p:nvSpPr>
        <p:spPr>
          <a:xfrm>
            <a:off x="640080" y="5266944"/>
            <a:ext cx="10911535" cy="1078992"/>
          </a:xfrm>
          <a:prstGeom prst="roundRect">
            <a:avLst>
              <a:gd name="adj" fmla="val 5085"/>
            </a:avLst>
          </a:prstGeom>
          <a:solidFill>
            <a:srgbClr val="18242F"/>
          </a:solidFill>
          <a:ln w="12700">
            <a:solidFill>
              <a:srgbClr val="2E3F4E"/>
            </a:solidFill>
            <a:prstDash val="solid"/>
          </a:ln>
        </p:spPr>
      </p:sp>
      <p:sp>
        <p:nvSpPr>
          <p:cNvPr id="14" name="Text 12"/>
          <p:cNvSpPr txBox="1"/>
          <p:nvPr/>
        </p:nvSpPr>
        <p:spPr>
          <a:xfrm>
            <a:off x="1005840" y="5385816"/>
            <a:ext cx="10180015" cy="292608"/>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What is actually AI here?</a:t>
            </a:r>
            <a:endParaRPr lang="en-US" sz="1500" dirty="0"/>
          </a:p>
        </p:txBody>
      </p:sp>
      <p:sp>
        <p:nvSpPr>
          <p:cNvPr id="15" name="Text 13"/>
          <p:cNvSpPr txBox="1"/>
          <p:nvPr/>
        </p:nvSpPr>
        <p:spPr>
          <a:xfrm>
            <a:off x="1005840" y="5696712"/>
            <a:ext cx="10180015" cy="566928"/>
          </a:xfrm>
          <a:prstGeom prst="rect">
            <a:avLst/>
          </a:prstGeom>
          <a:noFill/>
          <a:ln/>
        </p:spPr>
        <p:txBody>
          <a:bodyPr wrap="square" lIns="0" tIns="0" rIns="0" bIns="0" rtlCol="0" anchor="ctr"/>
          <a:lstStyle/>
          <a:p>
            <a:pPr indent="0" marL="0">
              <a:lnSpc>
                <a:spcPct val="110000"/>
              </a:lnSpc>
              <a:buNone/>
            </a:pPr>
            <a:r>
              <a:rPr lang="en-US" sz="1250" dirty="0">
                <a:solidFill>
                  <a:srgbClr val="BCC9D5"/>
                </a:solidFill>
                <a:latin typeface="Calibri" pitchFamily="34" charset="0"/>
                <a:ea typeface="Calibri" pitchFamily="34" charset="-122"/>
                <a:cs typeface="Calibri" pitchFamily="34" charset="-120"/>
              </a:rPr>
              <a:t>Two learned models — one finds vehicles, one reads plates. Everything else, including the matching that makes this project interesting, is our own engineering. We say that plainly rather than calling the whole thing AI.</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13 — THE HARDER ONES</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Questions designed to catch you out</a:t>
            </a:r>
            <a:endParaRPr lang="en-US" sz="3200" dirty="0"/>
          </a:p>
        </p:txBody>
      </p:sp>
      <p:sp>
        <p:nvSpPr>
          <p:cNvPr id="4" name="Shape 2"/>
          <p:cNvSpPr/>
          <p:nvPr/>
        </p:nvSpPr>
        <p:spPr>
          <a:xfrm>
            <a:off x="640080" y="1645920"/>
            <a:ext cx="10911535" cy="1078992"/>
          </a:xfrm>
          <a:prstGeom prst="roundRect">
            <a:avLst>
              <a:gd name="adj" fmla="val 5085"/>
            </a:avLst>
          </a:prstGeom>
          <a:solidFill>
            <a:srgbClr val="18242F"/>
          </a:solidFill>
          <a:ln w="12700">
            <a:solidFill>
              <a:srgbClr val="2E3F4E"/>
            </a:solidFill>
            <a:prstDash val="solid"/>
          </a:ln>
        </p:spPr>
      </p:sp>
      <p:sp>
        <p:nvSpPr>
          <p:cNvPr id="5" name="Text 3"/>
          <p:cNvSpPr txBox="1"/>
          <p:nvPr/>
        </p:nvSpPr>
        <p:spPr>
          <a:xfrm>
            <a:off x="1005840" y="1764792"/>
            <a:ext cx="10180015" cy="292608"/>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How do you know it is the same vehicle across cameras?</a:t>
            </a:r>
            <a:endParaRPr lang="en-US" sz="1500" dirty="0"/>
          </a:p>
        </p:txBody>
      </p:sp>
      <p:sp>
        <p:nvSpPr>
          <p:cNvPr id="6" name="Text 4"/>
          <p:cNvSpPr txBox="1"/>
          <p:nvPr/>
        </p:nvSpPr>
        <p:spPr>
          <a:xfrm>
            <a:off x="1005840" y="2075688"/>
            <a:ext cx="10180015" cy="566928"/>
          </a:xfrm>
          <a:prstGeom prst="rect">
            <a:avLst/>
          </a:prstGeom>
          <a:noFill/>
          <a:ln/>
        </p:spPr>
        <p:txBody>
          <a:bodyPr wrap="square" lIns="0" tIns="0" rIns="0" bIns="0" rtlCol="0" anchor="ctr"/>
          <a:lstStyle/>
          <a:p>
            <a:pPr indent="0" marL="0">
              <a:lnSpc>
                <a:spcPct val="110000"/>
              </a:lnSpc>
              <a:buNone/>
            </a:pPr>
            <a:r>
              <a:rPr lang="en-US" sz="1250" dirty="0">
                <a:solidFill>
                  <a:srgbClr val="BCC9D5"/>
                </a:solidFill>
                <a:latin typeface="Calibri" pitchFamily="34" charset="0"/>
                <a:ea typeface="Calibri" pitchFamily="34" charset="-122"/>
                <a:cs typeface="Calibri" pitchFamily="34" charset="-120"/>
              </a:rPr>
              <a:t>Three signals. Plate similarity is the evidence. Appearance corroborates. Travel time is a constraint that can veto — if the link needs 480 km/h we reject it however well the plates matched. In our settings a plate is compulsory; appearance alone is never enough.</a:t>
            </a:r>
            <a:endParaRPr lang="en-US" sz="1250" dirty="0"/>
          </a:p>
        </p:txBody>
      </p:sp>
      <p:sp>
        <p:nvSpPr>
          <p:cNvPr id="7" name="Shape 5"/>
          <p:cNvSpPr/>
          <p:nvPr/>
        </p:nvSpPr>
        <p:spPr>
          <a:xfrm>
            <a:off x="640080" y="2852928"/>
            <a:ext cx="10911535" cy="1078992"/>
          </a:xfrm>
          <a:prstGeom prst="roundRect">
            <a:avLst>
              <a:gd name="adj" fmla="val 5085"/>
            </a:avLst>
          </a:prstGeom>
          <a:solidFill>
            <a:srgbClr val="18242F"/>
          </a:solidFill>
          <a:ln w="12700">
            <a:solidFill>
              <a:srgbClr val="2E3F4E"/>
            </a:solidFill>
            <a:prstDash val="solid"/>
          </a:ln>
        </p:spPr>
      </p:sp>
      <p:sp>
        <p:nvSpPr>
          <p:cNvPr id="8" name="Text 6"/>
          <p:cNvSpPr txBox="1"/>
          <p:nvPr/>
        </p:nvSpPr>
        <p:spPr>
          <a:xfrm>
            <a:off x="1005840" y="2971800"/>
            <a:ext cx="10180015" cy="292608"/>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How does this scale to thousands of cameras?</a:t>
            </a:r>
            <a:endParaRPr lang="en-US" sz="1500" dirty="0"/>
          </a:p>
        </p:txBody>
      </p:sp>
      <p:sp>
        <p:nvSpPr>
          <p:cNvPr id="9" name="Text 7"/>
          <p:cNvSpPr txBox="1"/>
          <p:nvPr/>
        </p:nvSpPr>
        <p:spPr>
          <a:xfrm>
            <a:off x="1005840" y="3282696"/>
            <a:ext cx="10180015" cy="566928"/>
          </a:xfrm>
          <a:prstGeom prst="rect">
            <a:avLst/>
          </a:prstGeom>
          <a:noFill/>
          <a:ln/>
        </p:spPr>
        <p:txBody>
          <a:bodyPr wrap="square" lIns="0" tIns="0" rIns="0" bIns="0" rtlCol="0" anchor="ctr"/>
          <a:lstStyle/>
          <a:p>
            <a:pPr indent="0" marL="0">
              <a:lnSpc>
                <a:spcPct val="110000"/>
              </a:lnSpc>
              <a:buNone/>
            </a:pPr>
            <a:r>
              <a:rPr lang="en-US" sz="1250" dirty="0">
                <a:solidFill>
                  <a:srgbClr val="BCC9D5"/>
                </a:solidFill>
                <a:latin typeface="Calibri" pitchFamily="34" charset="0"/>
                <a:ea typeface="Calibri" pitchFamily="34" charset="-122"/>
                <a:cs typeface="Calibri" pitchFamily="34" charset="-120"/>
              </a:rPr>
              <a:t>Cameras never call each other. Each publishes events to a bus. Today that bus runs in memory; swapping in Kafka is one new class behind an interface we already wrote. Nothing else changes. And a new camera is a block of settings, not code.</a:t>
            </a:r>
            <a:endParaRPr lang="en-US" sz="1250" dirty="0"/>
          </a:p>
        </p:txBody>
      </p:sp>
      <p:sp>
        <p:nvSpPr>
          <p:cNvPr id="10" name="Shape 8"/>
          <p:cNvSpPr/>
          <p:nvPr/>
        </p:nvSpPr>
        <p:spPr>
          <a:xfrm>
            <a:off x="640080" y="4059936"/>
            <a:ext cx="10911535" cy="1078992"/>
          </a:xfrm>
          <a:prstGeom prst="roundRect">
            <a:avLst>
              <a:gd name="adj" fmla="val 5085"/>
            </a:avLst>
          </a:prstGeom>
          <a:solidFill>
            <a:srgbClr val="18242F"/>
          </a:solidFill>
          <a:ln w="12700">
            <a:solidFill>
              <a:srgbClr val="2E3F4E"/>
            </a:solidFill>
            <a:prstDash val="solid"/>
          </a:ln>
        </p:spPr>
      </p:sp>
      <p:sp>
        <p:nvSpPr>
          <p:cNvPr id="11" name="Text 9"/>
          <p:cNvSpPr txBox="1"/>
          <p:nvPr/>
        </p:nvSpPr>
        <p:spPr>
          <a:xfrm>
            <a:off x="1005840" y="4178808"/>
            <a:ext cx="10180015" cy="292608"/>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What if a camera goes offline?</a:t>
            </a:r>
            <a:endParaRPr lang="en-US" sz="1500" dirty="0"/>
          </a:p>
        </p:txBody>
      </p:sp>
      <p:sp>
        <p:nvSpPr>
          <p:cNvPr id="12" name="Text 10"/>
          <p:cNvSpPr txBox="1"/>
          <p:nvPr/>
        </p:nvSpPr>
        <p:spPr>
          <a:xfrm>
            <a:off x="1005840" y="4489704"/>
            <a:ext cx="10180015" cy="566928"/>
          </a:xfrm>
          <a:prstGeom prst="rect">
            <a:avLst/>
          </a:prstGeom>
          <a:noFill/>
          <a:ln/>
        </p:spPr>
        <p:txBody>
          <a:bodyPr wrap="square" lIns="0" tIns="0" rIns="0" bIns="0" rtlCol="0" anchor="ctr"/>
          <a:lstStyle/>
          <a:p>
            <a:pPr indent="0" marL="0">
              <a:lnSpc>
                <a:spcPct val="110000"/>
              </a:lnSpc>
              <a:buNone/>
            </a:pPr>
            <a:r>
              <a:rPr lang="en-US" sz="1250" dirty="0">
                <a:solidFill>
                  <a:srgbClr val="BCC9D5"/>
                </a:solidFill>
                <a:latin typeface="Calibri" pitchFamily="34" charset="0"/>
                <a:ea typeface="Calibri" pitchFamily="34" charset="-122"/>
                <a:cs typeface="Calibri" pitchFamily="34" charset="-120"/>
              </a:rPr>
              <a:t>Each camera is its own program, so the others carry on. Better than that — if the road map says a vehicle must have passed a camera that recorded nothing, we flag it as a coverage gap. We find the dead camera automatically.</a:t>
            </a:r>
            <a:endParaRPr lang="en-US" sz="1250" dirty="0"/>
          </a:p>
        </p:txBody>
      </p:sp>
      <p:sp>
        <p:nvSpPr>
          <p:cNvPr id="13" name="Shape 11"/>
          <p:cNvSpPr/>
          <p:nvPr/>
        </p:nvSpPr>
        <p:spPr>
          <a:xfrm>
            <a:off x="640080" y="5266944"/>
            <a:ext cx="10911535" cy="1078992"/>
          </a:xfrm>
          <a:prstGeom prst="roundRect">
            <a:avLst>
              <a:gd name="adj" fmla="val 5085"/>
            </a:avLst>
          </a:prstGeom>
          <a:solidFill>
            <a:srgbClr val="2A2318"/>
          </a:solidFill>
          <a:ln w="12700">
            <a:solidFill>
              <a:srgbClr val="2E3F4E"/>
            </a:solidFill>
            <a:prstDash val="solid"/>
          </a:ln>
        </p:spPr>
      </p:sp>
      <p:sp>
        <p:nvSpPr>
          <p:cNvPr id="14" name="Text 12"/>
          <p:cNvSpPr txBox="1"/>
          <p:nvPr/>
        </p:nvSpPr>
        <p:spPr>
          <a:xfrm>
            <a:off x="1005840" y="5385816"/>
            <a:ext cx="10180015" cy="292608"/>
          </a:xfrm>
          <a:prstGeom prst="rect">
            <a:avLst/>
          </a:prstGeom>
          <a:noFill/>
          <a:ln/>
        </p:spPr>
        <p:txBody>
          <a:bodyPr wrap="square" lIns="0" tIns="0" rIns="0" bIns="0" rtlCol="0" anchor="ctr"/>
          <a:lstStyle/>
          <a:p>
            <a:pPr indent="0" marL="0">
              <a:buNone/>
            </a:pPr>
            <a:r>
              <a:rPr lang="en-US" sz="1500" b="1" dirty="0">
                <a:solidFill>
                  <a:srgbClr val="F0B23F"/>
                </a:solidFill>
                <a:latin typeface="Arial" pitchFamily="34" charset="0"/>
                <a:ea typeface="Arial" pitchFamily="34" charset="-122"/>
                <a:cs typeface="Arial" pitchFamily="34" charset="-120"/>
              </a:rPr>
              <a:t>What about poor lighting or bad plates?</a:t>
            </a:r>
            <a:endParaRPr lang="en-US" sz="1500" dirty="0"/>
          </a:p>
        </p:txBody>
      </p:sp>
      <p:sp>
        <p:nvSpPr>
          <p:cNvPr id="15" name="Text 13"/>
          <p:cNvSpPr txBox="1"/>
          <p:nvPr/>
        </p:nvSpPr>
        <p:spPr>
          <a:xfrm>
            <a:off x="1005840" y="5696712"/>
            <a:ext cx="10180015" cy="566928"/>
          </a:xfrm>
          <a:prstGeom prst="rect">
            <a:avLst/>
          </a:prstGeom>
          <a:noFill/>
          <a:ln/>
        </p:spPr>
        <p:txBody>
          <a:bodyPr wrap="square" lIns="0" tIns="0" rIns="0" bIns="0" rtlCol="0" anchor="ctr"/>
          <a:lstStyle/>
          <a:p>
            <a:pPr indent="0" marL="0">
              <a:lnSpc>
                <a:spcPct val="110000"/>
              </a:lnSpc>
              <a:buNone/>
            </a:pPr>
            <a:r>
              <a:rPr lang="en-US" sz="1250" dirty="0">
                <a:solidFill>
                  <a:srgbClr val="BCC9D5"/>
                </a:solidFill>
                <a:latin typeface="Calibri" pitchFamily="34" charset="0"/>
                <a:ea typeface="Calibri" pitchFamily="34" charset="-122"/>
                <a:cs typeface="Calibri" pitchFamily="34" charset="-120"/>
              </a:rPr>
              <a:t>Honest answer: a plate needs to be roughly 80 pixels wide to be readable, and most public CCTV is mounted too high and wide for that. That is a camera-placement problem, not a software one — and it is exactly why our system reports confidence instead of pretending.</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C141C"/>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PART 13 — SAY THESE BEFORE THEY ASK</a:t>
            </a:r>
            <a:endParaRPr lang="en-US" sz="1100" dirty="0"/>
          </a:p>
        </p:txBody>
      </p:sp>
      <p:sp>
        <p:nvSpPr>
          <p:cNvPr id="3" name="Text 1"/>
          <p:cNvSpPr txBox="1"/>
          <p:nvPr/>
        </p:nvSpPr>
        <p:spPr>
          <a:xfrm>
            <a:off x="640080" y="713232"/>
            <a:ext cx="10911535" cy="658368"/>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What our system does NOT do</a:t>
            </a:r>
            <a:endParaRPr lang="en-US" sz="3200" dirty="0"/>
          </a:p>
        </p:txBody>
      </p:sp>
      <p:sp>
        <p:nvSpPr>
          <p:cNvPr id="4" name="Shape 2"/>
          <p:cNvSpPr/>
          <p:nvPr/>
        </p:nvSpPr>
        <p:spPr>
          <a:xfrm>
            <a:off x="640080" y="1609344"/>
            <a:ext cx="10911535" cy="1005840"/>
          </a:xfrm>
          <a:prstGeom prst="roundRect">
            <a:avLst>
              <a:gd name="adj" fmla="val 5455"/>
            </a:avLst>
          </a:prstGeom>
          <a:solidFill>
            <a:srgbClr val="18242F"/>
          </a:solidFill>
          <a:ln w="12700">
            <a:solidFill>
              <a:srgbClr val="2E3F4E"/>
            </a:solidFill>
            <a:prstDash val="solid"/>
          </a:ln>
        </p:spPr>
      </p:sp>
      <p:sp>
        <p:nvSpPr>
          <p:cNvPr id="5" name="Text 3"/>
          <p:cNvSpPr txBox="1"/>
          <p:nvPr/>
        </p:nvSpPr>
        <p:spPr>
          <a:xfrm>
            <a:off x="1005840" y="1737360"/>
            <a:ext cx="10180015"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Auto-rickshaws are not a category</a:t>
            </a:r>
            <a:endParaRPr lang="en-US" sz="1500" dirty="0"/>
          </a:p>
        </p:txBody>
      </p:sp>
      <p:sp>
        <p:nvSpPr>
          <p:cNvPr id="6" name="Text 4"/>
          <p:cNvSpPr txBox="1"/>
          <p:nvPr/>
        </p:nvSpPr>
        <p:spPr>
          <a:xfrm>
            <a:off x="1005840" y="2048256"/>
            <a:ext cx="10180015" cy="530352"/>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The detector was never taught what one is. They get absorbed into car or truck, or missed. Fixing it means training on an Indian vehicle dataset.</a:t>
            </a:r>
            <a:endParaRPr lang="en-US" sz="1300" dirty="0"/>
          </a:p>
        </p:txBody>
      </p:sp>
      <p:sp>
        <p:nvSpPr>
          <p:cNvPr id="7" name="Shape 5"/>
          <p:cNvSpPr/>
          <p:nvPr/>
        </p:nvSpPr>
        <p:spPr>
          <a:xfrm>
            <a:off x="640080" y="2734056"/>
            <a:ext cx="10911535" cy="1005840"/>
          </a:xfrm>
          <a:prstGeom prst="roundRect">
            <a:avLst>
              <a:gd name="adj" fmla="val 5455"/>
            </a:avLst>
          </a:prstGeom>
          <a:solidFill>
            <a:srgbClr val="18242F"/>
          </a:solidFill>
          <a:ln w="12700">
            <a:solidFill>
              <a:srgbClr val="2E3F4E"/>
            </a:solidFill>
            <a:prstDash val="solid"/>
          </a:ln>
        </p:spPr>
      </p:sp>
      <p:sp>
        <p:nvSpPr>
          <p:cNvPr id="8" name="Text 6"/>
          <p:cNvSpPr txBox="1"/>
          <p:nvPr/>
        </p:nvSpPr>
        <p:spPr>
          <a:xfrm>
            <a:off x="1005840" y="2862072"/>
            <a:ext cx="10180015"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Accuracy is not yet measured on real footage</a:t>
            </a:r>
            <a:endParaRPr lang="en-US" sz="1500" dirty="0"/>
          </a:p>
        </p:txBody>
      </p:sp>
      <p:sp>
        <p:nvSpPr>
          <p:cNvPr id="9" name="Text 7"/>
          <p:cNvSpPr txBox="1"/>
          <p:nvPr/>
        </p:nvSpPr>
        <p:spPr>
          <a:xfrm>
            <a:off x="1005840" y="3172968"/>
            <a:ext cx="10180015" cy="530352"/>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Our numbers come from our own test clips. We have the evaluation script ready; we need real filmed footage with a known pass order to fill it in.</a:t>
            </a:r>
            <a:endParaRPr lang="en-US" sz="1300" dirty="0"/>
          </a:p>
        </p:txBody>
      </p:sp>
      <p:sp>
        <p:nvSpPr>
          <p:cNvPr id="10" name="Shape 8"/>
          <p:cNvSpPr/>
          <p:nvPr/>
        </p:nvSpPr>
        <p:spPr>
          <a:xfrm>
            <a:off x="640080" y="3858768"/>
            <a:ext cx="10911535" cy="1005840"/>
          </a:xfrm>
          <a:prstGeom prst="roundRect">
            <a:avLst>
              <a:gd name="adj" fmla="val 5455"/>
            </a:avLst>
          </a:prstGeom>
          <a:solidFill>
            <a:srgbClr val="18242F"/>
          </a:solidFill>
          <a:ln w="12700">
            <a:solidFill>
              <a:srgbClr val="2E3F4E"/>
            </a:solidFill>
            <a:prstDash val="solid"/>
          </a:ln>
        </p:spPr>
      </p:sp>
      <p:sp>
        <p:nvSpPr>
          <p:cNvPr id="11" name="Text 9"/>
          <p:cNvSpPr txBox="1"/>
          <p:nvPr/>
        </p:nvSpPr>
        <p:spPr>
          <a:xfrm>
            <a:off x="1005840" y="3986784"/>
            <a:ext cx="10180015"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Plate search has a live bug</a:t>
            </a:r>
            <a:endParaRPr lang="en-US" sz="1500" dirty="0"/>
          </a:p>
        </p:txBody>
      </p:sp>
      <p:sp>
        <p:nvSpPr>
          <p:cNvPr id="12" name="Text 10"/>
          <p:cNvSpPr txBox="1"/>
          <p:nvPr/>
        </p:nvSpPr>
        <p:spPr>
          <a:xfrm>
            <a:off x="1005840" y="4297680"/>
            <a:ext cx="10180015" cy="530352"/>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Typing a plate and pressing Trace returns an error. Clicking a journey in the list works. We know exactly which three lines cause it.</a:t>
            </a:r>
            <a:endParaRPr lang="en-US" sz="1300" dirty="0"/>
          </a:p>
        </p:txBody>
      </p:sp>
      <p:sp>
        <p:nvSpPr>
          <p:cNvPr id="13" name="Shape 11"/>
          <p:cNvSpPr/>
          <p:nvPr/>
        </p:nvSpPr>
        <p:spPr>
          <a:xfrm>
            <a:off x="640080" y="4983480"/>
            <a:ext cx="10911535" cy="1005840"/>
          </a:xfrm>
          <a:prstGeom prst="roundRect">
            <a:avLst>
              <a:gd name="adj" fmla="val 5455"/>
            </a:avLst>
          </a:prstGeom>
          <a:solidFill>
            <a:srgbClr val="18242F"/>
          </a:solidFill>
          <a:ln w="12700">
            <a:solidFill>
              <a:srgbClr val="2E3F4E"/>
            </a:solidFill>
            <a:prstDash val="solid"/>
          </a:ln>
        </p:spPr>
      </p:sp>
      <p:sp>
        <p:nvSpPr>
          <p:cNvPr id="14" name="Text 12"/>
          <p:cNvSpPr txBox="1"/>
          <p:nvPr/>
        </p:nvSpPr>
        <p:spPr>
          <a:xfrm>
            <a:off x="1005840" y="5111496"/>
            <a:ext cx="10180015"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We did not train any models</a:t>
            </a:r>
            <a:endParaRPr lang="en-US" sz="1500" dirty="0"/>
          </a:p>
        </p:txBody>
      </p:sp>
      <p:sp>
        <p:nvSpPr>
          <p:cNvPr id="15" name="Text 13"/>
          <p:cNvSpPr txBox="1"/>
          <p:nvPr/>
        </p:nvSpPr>
        <p:spPr>
          <a:xfrm>
            <a:off x="1005840" y="5422392"/>
            <a:ext cx="10180015" cy="530352"/>
          </a:xfrm>
          <a:prstGeom prst="rect">
            <a:avLst/>
          </a:prstGeom>
          <a:noFill/>
          <a:ln/>
        </p:spPr>
        <p:txBody>
          <a:bodyPr wrap="square" lIns="0" tIns="0" rIns="0" bIns="0" rtlCol="0" anchor="ctr"/>
          <a:lstStyle/>
          <a:p>
            <a:pPr indent="0" marL="0">
              <a:buNone/>
            </a:pPr>
            <a:r>
              <a:rPr lang="en-US" sz="1300" dirty="0">
                <a:solidFill>
                  <a:srgbClr val="BCC9D5"/>
                </a:solidFill>
                <a:latin typeface="Calibri" pitchFamily="34" charset="0"/>
                <a:ea typeface="Calibri" pitchFamily="34" charset="-122"/>
                <a:cs typeface="Calibri" pitchFamily="34" charset="-120"/>
              </a:rPr>
              <a:t>Both models are free, open source, and used as-is. Our contribution is everything built around them.</a:t>
            </a:r>
            <a:endParaRPr lang="en-US" sz="1300" dirty="0"/>
          </a:p>
        </p:txBody>
      </p:sp>
      <p:sp>
        <p:nvSpPr>
          <p:cNvPr id="16" name="Shape 14"/>
          <p:cNvSpPr/>
          <p:nvPr/>
        </p:nvSpPr>
        <p:spPr>
          <a:xfrm>
            <a:off x="640080" y="6108192"/>
            <a:ext cx="10911535" cy="475488"/>
          </a:xfrm>
          <a:prstGeom prst="roundRect">
            <a:avLst>
              <a:gd name="adj" fmla="val 11538"/>
            </a:avLst>
          </a:prstGeom>
          <a:solidFill>
            <a:srgbClr val="1E2A1B"/>
          </a:solidFill>
          <a:ln w="12700">
            <a:solidFill>
              <a:srgbClr val="2E3F4E"/>
            </a:solidFill>
            <a:prstDash val="solid"/>
          </a:ln>
        </p:spPr>
      </p:sp>
      <p:sp>
        <p:nvSpPr>
          <p:cNvPr id="17" name="Text 15"/>
          <p:cNvSpPr txBox="1"/>
          <p:nvPr/>
        </p:nvSpPr>
        <p:spPr>
          <a:xfrm>
            <a:off x="1005840" y="6108192"/>
            <a:ext cx="10180015" cy="475488"/>
          </a:xfrm>
          <a:prstGeom prst="rect">
            <a:avLst/>
          </a:prstGeom>
          <a:noFill/>
          <a:ln/>
        </p:spPr>
        <p:txBody>
          <a:bodyPr wrap="square" lIns="0" tIns="0" rIns="0" bIns="0" rtlCol="0" anchor="ctr"/>
          <a:lstStyle/>
          <a:p>
            <a:pPr indent="0" marL="0">
              <a:buNone/>
            </a:pPr>
            <a:r>
              <a:rPr lang="en-US" sz="1300" i="1" dirty="0">
                <a:solidFill>
                  <a:srgbClr val="46C888"/>
                </a:solidFill>
                <a:latin typeface="Calibri" pitchFamily="34" charset="0"/>
                <a:ea typeface="Calibri" pitchFamily="34" charset="-122"/>
                <a:cs typeface="Calibri" pitchFamily="34" charset="-120"/>
              </a:rPr>
              <a:t>Saying these first is a strength. A judge who finds a hidden weakness stops trusting everything else you said.</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60A0E"/>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20" kern="0" dirty="0">
                <a:solidFill>
                  <a:srgbClr val="F0B23F"/>
                </a:solidFill>
                <a:latin typeface="Arial" pitchFamily="34" charset="0"/>
                <a:ea typeface="Arial" pitchFamily="34" charset="-122"/>
                <a:cs typeface="Arial" pitchFamily="34" charset="-120"/>
              </a:rPr>
              <a:t>KEEP THIS OPEN DURING THE HACKATHON</a:t>
            </a:r>
            <a:endParaRPr lang="en-US" sz="1100" dirty="0"/>
          </a:p>
        </p:txBody>
      </p:sp>
      <p:sp>
        <p:nvSpPr>
          <p:cNvPr id="3" name="Text 1"/>
          <p:cNvSpPr txBox="1"/>
          <p:nvPr/>
        </p:nvSpPr>
        <p:spPr>
          <a:xfrm>
            <a:off x="640080" y="713232"/>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Cheat sheet</a:t>
            </a:r>
            <a:endParaRPr lang="en-US" sz="3200" dirty="0"/>
          </a:p>
        </p:txBody>
      </p:sp>
      <p:sp>
        <p:nvSpPr>
          <p:cNvPr id="4" name="Shape 2"/>
          <p:cNvSpPr/>
          <p:nvPr/>
        </p:nvSpPr>
        <p:spPr>
          <a:xfrm>
            <a:off x="640080" y="1481328"/>
            <a:ext cx="3520440" cy="2834640"/>
          </a:xfrm>
          <a:prstGeom prst="roundRect">
            <a:avLst>
              <a:gd name="adj" fmla="val 1935"/>
            </a:avLst>
          </a:prstGeom>
          <a:solidFill>
            <a:srgbClr val="18242F"/>
          </a:solidFill>
          <a:ln w="12700">
            <a:solidFill>
              <a:srgbClr val="2E3F4E"/>
            </a:solidFill>
            <a:prstDash val="solid"/>
          </a:ln>
        </p:spPr>
      </p:sp>
      <p:sp>
        <p:nvSpPr>
          <p:cNvPr id="5" name="Text 3"/>
          <p:cNvSpPr txBox="1"/>
          <p:nvPr/>
        </p:nvSpPr>
        <p:spPr>
          <a:xfrm>
            <a:off x="896112" y="1645920"/>
            <a:ext cx="3017520" cy="274320"/>
          </a:xfrm>
          <a:prstGeom prst="rect">
            <a:avLst/>
          </a:prstGeom>
          <a:noFill/>
          <a:ln/>
        </p:spPr>
        <p:txBody>
          <a:bodyPr wrap="square" lIns="0" tIns="0" rIns="0" bIns="0" rtlCol="0" anchor="ctr"/>
          <a:lstStyle/>
          <a:p>
            <a:pPr indent="0" marL="0">
              <a:buNone/>
            </a:pPr>
            <a:r>
              <a:rPr lang="en-US" sz="1100" b="1" spc="150" kern="0" dirty="0">
                <a:solidFill>
                  <a:srgbClr val="F0B23F"/>
                </a:solidFill>
                <a:latin typeface="Arial" pitchFamily="34" charset="0"/>
                <a:ea typeface="Arial" pitchFamily="34" charset="-122"/>
                <a:cs typeface="Arial" pitchFamily="34" charset="-120"/>
              </a:rPr>
              <a:t>THE STACK</a:t>
            </a:r>
            <a:endParaRPr lang="en-US" sz="1100" dirty="0"/>
          </a:p>
        </p:txBody>
      </p:sp>
      <p:sp>
        <p:nvSpPr>
          <p:cNvPr id="6" name="Text 4"/>
          <p:cNvSpPr txBox="1"/>
          <p:nvPr/>
        </p:nvSpPr>
        <p:spPr>
          <a:xfrm>
            <a:off x="896112" y="1965960"/>
            <a:ext cx="3063240" cy="2240280"/>
          </a:xfrm>
          <a:prstGeom prst="rect">
            <a:avLst/>
          </a:prstGeom>
          <a:noFill/>
          <a:ln/>
        </p:spPr>
        <p:txBody>
          <a:bodyPr wrap="square" lIns="0" tIns="0" rIns="0" bIns="0" rtlCol="0" anchor="ctr"/>
          <a:lstStyle/>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Detection    YOLO (yolo11n)</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Tracking     ByteTrack</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Plates       fast-alpr</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Backend      Python + FastAPI</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Database     SQLite, one file</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Frontend     React + Vite</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Map          Leaflet</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Charts       Recharts</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Cost         zero, no API keys</a:t>
            </a:r>
            <a:endParaRPr lang="en-US" sz="1050" dirty="0"/>
          </a:p>
        </p:txBody>
      </p:sp>
      <p:sp>
        <p:nvSpPr>
          <p:cNvPr id="7" name="Shape 5"/>
          <p:cNvSpPr/>
          <p:nvPr/>
        </p:nvSpPr>
        <p:spPr>
          <a:xfrm>
            <a:off x="4343400" y="1481328"/>
            <a:ext cx="3520440" cy="2834640"/>
          </a:xfrm>
          <a:prstGeom prst="roundRect">
            <a:avLst>
              <a:gd name="adj" fmla="val 1935"/>
            </a:avLst>
          </a:prstGeom>
          <a:solidFill>
            <a:srgbClr val="18242F"/>
          </a:solidFill>
          <a:ln w="12700">
            <a:solidFill>
              <a:srgbClr val="2E3F4E"/>
            </a:solidFill>
            <a:prstDash val="solid"/>
          </a:ln>
        </p:spPr>
      </p:sp>
      <p:sp>
        <p:nvSpPr>
          <p:cNvPr id="8" name="Text 6"/>
          <p:cNvSpPr txBox="1"/>
          <p:nvPr/>
        </p:nvSpPr>
        <p:spPr>
          <a:xfrm>
            <a:off x="4599432" y="1645920"/>
            <a:ext cx="3017520" cy="274320"/>
          </a:xfrm>
          <a:prstGeom prst="rect">
            <a:avLst/>
          </a:prstGeom>
          <a:noFill/>
          <a:ln/>
        </p:spPr>
        <p:txBody>
          <a:bodyPr wrap="square" lIns="0" tIns="0" rIns="0" bIns="0" rtlCol="0" anchor="ctr"/>
          <a:lstStyle/>
          <a:p>
            <a:pPr indent="0" marL="0">
              <a:buNone/>
            </a:pPr>
            <a:r>
              <a:rPr lang="en-US" sz="1100" b="1" spc="150" kern="0" dirty="0">
                <a:solidFill>
                  <a:srgbClr val="F0B23F"/>
                </a:solidFill>
                <a:latin typeface="Arial" pitchFamily="34" charset="0"/>
                <a:ea typeface="Arial" pitchFamily="34" charset="-122"/>
                <a:cs typeface="Arial" pitchFamily="34" charset="-120"/>
              </a:rPr>
              <a:t>THE PIPELINE</a:t>
            </a:r>
            <a:endParaRPr lang="en-US" sz="1100" dirty="0"/>
          </a:p>
        </p:txBody>
      </p:sp>
      <p:sp>
        <p:nvSpPr>
          <p:cNvPr id="9" name="Text 7"/>
          <p:cNvSpPr txBox="1"/>
          <p:nvPr/>
        </p:nvSpPr>
        <p:spPr>
          <a:xfrm>
            <a:off x="4599432" y="1965960"/>
            <a:ext cx="3063240" cy="2240280"/>
          </a:xfrm>
          <a:prstGeom prst="rect">
            <a:avLst/>
          </a:prstGeom>
          <a:noFill/>
          <a:ln/>
        </p:spPr>
        <p:txBody>
          <a:bodyPr wrap="square" lIns="0" tIns="0" rIns="0" bIns="0" rtlCol="0" anchor="ctr"/>
          <a:lstStyle/>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frame</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  → find vehicles</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  → follow them</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  → read plate x15</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  → vote on it</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  → fix the shape</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  → save</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  → match across cameras</a:t>
            </a:r>
            <a:endParaRPr lang="en-US" sz="1050" dirty="0"/>
          </a:p>
          <a:p>
            <a:pPr indent="0" marL="0">
              <a:lnSpc>
                <a:spcPct val="132000"/>
              </a:lnSpc>
              <a:buNone/>
            </a:pPr>
            <a:r>
              <a:rPr lang="en-US" sz="1050" dirty="0">
                <a:solidFill>
                  <a:srgbClr val="BCC9D5"/>
                </a:solidFill>
                <a:latin typeface="Courier New" pitchFamily="34" charset="0"/>
                <a:ea typeface="Courier New" pitchFamily="34" charset="-122"/>
                <a:cs typeface="Courier New" pitchFamily="34" charset="-120"/>
              </a:rPr>
              <a:t>  → build journey</a:t>
            </a:r>
            <a:endParaRPr lang="en-US" sz="1050" dirty="0"/>
          </a:p>
        </p:txBody>
      </p:sp>
      <p:sp>
        <p:nvSpPr>
          <p:cNvPr id="10" name="Shape 8"/>
          <p:cNvSpPr/>
          <p:nvPr/>
        </p:nvSpPr>
        <p:spPr>
          <a:xfrm>
            <a:off x="8046720" y="1481328"/>
            <a:ext cx="3520440" cy="2834640"/>
          </a:xfrm>
          <a:prstGeom prst="roundRect">
            <a:avLst>
              <a:gd name="adj" fmla="val 1935"/>
            </a:avLst>
          </a:prstGeom>
          <a:solidFill>
            <a:srgbClr val="18242F"/>
          </a:solidFill>
          <a:ln w="12700">
            <a:solidFill>
              <a:srgbClr val="2E3F4E"/>
            </a:solidFill>
            <a:prstDash val="solid"/>
          </a:ln>
        </p:spPr>
      </p:sp>
      <p:sp>
        <p:nvSpPr>
          <p:cNvPr id="11" name="Text 9"/>
          <p:cNvSpPr txBox="1"/>
          <p:nvPr/>
        </p:nvSpPr>
        <p:spPr>
          <a:xfrm>
            <a:off x="8302752" y="1645920"/>
            <a:ext cx="3108960" cy="274320"/>
          </a:xfrm>
          <a:prstGeom prst="rect">
            <a:avLst/>
          </a:prstGeom>
          <a:noFill/>
          <a:ln/>
        </p:spPr>
        <p:txBody>
          <a:bodyPr wrap="square" lIns="0" tIns="0" rIns="0" bIns="0" rtlCol="0" anchor="ctr"/>
          <a:lstStyle/>
          <a:p>
            <a:pPr indent="0" marL="0">
              <a:buNone/>
            </a:pPr>
            <a:r>
              <a:rPr lang="en-US" sz="1100" b="1" spc="150" kern="0" dirty="0">
                <a:solidFill>
                  <a:srgbClr val="F0B23F"/>
                </a:solidFill>
                <a:latin typeface="Arial" pitchFamily="34" charset="0"/>
                <a:ea typeface="Arial" pitchFamily="34" charset="-122"/>
                <a:cs typeface="Arial" pitchFamily="34" charset="-120"/>
              </a:rPr>
              <a:t>FILES THAT MATTER</a:t>
            </a:r>
            <a:endParaRPr lang="en-US" sz="1100" dirty="0"/>
          </a:p>
        </p:txBody>
      </p:sp>
      <p:sp>
        <p:nvSpPr>
          <p:cNvPr id="12" name="Text 10"/>
          <p:cNvSpPr txBox="1"/>
          <p:nvPr/>
        </p:nvSpPr>
        <p:spPr>
          <a:xfrm>
            <a:off x="8302752" y="1965960"/>
            <a:ext cx="3108960" cy="2240280"/>
          </a:xfrm>
          <a:prstGeom prst="rect">
            <a:avLst/>
          </a:prstGeom>
          <a:noFill/>
          <a:ln/>
        </p:spPr>
        <p:txBody>
          <a:bodyPr wrap="square" lIns="0" tIns="0" rIns="0" bIns="0" rtlCol="0" anchor="ctr"/>
          <a:lstStyle/>
          <a:p>
            <a:pPr indent="0" marL="0">
              <a:lnSpc>
                <a:spcPct val="132000"/>
              </a:lnSpc>
              <a:buNone/>
            </a:pPr>
            <a:r>
              <a:rPr lang="en-US" sz="1000" dirty="0">
                <a:solidFill>
                  <a:srgbClr val="BCC9D5"/>
                </a:solidFill>
                <a:latin typeface="Courier New" pitchFamily="34" charset="0"/>
                <a:ea typeface="Courier New" pitchFamily="34" charset="-122"/>
                <a:cs typeface="Courier New" pitchFamily="34" charset="-120"/>
              </a:rPr>
              <a:t>resolver.py    the heart</a:t>
            </a:r>
            <a:endParaRPr lang="en-US" sz="1000" dirty="0"/>
          </a:p>
          <a:p>
            <a:pPr indent="0" marL="0">
              <a:lnSpc>
                <a:spcPct val="132000"/>
              </a:lnSpc>
              <a:buNone/>
            </a:pPr>
            <a:r>
              <a:rPr lang="en-US" sz="1000" dirty="0">
                <a:solidFill>
                  <a:srgbClr val="BCC9D5"/>
                </a:solidFill>
                <a:latin typeface="Courier New" pitchFamily="34" charset="0"/>
                <a:ea typeface="Courier New" pitchFamily="34" charset="-122"/>
                <a:cs typeface="Courier New" pitchFamily="34" charset="-120"/>
              </a:rPr>
              <a:t>camera_worker.py  the live loop</a:t>
            </a:r>
            <a:endParaRPr lang="en-US" sz="1000" dirty="0"/>
          </a:p>
          <a:p>
            <a:pPr indent="0" marL="0">
              <a:lnSpc>
                <a:spcPct val="132000"/>
              </a:lnSpc>
              <a:buNone/>
            </a:pPr>
            <a:r>
              <a:rPr lang="en-US" sz="1000" dirty="0">
                <a:solidFill>
                  <a:srgbClr val="BCC9D5"/>
                </a:solidFill>
                <a:latin typeface="Courier New" pitchFamily="34" charset="0"/>
                <a:ea typeface="Courier New" pitchFamily="34" charset="-122"/>
                <a:cs typeface="Courier New" pitchFamily="34" charset="-120"/>
              </a:rPr>
              <a:t>consensus.py   the vote</a:t>
            </a:r>
            <a:endParaRPr lang="en-US" sz="1000" dirty="0"/>
          </a:p>
          <a:p>
            <a:pPr indent="0" marL="0">
              <a:lnSpc>
                <a:spcPct val="132000"/>
              </a:lnSpc>
              <a:buNone/>
            </a:pPr>
            <a:r>
              <a:rPr lang="en-US" sz="1000" dirty="0">
                <a:solidFill>
                  <a:srgbClr val="BCC9D5"/>
                </a:solidFill>
                <a:latin typeface="Courier New" pitchFamily="34" charset="0"/>
                <a:ea typeface="Courier New" pitchFamily="34" charset="-122"/>
                <a:cs typeface="Courier New" pitchFamily="34" charset="-120"/>
              </a:rPr>
              <a:t>plate_grammar.py  plate rules</a:t>
            </a:r>
            <a:endParaRPr lang="en-US" sz="1000" dirty="0"/>
          </a:p>
          <a:p>
            <a:pPr indent="0" marL="0">
              <a:lnSpc>
                <a:spcPct val="132000"/>
              </a:lnSpc>
              <a:buNone/>
            </a:pPr>
            <a:r>
              <a:rPr lang="en-US" sz="1000" dirty="0">
                <a:solidFill>
                  <a:srgbClr val="BCC9D5"/>
                </a:solidFill>
                <a:latin typeface="Courier New" pitchFamily="34" charset="0"/>
                <a:ea typeface="Courier New" pitchFamily="34" charset="-122"/>
                <a:cs typeface="Courier New" pitchFamily="34" charset="-120"/>
              </a:rPr>
              <a:t>engine.py      journeys</a:t>
            </a:r>
            <a:endParaRPr lang="en-US" sz="1000" dirty="0"/>
          </a:p>
          <a:p>
            <a:pPr indent="0" marL="0">
              <a:lnSpc>
                <a:spcPct val="132000"/>
              </a:lnSpc>
              <a:buNone/>
            </a:pPr>
            <a:r>
              <a:rPr lang="en-US" sz="1000" dirty="0">
                <a:solidFill>
                  <a:srgbClr val="BCC9D5"/>
                </a:solidFill>
                <a:latin typeface="Courier New" pitchFamily="34" charset="0"/>
                <a:ea typeface="Courier New" pitchFamily="34" charset="-122"/>
                <a:cs typeface="Courier New" pitchFamily="34" charset="-120"/>
              </a:rPr>
              <a:t>models.py      the 8 tables</a:t>
            </a:r>
            <a:endParaRPr lang="en-US" sz="1000" dirty="0"/>
          </a:p>
          <a:p>
            <a:pPr indent="0" marL="0">
              <a:lnSpc>
                <a:spcPct val="132000"/>
              </a:lnSpc>
              <a:buNone/>
            </a:pPr>
            <a:r>
              <a:rPr lang="en-US" sz="1000" dirty="0">
                <a:solidFill>
                  <a:srgbClr val="BCC9D5"/>
                </a:solidFill>
                <a:latin typeface="Courier New" pitchFamily="34" charset="0"/>
                <a:ea typeface="Courier New" pitchFamily="34" charset="-122"/>
                <a:cs typeface="Courier New" pitchFamily="34" charset="-120"/>
              </a:rPr>
              <a:t>api/main.py    the 15 doors</a:t>
            </a:r>
            <a:endParaRPr lang="en-US" sz="1000" dirty="0"/>
          </a:p>
          <a:p>
            <a:pPr indent="0" marL="0">
              <a:lnSpc>
                <a:spcPct val="132000"/>
              </a:lnSpc>
              <a:buNone/>
            </a:pPr>
            <a:r>
              <a:rPr lang="en-US" sz="1000" dirty="0">
                <a:solidFill>
                  <a:srgbClr val="BCC9D5"/>
                </a:solidFill>
                <a:latin typeface="Courier New" pitchFamily="34" charset="0"/>
                <a:ea typeface="Courier New" pitchFamily="34" charset="-122"/>
                <a:cs typeface="Courier New" pitchFamily="34" charset="-120"/>
              </a:rPr>
              <a:t>App.jsx        the dashboard</a:t>
            </a:r>
            <a:endParaRPr lang="en-US" sz="1000" dirty="0"/>
          </a:p>
        </p:txBody>
      </p:sp>
      <p:sp>
        <p:nvSpPr>
          <p:cNvPr id="13" name="Shape 11"/>
          <p:cNvSpPr/>
          <p:nvPr/>
        </p:nvSpPr>
        <p:spPr>
          <a:xfrm>
            <a:off x="640080" y="4526280"/>
            <a:ext cx="10911535" cy="1965960"/>
          </a:xfrm>
          <a:prstGeom prst="roundRect">
            <a:avLst>
              <a:gd name="adj" fmla="val 2791"/>
            </a:avLst>
          </a:prstGeom>
          <a:solidFill>
            <a:srgbClr val="213040"/>
          </a:solidFill>
          <a:ln w="12700">
            <a:solidFill>
              <a:srgbClr val="2E3F4E"/>
            </a:solidFill>
            <a:prstDash val="solid"/>
          </a:ln>
        </p:spPr>
      </p:sp>
      <p:sp>
        <p:nvSpPr>
          <p:cNvPr id="14" name="Text 12"/>
          <p:cNvSpPr txBox="1"/>
          <p:nvPr/>
        </p:nvSpPr>
        <p:spPr>
          <a:xfrm>
            <a:off x="1005840" y="4681728"/>
            <a:ext cx="7315200" cy="274320"/>
          </a:xfrm>
          <a:prstGeom prst="rect">
            <a:avLst/>
          </a:prstGeom>
          <a:noFill/>
          <a:ln/>
        </p:spPr>
        <p:txBody>
          <a:bodyPr wrap="square" lIns="0" tIns="0" rIns="0" bIns="0" rtlCol="0" anchor="ctr"/>
          <a:lstStyle/>
          <a:p>
            <a:pPr indent="0" marL="0">
              <a:buNone/>
            </a:pPr>
            <a:r>
              <a:rPr lang="en-US" sz="1100" b="1" spc="150" kern="0" dirty="0">
                <a:solidFill>
                  <a:srgbClr val="46C888"/>
                </a:solidFill>
                <a:latin typeface="Arial" pitchFamily="34" charset="0"/>
                <a:ea typeface="Arial" pitchFamily="34" charset="-122"/>
                <a:cs typeface="Arial" pitchFamily="34" charset="-120"/>
              </a:rPr>
              <a:t>IF A JUDGE SAYS "HOW DOES IT WORK?"</a:t>
            </a:r>
            <a:endParaRPr lang="en-US" sz="1100" dirty="0"/>
          </a:p>
        </p:txBody>
      </p:sp>
      <p:sp>
        <p:nvSpPr>
          <p:cNvPr id="15" name="Text 13"/>
          <p:cNvSpPr txBox="1"/>
          <p:nvPr/>
        </p:nvSpPr>
        <p:spPr>
          <a:xfrm>
            <a:off x="1005840" y="5010912"/>
            <a:ext cx="10180015" cy="1371600"/>
          </a:xfrm>
          <a:prstGeom prst="rect">
            <a:avLst/>
          </a:prstGeom>
          <a:noFill/>
          <a:ln/>
        </p:spPr>
        <p:txBody>
          <a:bodyPr wrap="square" lIns="0" tIns="0" rIns="0" bIns="0" rtlCol="0" anchor="ctr"/>
          <a:lstStyle/>
          <a:p>
            <a:pPr indent="0" marL="0">
              <a:lnSpc>
                <a:spcPct val="118000"/>
              </a:lnSpc>
              <a:buNone/>
            </a:pPr>
            <a:r>
              <a:rPr lang="en-US" sz="1400" dirty="0">
                <a:solidFill>
                  <a:srgbClr val="FFFFFF"/>
                </a:solidFill>
                <a:latin typeface="Calibri" pitchFamily="34" charset="0"/>
                <a:ea typeface="Calibri" pitchFamily="34" charset="-122"/>
                <a:cs typeface="Calibri" pitchFamily="34" charset="-120"/>
              </a:rPr>
              <a:t>"YOLO finds the vehicles. ByteTrack follows each one inside a single camera. We read the plate on many frames and vote, instead of trusting one. Then our resolver decides whether the vehicle at Camera 1 and the vehicle at Camera 3 are the same one — using the plate, the appearance, and physics, where physics can veto a match that would need an impossible speed. From the confirmed links we rebuild the journey and measure congestion from real travel times. All open source, runs on a laptop, zero cost."</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60A0E"/>
        </a:solidFill>
      </p:bgPr>
    </p:bg>
    <p:spTree>
      <p:nvGrpSpPr>
        <p:cNvPr id="1" name=""/>
        <p:cNvGrpSpPr/>
        <p:nvPr/>
      </p:nvGrpSpPr>
      <p:grpSpPr>
        <a:xfrm>
          <a:off x="0" y="0"/>
          <a:ext cx="0" cy="0"/>
          <a:chOff x="0" y="0"/>
          <a:chExt cx="0" cy="0"/>
        </a:xfrm>
      </p:grpSpPr>
      <p:sp>
        <p:nvSpPr>
          <p:cNvPr id="2" name="Shape 0"/>
          <p:cNvSpPr/>
          <p:nvPr/>
        </p:nvSpPr>
        <p:spPr>
          <a:xfrm>
            <a:off x="8961120" y="1280160"/>
            <a:ext cx="4754880" cy="4754880"/>
          </a:xfrm>
          <a:prstGeom prst="ellipse">
            <a:avLst/>
          </a:prstGeom>
          <a:solidFill>
            <a:srgbClr val="10202B"/>
          </a:solidFill>
          <a:ln w="12700">
            <a:solidFill>
              <a:srgbClr val="10202B"/>
            </a:solidFill>
            <a:prstDash val="solid"/>
          </a:ln>
        </p:spPr>
      </p:sp>
      <p:sp>
        <p:nvSpPr>
          <p:cNvPr id="3" name="Text 1"/>
          <p:cNvSpPr txBox="1"/>
          <p:nvPr/>
        </p:nvSpPr>
        <p:spPr>
          <a:xfrm>
            <a:off x="640080" y="1554480"/>
            <a:ext cx="7680960" cy="1554480"/>
          </a:xfrm>
          <a:prstGeom prst="rect">
            <a:avLst/>
          </a:prstGeom>
          <a:noFill/>
          <a:ln/>
        </p:spPr>
        <p:txBody>
          <a:bodyPr wrap="square" lIns="0" tIns="0" rIns="0" bIns="0" rtlCol="0" anchor="ctr"/>
          <a:lstStyle/>
          <a:p>
            <a:pPr indent="0" marL="0">
              <a:lnSpc>
                <a:spcPct val="100000"/>
              </a:lnSpc>
              <a:buNone/>
            </a:pPr>
            <a:r>
              <a:rPr lang="en-US" sz="3400" b="1" dirty="0">
                <a:solidFill>
                  <a:srgbClr val="8496A6"/>
                </a:solidFill>
                <a:latin typeface="Arial" pitchFamily="34" charset="0"/>
                <a:ea typeface="Arial" pitchFamily="34" charset="-122"/>
                <a:cs typeface="Arial" pitchFamily="34" charset="-120"/>
              </a:rPr>
              <a:t>The one line</a:t>
            </a:r>
            <a:endParaRPr lang="en-US" sz="3400" dirty="0"/>
          </a:p>
          <a:p>
            <a:pPr indent="0" marL="0">
              <a:lnSpc>
                <a:spcPct val="100000"/>
              </a:lnSpc>
              <a:buNone/>
            </a:pPr>
            <a:r>
              <a:rPr lang="en-US" sz="3400" b="1" dirty="0">
                <a:solidFill>
                  <a:srgbClr val="8496A6"/>
                </a:solidFill>
                <a:latin typeface="Arial" pitchFamily="34" charset="0"/>
                <a:ea typeface="Arial" pitchFamily="34" charset="-122"/>
                <a:cs typeface="Arial" pitchFamily="34" charset="-120"/>
              </a:rPr>
              <a:t>to remember</a:t>
            </a:r>
            <a:endParaRPr lang="en-US" sz="3400" dirty="0"/>
          </a:p>
        </p:txBody>
      </p:sp>
      <p:sp>
        <p:nvSpPr>
          <p:cNvPr id="4" name="Text 2"/>
          <p:cNvSpPr txBox="1"/>
          <p:nvPr/>
        </p:nvSpPr>
        <p:spPr>
          <a:xfrm>
            <a:off x="640080" y="3200400"/>
            <a:ext cx="8229600" cy="1828800"/>
          </a:xfrm>
          <a:prstGeom prst="rect">
            <a:avLst/>
          </a:prstGeom>
          <a:noFill/>
          <a:ln/>
        </p:spPr>
        <p:txBody>
          <a:bodyPr wrap="square" lIns="0" tIns="0" rIns="0" bIns="0" rtlCol="0" anchor="ctr"/>
          <a:lstStyle/>
          <a:p>
            <a:pPr indent="0" marL="0">
              <a:lnSpc>
                <a:spcPct val="115000"/>
              </a:lnSpc>
              <a:buNone/>
            </a:pPr>
            <a:r>
              <a:rPr lang="en-US" sz="3200" b="1" dirty="0">
                <a:solidFill>
                  <a:srgbClr val="F0B23F"/>
                </a:solidFill>
                <a:latin typeface="Arial" pitchFamily="34" charset="0"/>
                <a:ea typeface="Arial" pitchFamily="34" charset="-122"/>
                <a:cs typeface="Arial" pitchFamily="34" charset="-120"/>
              </a:rPr>
              <a:t>Most systems only match.</a:t>
            </a:r>
            <a:endParaRPr lang="en-US" sz="3200" dirty="0"/>
          </a:p>
          <a:p>
            <a:pPr indent="0" marL="0">
              <a:lnSpc>
                <a:spcPct val="115000"/>
              </a:lnSpc>
              <a:buNone/>
            </a:pPr>
            <a:r>
              <a:rPr lang="en-US" sz="3200" b="1" dirty="0">
                <a:solidFill>
                  <a:srgbClr val="F0B23F"/>
                </a:solidFill>
                <a:latin typeface="Arial" pitchFamily="34" charset="0"/>
                <a:ea typeface="Arial" pitchFamily="34" charset="-122"/>
                <a:cs typeface="Arial" pitchFamily="34" charset="-120"/>
              </a:rPr>
              <a:t>Ours can also refuse —</a:t>
            </a:r>
            <a:endParaRPr lang="en-US" sz="3200" dirty="0"/>
          </a:p>
          <a:p>
            <a:pPr indent="0" marL="0">
              <a:lnSpc>
                <a:spcPct val="115000"/>
              </a:lnSpc>
              <a:buNone/>
            </a:pPr>
            <a:r>
              <a:rPr lang="en-US" sz="3200" b="1" dirty="0">
                <a:solidFill>
                  <a:srgbClr val="F0B23F"/>
                </a:solidFill>
                <a:latin typeface="Arial" pitchFamily="34" charset="0"/>
                <a:ea typeface="Arial" pitchFamily="34" charset="-122"/>
                <a:cs typeface="Arial" pitchFamily="34" charset="-120"/>
              </a:rPr>
              <a:t>and it shows you what it refused.</a:t>
            </a:r>
            <a:endParaRPr lang="en-US" sz="3200" dirty="0"/>
          </a:p>
        </p:txBody>
      </p:sp>
      <p:sp>
        <p:nvSpPr>
          <p:cNvPr id="5" name="Text 3"/>
          <p:cNvSpPr txBox="1"/>
          <p:nvPr/>
        </p:nvSpPr>
        <p:spPr>
          <a:xfrm>
            <a:off x="640080" y="5852160"/>
            <a:ext cx="10911535" cy="365760"/>
          </a:xfrm>
          <a:prstGeom prst="rect">
            <a:avLst/>
          </a:prstGeom>
          <a:noFill/>
          <a:ln/>
        </p:spPr>
        <p:txBody>
          <a:bodyPr wrap="square" lIns="0" tIns="0" rIns="0" bIns="0" rtlCol="0" anchor="ctr"/>
          <a:lstStyle/>
          <a:p>
            <a:pPr indent="0" marL="0">
              <a:buNone/>
            </a:pPr>
            <a:r>
              <a:rPr lang="en-US" sz="1300" dirty="0">
                <a:solidFill>
                  <a:srgbClr val="8496A6"/>
                </a:solidFill>
                <a:latin typeface="Calibri" pitchFamily="34" charset="0"/>
                <a:ea typeface="Calibri" pitchFamily="34" charset="-122"/>
                <a:cs typeface="Calibri" pitchFamily="34" charset="-120"/>
              </a:rPr>
              <a:t>NETRA  ·  Network-wide Trajectory &amp; Recognition Analytics  ·  SIH Problem 127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NETRA — How It Works, A to Z</dc:title>
  <dc:subject>PptxGenJS Presentation</dc:subject>
  <dc:creator>NETRA — SIH PS 127</dc:creator>
  <cp:lastModifiedBy>NETRA — SIH PS 127</cp:lastModifiedBy>
  <cp:revision>1</cp:revision>
  <dcterms:created xsi:type="dcterms:W3CDTF">2026-09-08T14:49:15Z</dcterms:created>
  <dcterms:modified xsi:type="dcterms:W3CDTF">2026-09-08T14:49:15Z</dcterms:modified>
</cp:coreProperties>
</file>